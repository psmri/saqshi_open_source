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57d9eaff384a3c" /><Relationship Type="http://schemas.openxmlformats.org/officeDocument/2006/relationships/extended-properties" Target="/docProps/app.xml" Id="R451b4e6fe2ed4c9e" /><Relationship Type="http://schemas.openxmlformats.org/officeDocument/2006/relationships/officeDocument" Target="/ppt/presentation.xml" Id="Ra1302e9f6d3f4d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88aef3d22043b2"/>
  </p:sldMasterIdLst>
  <p:notesMasterIdLst>
    <p:notesMasterId xmlns:r="http://schemas.openxmlformats.org/officeDocument/2006/relationships" r:id="R0b2b9b4c321b4538"/>
  </p:notesMasterIdLst>
  <p:sldIdLst>
    <p:sldId xmlns:r="http://schemas.openxmlformats.org/officeDocument/2006/relationships" id="256" r:id="Rdeb3715f705d4281"/>
    <p:sldId xmlns:r="http://schemas.openxmlformats.org/officeDocument/2006/relationships" id="257" r:id="Ra0d57f3bb60d42fb"/>
    <p:sldId xmlns:r="http://schemas.openxmlformats.org/officeDocument/2006/relationships" id="258" r:id="R4048675832144933"/>
    <p:sldId xmlns:r="http://schemas.openxmlformats.org/officeDocument/2006/relationships" id="259" r:id="R5ecea1222561450e"/>
    <p:sldId xmlns:r="http://schemas.openxmlformats.org/officeDocument/2006/relationships" id="260" r:id="Raaccb66516a240e1"/>
    <p:sldId xmlns:r="http://schemas.openxmlformats.org/officeDocument/2006/relationships" id="261" r:id="Re5bdc1350d9e4225"/>
    <p:sldId xmlns:r="http://schemas.openxmlformats.org/officeDocument/2006/relationships" id="262" r:id="R022f492ac03d445c"/>
    <p:sldId xmlns:r="http://schemas.openxmlformats.org/officeDocument/2006/relationships" id="263" r:id="R121df496df304b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3681f18d07428a" /><Relationship Type="http://schemas.openxmlformats.org/officeDocument/2006/relationships/slideMaster" Target="/ppt/slideMasters/slideMaster1.xml" Id="R8f88aef3d22043b2" /><Relationship Type="http://schemas.openxmlformats.org/officeDocument/2006/relationships/notesMaster" Target="/ppt/notesMasters/notesMaster1.xml" Id="R0b2b9b4c321b4538" /><Relationship Type="http://schemas.openxmlformats.org/officeDocument/2006/relationships/presProps" Target="/ppt/presProps.xml" Id="Rfb5562dcb4ec4859" /><Relationship Type="http://schemas.openxmlformats.org/officeDocument/2006/relationships/tableStyles" Target="/ppt/tableStyles.xml" Id="R85589de212694e30" /><Relationship Type="http://schemas.openxmlformats.org/officeDocument/2006/relationships/slide" Target="/ppt/slides/slide1.xml" Id="Rdeb3715f705d4281" /><Relationship Type="http://schemas.openxmlformats.org/officeDocument/2006/relationships/slide" Target="/ppt/slides/slide2.xml" Id="Ra0d57f3bb60d42fb" /><Relationship Type="http://schemas.openxmlformats.org/officeDocument/2006/relationships/slide" Target="/ppt/slides/slide3.xml" Id="R4048675832144933" /><Relationship Type="http://schemas.openxmlformats.org/officeDocument/2006/relationships/slide" Target="/ppt/slides/slide4.xml" Id="R5ecea1222561450e" /><Relationship Type="http://schemas.openxmlformats.org/officeDocument/2006/relationships/slide" Target="/ppt/slides/slide5.xml" Id="Raaccb66516a240e1" /><Relationship Type="http://schemas.openxmlformats.org/officeDocument/2006/relationships/slide" Target="/ppt/slides/slide6.xml" Id="Re5bdc1350d9e4225" /><Relationship Type="http://schemas.openxmlformats.org/officeDocument/2006/relationships/slide" Target="/ppt/slides/slide7.xml" Id="R022f492ac03d445c" /><Relationship Type="http://schemas.openxmlformats.org/officeDocument/2006/relationships/slide" Target="/ppt/slides/slide8.xml" Id="R121df496df304b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8df15b58af42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0ef012408e4631" /><Relationship Type="http://schemas.openxmlformats.org/officeDocument/2006/relationships/notesMaster" Target="/ppt/notesMasters/notesMaster1.xml" Id="Rf06545e468dc41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215a741ca44a2" /><Relationship Type="http://schemas.openxmlformats.org/officeDocument/2006/relationships/notesMaster" Target="/ppt/notesMasters/notesMaster1.xml" Id="R0552e531d032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60f95b2e7a428a" /><Relationship Type="http://schemas.openxmlformats.org/officeDocument/2006/relationships/notesMaster" Target="/ppt/notesMasters/notesMaster1.xml" Id="Rffd6b3f6e9434b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41bac5a60244bf" /><Relationship Type="http://schemas.openxmlformats.org/officeDocument/2006/relationships/notesMaster" Target="/ppt/notesMasters/notesMaster1.xml" Id="R10cf4a3d01a64f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7baf7892af42ed" /><Relationship Type="http://schemas.openxmlformats.org/officeDocument/2006/relationships/notesMaster" Target="/ppt/notesMasters/notesMaster1.xml" Id="R081ea8bb2b944d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d79914ddcc47cf" /><Relationship Type="http://schemas.openxmlformats.org/officeDocument/2006/relationships/notesMaster" Target="/ppt/notesMasters/notesMaster1.xml" Id="R9113e3a9825e43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aef3513de04aaf" /><Relationship Type="http://schemas.openxmlformats.org/officeDocument/2006/relationships/notesMaster" Target="/ppt/notesMasters/notesMaster1.xml" Id="Rce50c19db9954f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2bf99fa4914fb5" /><Relationship Type="http://schemas.openxmlformats.org/officeDocument/2006/relationships/notesMaster" Target="/ppt/notesMasters/notesMaster1.xml" Id="R1c87de7a272642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SaQshi open-source repository: README.md and docs/architecture/project_overview.md.</a:t>
            </a:r>
          </a:p>
          <a:p xmlns:a="http://schemas.openxmlformats.org/drawingml/2006/main">
            <a:r>
              <a:t>Product image: ui/assets/images/landing-school-assessment.png.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a8263e1df43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8f981e20ea477a" /><Relationship Type="http://schemas.openxmlformats.org/officeDocument/2006/relationships/slideLayout" Target="/ppt/slideLayouts/slideLayout1.xml" Id="R5fbef9b7b48948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bef9b7b48948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fb68f8b0842ca" /><Relationship Type="http://schemas.openxmlformats.org/officeDocument/2006/relationships/image" Target="/ppt/media/image.png" Id="R5a4e2c4a45d64a22" /><Relationship Type="http://schemas.openxmlformats.org/officeDocument/2006/relationships/notesSlide" Target="/ppt/notesSlides/notesSlide1.xml" Id="R36af41fc372c49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c8f2c98d54bc2" /><Relationship Type="http://schemas.openxmlformats.org/officeDocument/2006/relationships/notesSlide" Target="/ppt/notesSlides/notesSlide2.xml" Id="Rfeb798b578cf4c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d9ce6af254387" /><Relationship Type="http://schemas.openxmlformats.org/officeDocument/2006/relationships/notesSlide" Target="/ppt/notesSlides/notesSlide3.xml" Id="Rb794aaef689e45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b04960b084a7a" /><Relationship Type="http://schemas.openxmlformats.org/officeDocument/2006/relationships/notesSlide" Target="/ppt/notesSlides/notesSlide4.xml" Id="R74e6d9d7d2d744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6d72ac1a2488f" /><Relationship Type="http://schemas.openxmlformats.org/officeDocument/2006/relationships/notesSlide" Target="/ppt/notesSlides/notesSlide5.xml" Id="Rc53c27b6064b43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3dbdc86a44aec" /><Relationship Type="http://schemas.openxmlformats.org/officeDocument/2006/relationships/notesSlide" Target="/ppt/notesSlides/notesSlide6.xml" Id="Rc286824497dc4a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b3cdf7f944e79" /><Relationship Type="http://schemas.openxmlformats.org/officeDocument/2006/relationships/notesSlide" Target="/ppt/notesSlides/notesSlide7.xml" Id="R9fb91e0ef57f4b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ee5fa81f244089" /><Relationship Type="http://schemas.openxmlformats.org/officeDocument/2006/relationships/notesSlide" Target="/ppt/notesSlides/notesSlide8.xml" Id="R79d57120f7f846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08FD-8386-4C3D-983E-06421DF8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40"/>
          </a:solidFill>
          <a:ln xmlns:a="http://schemas.openxmlformats.org/drawingml/2006/main" w="0">
            <a:solidFill>
              <a:srgbClr val="0A25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5AEF5B-E402-4AEC-BADF-38F246AC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95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0EB6F-EE82-44B4-AF09-9A7F9679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93345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SaQshi Education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4C5005-9FE0-4A48-A96F-5534090D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7E9F4"/>
                </a:solidFill>
              </a:defRPr>
            </a:pPr>
            <a:r>
              <a:rPr sz="2100" b="0">
                <a:solidFill>
                  <a:srgbClr val="D7E9F4"/>
                </a:solidFill>
              </a:rPr>
              <a:t>A digital quality-assessment and improvement platform for schools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4925A-063E-44C9-9088-F198C94A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 donor partnership opportunity to make school quality visible, actionable and scalable.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e2c4a45d64a22"/>
          <a:srcRect xmlns:a="http://schemas.openxmlformats.org/drawingml/2006/main" l="27044" t="0" r="270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666750"/>
            <a:ext cx="3476625" cy="504825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5BE92-7CEA-4FD2-8D07-7284542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055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B83F"/>
                </a:solidFill>
              </a:defRPr>
            </a:pPr>
            <a:r>
              <a:rPr sz="1200" b="1">
                <a:solidFill>
                  <a:srgbClr val="F3B83F"/>
                </a:solidFill>
              </a:rPr>
              <a:t>Open-source • Configurable • Field-ready</a:t>
            </a:r>
          </a:p>
        </p:txBody>
      </p:sp>
    </p:spTree>
    <p:extLst>
      <p:ext uri="{BB962C8B-B14F-4D97-AF65-F5344CB8AC3E}">
        <p14:creationId xmlns:p14="http://schemas.microsoft.com/office/powerpoint/2010/main" val="1650701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3C601-934F-49BB-8BC4-0C2AAB7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SAQSHI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C4759-F142-4A4D-89FC-6D5A6AD4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School quality work is often fragmented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203B4-9C5F-462C-A848-E464C146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7A"/>
                </a:solidFill>
              </a:defRPr>
            </a:pPr>
            <a:r>
              <a:rPr sz="1050" b="1">
                <a:solidFill>
                  <a:srgbClr val="52677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2F570-BE8B-4E84-B779-47381B39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77A"/>
                </a:solidFill>
              </a:defRPr>
            </a:pPr>
            <a:r>
              <a:rPr sz="1800" b="0">
                <a:solidFill>
                  <a:srgbClr val="52677A"/>
                </a:solidFill>
              </a:rPr>
              <a:t>Programme teams need a single, trusted view of what is happening in schools.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CE26B-307C-4185-B656-D114B33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98884-C105-48A5-B6F3-F97F197B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Assessments are difficult to standardise across schools and grades.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F66C9-291B-42B0-9F3F-8A623B7A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1E453-129B-42B7-995E-3B9CF7F2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Findings can remain in paper forms, spreadsheets or disconnected files.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F8238-D2D6-4986-B258-D86B3249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E6FA7-B16D-4503-8E5C-A4CA9E72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700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Follow-up actions and progress are hard to monitor across geography.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6851C-AB54-4C99-8E6B-62830EF9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00250"/>
            <a:ext cx="2190750" cy="2714625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DF3FA"/>
          </a:solidFill>
          <a:ln xmlns:a="http://schemas.openxmlformats.org/drawingml/2006/main" w="0">
            <a:solidFill>
              <a:srgbClr val="DDF3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15C292-5AA6-497D-BA67-91EB8751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6C94"/>
                </a:solidFill>
              </a:defRPr>
            </a:pPr>
            <a:r>
              <a:rPr sz="1500" b="1">
                <a:solidFill>
                  <a:srgbClr val="146C94"/>
                </a:solidFill>
              </a:rPr>
              <a:t>The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96A73B-A0B2-4424-B0C3-1829BCA1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5275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Limited visibility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Slow follow-up</a:t>
            </a:r>
          </a:p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Uneven learning environments</a:t>
            </a:r>
          </a:p>
        </p:txBody>
      </p:sp>
    </p:spTree>
    <p:extLst>
      <p:ext uri="{BB962C8B-B14F-4D97-AF65-F5344CB8AC3E}">
        <p14:creationId xmlns:p14="http://schemas.microsoft.com/office/powerpoint/2010/main" val="2121742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F91B5E-871D-4E73-A0A7-102CA58F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SAQSHI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B04B7-F3C7-409A-92CA-BD4A691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SaQshi turns assessment into a continuous improvement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5A446-1DCD-4A4E-9945-94027444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7A"/>
                </a:solidFill>
              </a:defRPr>
            </a:pPr>
            <a:r>
              <a:rPr sz="1050" b="1">
                <a:solidFill>
                  <a:srgbClr val="52677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C2AE0-B4F6-498D-8A19-E49BABAE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F8C7D-43E8-468B-821E-4772580A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89D79-3CE0-4F86-9440-062947B6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FBB8F-22AC-4765-8797-CF4DCBC4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813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B83F"/>
                </a:solidFill>
              </a:defRPr>
            </a:pPr>
            <a:r>
              <a:rPr sz="2100" b="1">
                <a:solidFill>
                  <a:srgbClr val="F3B83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4DDEC-825F-4DDC-8B72-CB891B5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D88E9-6978-44C8-A3F5-30F5073C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0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5F803-75C5-4014-9419-ABF48302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Assess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72A45-F346-4AC0-86B9-E51931EC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813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B83F"/>
                </a:solidFill>
              </a:defRPr>
            </a:pPr>
            <a:r>
              <a:rPr sz="2100" b="1">
                <a:solidFill>
                  <a:srgbClr val="F3B83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FA3F4-6F55-4453-AFE2-95AD0458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24125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46C94"/>
          </a:solidFill>
          <a:ln xmlns:a="http://schemas.openxmlformats.org/drawingml/2006/main" w="0">
            <a:solidFill>
              <a:srgbClr val="146C9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221A5A-6D67-4586-9FF2-4D576E13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0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B83F"/>
                </a:solidFill>
              </a:defRPr>
            </a:pPr>
            <a:r>
              <a:rPr sz="1050" b="1">
                <a:solidFill>
                  <a:srgbClr val="F3B83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03177-6A8D-4CC9-BA88-6346E8CE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Prioritise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85EDF-E375-40EE-9D9E-4D796DAF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813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B83F"/>
                </a:solidFill>
              </a:defRPr>
            </a:pPr>
            <a:r>
              <a:rPr sz="2100" b="1">
                <a:solidFill>
                  <a:srgbClr val="F3B83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A8BB1-53FE-4A7B-A229-0A1D3EF8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24125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997E0-1322-42D8-810C-D941E978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0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E78883-36A1-4327-8BF5-CF315299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6A32A-4EAA-464E-9697-F11675F1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81325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3B83F"/>
                </a:solidFill>
              </a:defRPr>
            </a:pPr>
            <a:r>
              <a:rPr sz="2100" b="1">
                <a:solidFill>
                  <a:srgbClr val="F3B83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EB109-9AB9-4111-A761-DA222546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24125"/>
            <a:ext cx="1714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F3D61-665B-41B2-9897-5F60587B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0510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D3684-B85B-46CA-BBAD-FC709A80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05150"/>
            <a:ext cx="1381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2540"/>
                </a:solidFill>
              </a:defRPr>
            </a:pPr>
            <a:r>
              <a:rPr sz="1800" b="1">
                <a:solidFill>
                  <a:srgbClr val="0A2540"/>
                </a:solidFill>
              </a:rPr>
              <a:t>Monitor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BD4E3-0F23-431B-BA71-A7EE06C4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012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2677A"/>
                </a:solidFill>
              </a:defRPr>
            </a:pPr>
            <a:r>
              <a:rPr sz="1800" b="0">
                <a:solidFill>
                  <a:srgbClr val="52677A"/>
                </a:solidFill>
              </a:rPr>
              <a:t>A configurable workflow captures evidence, scores performance, identifies gaps and tracks closure over time.</a:t>
            </a:r>
          </a:p>
        </p:txBody>
      </p:sp>
    </p:spTree>
    <p:extLst>
      <p:ext uri="{BB962C8B-B14F-4D97-AF65-F5344CB8AC3E}">
        <p14:creationId xmlns:p14="http://schemas.microsoft.com/office/powerpoint/2010/main" val="1373989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36B09-3B24-4CA1-BABF-ADAAEEB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SAQSHI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179A0-08AB-4D41-9FAD-202D4DA8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One platform for assessors, school leaders and programme teams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DBF9E-8597-4463-A500-F9E8F48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7A"/>
                </a:solidFill>
              </a:defRPr>
            </a:pPr>
            <a:r>
              <a:rPr sz="1050" b="1">
                <a:solidFill>
                  <a:srgbClr val="52677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47412-151A-4C5B-9F8A-C5AD318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solidFill>
              <a:srgbClr val="F5FA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66A85-733D-4D57-BB91-EEF8E150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2540"/>
                </a:solidFill>
              </a:defRPr>
            </a:pPr>
            <a:r>
              <a:rPr sz="1950" b="1">
                <a:solidFill>
                  <a:srgbClr val="0A2540"/>
                </a:solidFill>
              </a:rPr>
              <a:t>Field assessor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C9244-4DE2-4ECE-B639-30528BAE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Guided checklist</a:t>
            </a:r>
          </a:p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Save and resume</a:t>
            </a:r>
          </a:p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Structured responses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9E2FD-B954-4F1D-A810-08A2D4C8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000250"/>
            <a:ext cx="3238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solidFill>
              <a:srgbClr val="F5FAF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93271-B2B0-4FF3-9785-4C1F6FF2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2540"/>
                </a:solidFill>
              </a:defRPr>
            </a:pPr>
            <a:r>
              <a:rPr sz="1950" b="1">
                <a:solidFill>
                  <a:srgbClr val="0A2540"/>
                </a:solidFill>
              </a:rPr>
              <a:t>School leader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F970B-7A46-4458-A891-5FF83A59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480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Clear gaps</a:t>
            </a:r>
          </a:p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Action ownership</a:t>
            </a:r>
          </a:p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Evidence-based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6DEC9-145D-450C-97F5-DA57DED0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00250"/>
            <a:ext cx="3238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solidFill>
              <a:srgbClr val="F5FA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AC376-6EAA-457B-8AD9-74C6E75E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2540"/>
                </a:solidFill>
              </a:defRPr>
            </a:pPr>
            <a:r>
              <a:rPr sz="1950" b="1">
                <a:solidFill>
                  <a:srgbClr val="0A2540"/>
                </a:solidFill>
              </a:rPr>
              <a:t>Programme 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FA498-8458-4756-AD42-9C4FAAA5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2667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School-to-state view</a:t>
            </a:r>
          </a:p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Progress monitoring</a:t>
            </a:r>
          </a:p>
          <a:p xmlns:a="http://schemas.openxmlformats.org/drawingml/2006/main">
            <a:pPr algn="l">
              <a:defRPr sz="1650" b="0">
                <a:solidFill>
                  <a:srgbClr val="52677A"/>
                </a:solidFill>
              </a:defRPr>
            </a:pPr>
            <a:r>
              <a:rPr sz="1650" b="0">
                <a:solidFill>
                  <a:srgbClr val="52677A"/>
                </a:solidFill>
              </a:rPr>
              <a:t>Downloadable reports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A021B-031E-41F8-97A3-55AA269E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340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6C94"/>
                </a:solidFill>
              </a:defRPr>
            </a:pPr>
            <a:r>
              <a:rPr sz="1725" b="1">
                <a:solidFill>
                  <a:srgbClr val="146C94"/>
                </a:solidFill>
              </a:rPr>
              <a:t>Role-based access connects action at the school with oversight across blocks, districts and the state.</a:t>
            </a:r>
          </a:p>
        </p:txBody>
      </p:sp>
    </p:spTree>
    <p:extLst>
      <p:ext uri="{BB962C8B-B14F-4D97-AF65-F5344CB8AC3E}">
        <p14:creationId xmlns:p14="http://schemas.microsoft.com/office/powerpoint/2010/main" val="15157910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59712-093E-4303-9DCF-255BF221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SAQSHI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D0824-F0DD-49B2-8683-4FED66F8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Designed to work where connectivity is unreliable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19D07-1591-453E-88E8-7C36B79D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7A"/>
                </a:solidFill>
              </a:defRPr>
            </a:pPr>
            <a:r>
              <a:rPr sz="1050" b="1">
                <a:solidFill>
                  <a:srgbClr val="52677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3D1F3-BF31-46AF-90AA-833E7B37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Offline-ready assessment protects field progress.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5C03A-416C-4E11-BC9B-9F21852A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B8D35-4178-479E-A105-96B01C0A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557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Responses can be saved on the device during a network interruption.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3BFB7-C194-421D-B9B3-99A173E4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6FB49-70ED-4FE5-8827-DB3DBF92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557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Pending responses synchronise when connectivity returns.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946A0-05B0-41EC-8EA2-584D83AF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BFFDE-B058-49D3-8E2F-BEB3E8D8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557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A43"/>
                </a:solidFill>
              </a:defRPr>
            </a:pPr>
            <a:r>
              <a:rPr sz="1650" b="0">
                <a:solidFill>
                  <a:srgbClr val="102A43"/>
                </a:solidFill>
              </a:rPr>
              <a:t>A mobile app pathway can strengthen continuity beyond the browser.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2FA83F-C9EF-4352-929C-7AE69384F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66875"/>
            <a:ext cx="3619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113B5D"/>
          </a:solidFill>
          <a:ln xmlns:a="http://schemas.openxmlformats.org/drawingml/2006/main" w="0">
            <a:solidFill>
              <a:srgbClr val="113B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7B0DCC-A9FB-45CE-AD13-6319F6DB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14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3B83F"/>
                </a:solidFill>
              </a:defRPr>
            </a:pPr>
            <a:r>
              <a:rPr sz="1650" b="1">
                <a:solidFill>
                  <a:srgbClr val="F3B83F"/>
                </a:solidFill>
              </a:rPr>
              <a:t>Field confidence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AF40D-B522-42E7-90BC-DB197EB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14625"/>
            <a:ext cx="2647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Assessors can continue their work rather than losing progress to a connection failure.</a:t>
            </a:r>
          </a:p>
        </p:txBody>
      </p:sp>
    </p:spTree>
    <p:extLst>
      <p:ext uri="{BB962C8B-B14F-4D97-AF65-F5344CB8AC3E}">
        <p14:creationId xmlns:p14="http://schemas.microsoft.com/office/powerpoint/2010/main" val="3454592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8B23A-5902-41C2-A9B8-5CD29DAE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SAQSHI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6AA0F-3D39-4759-9FE2-13F839FE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Donor support can take SaQshi Education from platform to programme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7599B-42B3-4E83-9372-3B270241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7A"/>
                </a:solidFill>
              </a:defRPr>
            </a:pPr>
            <a:r>
              <a:rPr sz="1050" b="1">
                <a:solidFill>
                  <a:srgbClr val="52677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61E0D-D6C4-4DB1-B015-26C0EAE4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09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solidFill>
              <a:srgbClr val="F5FA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0F09E-A597-4407-B051-8846E6B2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621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40"/>
                </a:solidFill>
              </a:defRPr>
            </a:pPr>
            <a:r>
              <a:rPr sz="1725" b="1">
                <a:solidFill>
                  <a:srgbClr val="0A2540"/>
                </a:solidFill>
              </a:rPr>
              <a:t>1.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B8295-FB86-4E1C-A80C-09AA277A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4312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A"/>
                </a:solidFill>
              </a:defRPr>
            </a:pPr>
            <a:r>
              <a:rPr sz="1575" b="0">
                <a:solidFill>
                  <a:srgbClr val="52677A"/>
                </a:solidFill>
              </a:rPr>
              <a:t>Adapt the framework, onboard schools and train assessors.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B6243-A498-4E16-81FC-872FDCBA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1009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DF3FA"/>
          </a:solidFill>
          <a:ln xmlns:a="http://schemas.openxmlformats.org/drawingml/2006/main" w="0">
            <a:solidFill>
              <a:srgbClr val="DDF3F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9F43B-9AC7-4200-9DA9-56C86094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40"/>
                </a:solidFill>
              </a:defRPr>
            </a:pPr>
            <a:r>
              <a:rPr sz="1725" b="1">
                <a:solidFill>
                  <a:srgbClr val="0A2540"/>
                </a:solidFill>
              </a:rPr>
              <a:t>2. Learn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B4653-4818-414B-BF93-3ACE758E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A"/>
                </a:solidFill>
              </a:defRPr>
            </a:pPr>
            <a:r>
              <a:rPr sz="1575" b="0">
                <a:solidFill>
                  <a:srgbClr val="52677A"/>
                </a:solidFill>
              </a:rPr>
              <a:t>Use data to improve the workflow, dashboards and support model.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4985E-2F64-469A-87BE-A335C365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096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solidFill>
              <a:srgbClr val="F5FA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C22F8-16C2-49FB-B021-74B9A79C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A2540"/>
                </a:solidFill>
              </a:defRPr>
            </a:pPr>
            <a:r>
              <a:rPr sz="1725" b="1">
                <a:solidFill>
                  <a:srgbClr val="0A2540"/>
                </a:solidFill>
              </a:rPr>
              <a:t>3. Scale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B893-5042-4378-A60F-8B972E83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33875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77A"/>
                </a:solidFill>
              </a:defRPr>
            </a:pPr>
            <a:r>
              <a:rPr sz="1575" b="0">
                <a:solidFill>
                  <a:srgbClr val="52677A"/>
                </a:solidFill>
              </a:rPr>
              <a:t>Expand to priority geographies with evidence-based governance.</a:t>
            </a:r>
          </a:p>
        </p:txBody>
      </p:sp>
    </p:spTree>
    <p:extLst>
      <p:ext uri="{BB962C8B-B14F-4D97-AF65-F5344CB8AC3E}">
        <p14:creationId xmlns:p14="http://schemas.microsoft.com/office/powerpoint/2010/main" val="1543185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360E9-A439-416D-96E0-1F78B3D2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C94"/>
                </a:solidFill>
              </a:defRPr>
            </a:pPr>
            <a:r>
              <a:rPr sz="1050" b="1">
                <a:solidFill>
                  <a:srgbClr val="146C94"/>
                </a:solidFill>
              </a:rPr>
              <a:t>SAQSHI EDUCATION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C26C2-D7F5-47A2-A2F3-0302700A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2540"/>
                </a:solidFill>
              </a:defRPr>
            </a:pPr>
            <a:r>
              <a:rPr sz="2850" b="1">
                <a:solidFill>
                  <a:srgbClr val="0A2540"/>
                </a:solidFill>
              </a:rPr>
              <a:t>A partnership can create measurable public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14CCE-4EC6-4B41-8E89-2FEDB75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572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2677A"/>
                </a:solidFill>
              </a:defRPr>
            </a:pPr>
            <a:r>
              <a:rPr sz="1050" b="1">
                <a:solidFill>
                  <a:srgbClr val="52677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F6405-CA4B-43CB-8AC7-E3B8EB44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10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5E035-3EF9-45EE-9824-3DB36B42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812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Consistency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43321-DC7C-40D9-818D-ACE5BF31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812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A"/>
                </a:solidFill>
              </a:defRPr>
            </a:pPr>
            <a:r>
              <a:rPr sz="1425" b="0">
                <a:solidFill>
                  <a:srgbClr val="52677A"/>
                </a:solidFill>
              </a:rPr>
              <a:t>A common assessment approach across participating schools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E1CE0-78B1-4554-BECB-1AECC4A8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810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A4E48-F2C0-42EE-821E-24EA3BFA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812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Accountability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DE0A53-030A-4A53-8CDE-26812BC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8127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A"/>
                </a:solidFill>
              </a:defRPr>
            </a:pPr>
            <a:r>
              <a:rPr sz="1425" b="0">
                <a:solidFill>
                  <a:srgbClr val="52677A"/>
                </a:solidFill>
              </a:rPr>
              <a:t>Clear ownership for gaps, actions and follow-up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8D137-EC26-403B-A2D8-99B6A385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4810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7F665-86F9-41FF-83B9-BF46C670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00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7A604-5EB3-4226-946C-FD3D27A7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005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A"/>
                </a:solidFill>
              </a:defRPr>
            </a:pPr>
            <a:r>
              <a:rPr sz="1425" b="0">
                <a:solidFill>
                  <a:srgbClr val="52677A"/>
                </a:solidFill>
              </a:rPr>
              <a:t>Timely reporting for programme 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152B4-CC48-4E4A-8BEE-19E0BA41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71875"/>
            <a:ext cx="48101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5BA8E-24F9-4B2A-AE49-9EBF2436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00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6C94"/>
                </a:solidFill>
              </a:defRPr>
            </a:pPr>
            <a:r>
              <a:rPr sz="1800" b="1">
                <a:solidFill>
                  <a:srgbClr val="146C94"/>
                </a:solidFill>
              </a:rPr>
              <a:t>Reusability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0C1E55-BF57-431E-9D07-CD8EF57E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005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A"/>
                </a:solidFill>
              </a:defRPr>
            </a:pPr>
            <a:r>
              <a:rPr sz="1425" b="0">
                <a:solidFill>
                  <a:srgbClr val="52677A"/>
                </a:solidFill>
              </a:rPr>
              <a:t>Open-source, configurable technology for future programmes</a:t>
            </a:r>
          </a:p>
        </p:txBody>
      </p:sp>
    </p:spTree>
    <p:extLst>
      <p:ext uri="{BB962C8B-B14F-4D97-AF65-F5344CB8AC3E}">
        <p14:creationId xmlns:p14="http://schemas.microsoft.com/office/powerpoint/2010/main" val="11909975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25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4E44F-F6D8-484B-BF0B-99EF640C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practical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8CFE3-7493-471F-B083-2F1DE6D2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7715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7E9F4"/>
                </a:solidFill>
              </a:defRPr>
            </a:pPr>
            <a:r>
              <a:rPr sz="2100" b="0">
                <a:solidFill>
                  <a:srgbClr val="D7E9F4"/>
                </a:solidFill>
              </a:rPr>
              <a:t>Fund a focused pilot that proves how digital quality assessment can help schools move from observation to improvement.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13058-FF32-4671-B5E0-686AAD88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B83F"/>
          </a:solidFill>
          <a:ln xmlns:a="http://schemas.openxmlformats.org/drawingml/2006/main" w="0">
            <a:solidFill>
              <a:srgbClr val="F3B83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0A381-8154-4DBD-8F35-FD5A6057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B83F"/>
                </a:solidFill>
              </a:defRPr>
            </a:pPr>
            <a:r>
              <a:rPr sz="1500" b="1">
                <a:solidFill>
                  <a:srgbClr val="F3B83F"/>
                </a:solidFill>
              </a:rPr>
              <a:t>Pilot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E916C-6AFA-45E9-AFCE-A14B7E8C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Define the geography, assessment framework, partners and success measures together.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3595C-965D-49B3-8749-CE47E4F3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SaQshi Education</a:t>
            </a:r>
          </a:p>
        </p:txBody>
      </p:sp>
    </p:spTree>
    <p:extLst>
      <p:ext uri="{BB962C8B-B14F-4D97-AF65-F5344CB8AC3E}">
        <p14:creationId xmlns:p14="http://schemas.microsoft.com/office/powerpoint/2010/main" val="1247307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2026-08-07T07:10:50.4300000Z</dcterms:created>
  <dcterms:modified xsi:type="dcterms:W3CDTF">2026-08-07T07:10:50.4300000Z</dcterms:modified>
</coreProperties>
</file>