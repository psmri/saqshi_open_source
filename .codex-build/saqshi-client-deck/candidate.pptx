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92bbef534c4056" /><Relationship Type="http://schemas.openxmlformats.org/officeDocument/2006/relationships/extended-properties" Target="/docProps/app.xml" Id="R4c51682ee612417b" /><Relationship Type="http://schemas.openxmlformats.org/officeDocument/2006/relationships/officeDocument" Target="/ppt/presentation.xml" Id="Racb53a67818f40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ca9c874bc14e03"/>
  </p:sldMasterIdLst>
  <p:notesMasterIdLst>
    <p:notesMasterId xmlns:r="http://schemas.openxmlformats.org/officeDocument/2006/relationships" r:id="R541dac9b78ec4939"/>
  </p:notesMasterIdLst>
  <p:sldIdLst>
    <p:sldId xmlns:r="http://schemas.openxmlformats.org/officeDocument/2006/relationships" id="256" r:id="Raab99f19851d4b1f"/>
    <p:sldId xmlns:r="http://schemas.openxmlformats.org/officeDocument/2006/relationships" id="257" r:id="R676f920d30e94437"/>
    <p:sldId xmlns:r="http://schemas.openxmlformats.org/officeDocument/2006/relationships" id="258" r:id="Ra63b3a2345b340e2"/>
    <p:sldId xmlns:r="http://schemas.openxmlformats.org/officeDocument/2006/relationships" id="259" r:id="R9f7eba2cf0bb4a94"/>
    <p:sldId xmlns:r="http://schemas.openxmlformats.org/officeDocument/2006/relationships" id="260" r:id="R732b5211731f4a02"/>
    <p:sldId xmlns:r="http://schemas.openxmlformats.org/officeDocument/2006/relationships" id="261" r:id="R048ec6a71eac4b07"/>
    <p:sldId xmlns:r="http://schemas.openxmlformats.org/officeDocument/2006/relationships" id="262" r:id="R865002fc1b4d413b"/>
    <p:sldId xmlns:r="http://schemas.openxmlformats.org/officeDocument/2006/relationships" id="263" r:id="Rd279da31ecda41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a77208cde84141" /><Relationship Type="http://schemas.openxmlformats.org/officeDocument/2006/relationships/slideMaster" Target="/ppt/slideMasters/slideMaster1.xml" Id="Re6ca9c874bc14e03" /><Relationship Type="http://schemas.openxmlformats.org/officeDocument/2006/relationships/notesMaster" Target="/ppt/notesMasters/notesMaster1.xml" Id="R541dac9b78ec4939" /><Relationship Type="http://schemas.openxmlformats.org/officeDocument/2006/relationships/presProps" Target="/ppt/presProps.xml" Id="Rc620a4b6c3ac45e4" /><Relationship Type="http://schemas.openxmlformats.org/officeDocument/2006/relationships/tableStyles" Target="/ppt/tableStyles.xml" Id="Rcae33df813d6466c" /><Relationship Type="http://schemas.openxmlformats.org/officeDocument/2006/relationships/slide" Target="/ppt/slides/slide1.xml" Id="Raab99f19851d4b1f" /><Relationship Type="http://schemas.openxmlformats.org/officeDocument/2006/relationships/slide" Target="/ppt/slides/slide2.xml" Id="R676f920d30e94437" /><Relationship Type="http://schemas.openxmlformats.org/officeDocument/2006/relationships/slide" Target="/ppt/slides/slide3.xml" Id="Ra63b3a2345b340e2" /><Relationship Type="http://schemas.openxmlformats.org/officeDocument/2006/relationships/slide" Target="/ppt/slides/slide4.xml" Id="R9f7eba2cf0bb4a94" /><Relationship Type="http://schemas.openxmlformats.org/officeDocument/2006/relationships/slide" Target="/ppt/slides/slide5.xml" Id="R732b5211731f4a02" /><Relationship Type="http://schemas.openxmlformats.org/officeDocument/2006/relationships/slide" Target="/ppt/slides/slide6.xml" Id="R048ec6a71eac4b07" /><Relationship Type="http://schemas.openxmlformats.org/officeDocument/2006/relationships/slide" Target="/ppt/slides/slide7.xml" Id="R865002fc1b4d413b" /><Relationship Type="http://schemas.openxmlformats.org/officeDocument/2006/relationships/slide" Target="/ppt/slides/slide8.xml" Id="Rd279da31ecda41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107bc42c26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0ffe691fb469b" /><Relationship Type="http://schemas.openxmlformats.org/officeDocument/2006/relationships/notesMaster" Target="/ppt/notesMasters/notesMaster1.xml" Id="R9fc60fd1bb1e45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9a5b43de240e8" /><Relationship Type="http://schemas.openxmlformats.org/officeDocument/2006/relationships/notesMaster" Target="/ppt/notesMasters/notesMaster1.xml" Id="R9cb6bd93eb6d42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b5a887ab75403a" /><Relationship Type="http://schemas.openxmlformats.org/officeDocument/2006/relationships/notesMaster" Target="/ppt/notesMasters/notesMaster1.xml" Id="R808293c6737e4b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504a53691347b1" /><Relationship Type="http://schemas.openxmlformats.org/officeDocument/2006/relationships/notesMaster" Target="/ppt/notesMasters/notesMaster1.xml" Id="R1f52be0e0c4f43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89f465a49e4276" /><Relationship Type="http://schemas.openxmlformats.org/officeDocument/2006/relationships/notesMaster" Target="/ppt/notesMasters/notesMaster1.xml" Id="Rb86e992be59c4e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d7eedfdad44a7c" /><Relationship Type="http://schemas.openxmlformats.org/officeDocument/2006/relationships/notesMaster" Target="/ppt/notesMasters/notesMaster1.xml" Id="R4d45f379f89c48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4a81fb59974b28" /><Relationship Type="http://schemas.openxmlformats.org/officeDocument/2006/relationships/notesMaster" Target="/ppt/notesMasters/notesMaster1.xml" Id="R451f548b8cc948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cf929b548b45da" /><Relationship Type="http://schemas.openxmlformats.org/officeDocument/2006/relationships/notesMaster" Target="/ppt/notesMasters/notesMaster1.xml" Id="R960bb46102ed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SaQshi About page and Project Overview. Cover image generated for this presentation; illustrative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docs/architecture/project_overview.md and docs/user/user_guide.md.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docs/architecture/project_overview.md and docs/user/user_guide.md. Product image is from the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docs/user/user_guide.md, “Main User Types” and “State Monitoring”.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docs/architecture/project_overview.md, “Current Functional Scope”.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docs/user/user_guide.md and ui/help/state-risk-analysis.html; score bands from ui/help/state-facility-insights-map.html.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docs/architecture/project_overview.md and ui/help/about.html.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source: ui/help/about.html. Rollout steps are a proposed implementation approach, not a product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c635d917f41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e3e6972b284ceb" /><Relationship Type="http://schemas.openxmlformats.org/officeDocument/2006/relationships/slideLayout" Target="/ppt/slideLayouts/slideLayout1.xml" Id="R3995b610c2be45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5b610c2be45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5808d6f6843a5" /><Relationship Type="http://schemas.openxmlformats.org/officeDocument/2006/relationships/image" Target="/ppt/media/image.png" Id="R72771e4e184f471e" /><Relationship Type="http://schemas.openxmlformats.org/officeDocument/2006/relationships/image" Target="/ppt/media/image2.png" Id="R0a8df9916b634f2a" /><Relationship Type="http://schemas.openxmlformats.org/officeDocument/2006/relationships/notesSlide" Target="/ppt/notesSlides/notesSlide1.xml" Id="R171ed993d1224c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cd0c95cef44e7" /><Relationship Type="http://schemas.openxmlformats.org/officeDocument/2006/relationships/notesSlide" Target="/ppt/notesSlides/notesSlide2.xml" Id="Rab3e688e1ce34d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b6ded587546a7" /><Relationship Type="http://schemas.openxmlformats.org/officeDocument/2006/relationships/image" Target="/ppt/media/image3.png" Id="R189e1d7159c8437e" /><Relationship Type="http://schemas.openxmlformats.org/officeDocument/2006/relationships/notesSlide" Target="/ppt/notesSlides/notesSlide3.xml" Id="R6174bbe3451145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a8611f1d34e7f" /><Relationship Type="http://schemas.openxmlformats.org/officeDocument/2006/relationships/notesSlide" Target="/ppt/notesSlides/notesSlide4.xml" Id="Rc2d26cf1471c44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775a5affa45c2" /><Relationship Type="http://schemas.openxmlformats.org/officeDocument/2006/relationships/notesSlide" Target="/ppt/notesSlides/notesSlide5.xml" Id="R5d3307e55ac942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b4f47c5354878" /><Relationship Type="http://schemas.openxmlformats.org/officeDocument/2006/relationships/notesSlide" Target="/ppt/notesSlides/notesSlide6.xml" Id="R57ee4acf3ed64f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7accdf68f48f2" /><Relationship Type="http://schemas.openxmlformats.org/officeDocument/2006/relationships/notesSlide" Target="/ppt/notesSlides/notesSlide7.xml" Id="Rce23131f95bb41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a2ef9743248b6" /><Relationship Type="http://schemas.openxmlformats.org/officeDocument/2006/relationships/image" Target="/ppt/media/image4.png" Id="R4843e11184d84081" /><Relationship Type="http://schemas.openxmlformats.org/officeDocument/2006/relationships/notesSlide" Target="/ppt/notesSlides/notesSlide8.xml" Id="R9e7fa151d8924c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71e4e184f47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BB812-095E-4BC8-B4A0-60A3007E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27218-9FA4-4135-B61A-715EBB1C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48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df9916b634f2a"/>
          <a:stretch xmlns:a="http://schemas.openxmlformats.org/drawingml/2006/main"/>
        </p:blipFill>
        <p:spPr>
          <a:xfrm xmlns:a="http://schemas.openxmlformats.org/drawingml/2006/main">
            <a:off x="777875" y="523875"/>
            <a:ext cx="1568450" cy="495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CD76F-CE9D-4852-B122-CE20C149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SaQshi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4A2F6-9AB1-441E-BAB5-D43F0B50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04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Digital quality assessment, continuous improvement and monitoring for public health facilities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7DF41-D65F-4D5E-BE1D-6D34BDD2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Client presentation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C8196-3AC5-4E6F-8B07-841F42B6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Open-source platform maintained by Tech4Gov, Piramal Swasthya</a:t>
            </a:r>
          </a:p>
        </p:txBody>
      </p:sp>
    </p:spTree>
    <p:extLst>
      <p:ext uri="{BB962C8B-B14F-4D97-AF65-F5344CB8AC3E}">
        <p14:creationId xmlns:p14="http://schemas.microsoft.com/office/powerpoint/2010/main" val="1409077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CC798-8A03-4193-9EBD-54E71BBB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Quality work needs one connected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2ED80-0DAA-40F6-916D-A5E54752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replaces disconnected assessment records with an accountable improvement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2BFE9-0877-4BDB-A021-CB7A0B0D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BE552-A46D-4E48-BF26-65064E0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F82DA-9620-4E5D-A632-EE0A19CA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19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Assessment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A67E6-F459-4AAD-ADED-5878BD67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193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Checklist responses, department scope and assessor details remain connected to each facility assessment.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6F7F3-DA2C-4D70-9E7F-911DFB17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9C38E-A605-4DAD-BC4A-15B0FB61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76447-FBA6-4A1C-96B9-7C14B132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480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Improvement follow-through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68E50-55A2-4A32-9891-284B5A11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4805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Gaps become assigned action plans with target dates, evidence and closure updates.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88935-A39F-43C6-8FE7-ECD6CBE7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5CF49-461E-4ADA-B4EE-16C811C9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8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5F2AE-FAE5-4724-B9AC-D4413B28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Programme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3F8E6-FC38-4F27-A184-B6B749AF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762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Monitoring users can review progress across block, district, division and state scope.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7C079-B8AF-4DF8-B661-6C1F1BA7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Designed for facility-level quality data. Patient-level clinical records do not belong in SaQshi.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80D42D-B7CE-4AEA-8749-7043EFC0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 |  Client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9026F-0EC6-478D-ABF5-34B287E1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63231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6462D-50DE-4385-9B60-D475F2B6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Assessment to continuous quality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50477-5259-424F-ABB3-F4C7D4A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A single record connects baseline findings with corrective action and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9C8B4-E909-4F87-9301-0D5162E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F37E7-E963-4CF4-BDB2-84E26D67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E2C27-71D3-4A2D-A84E-249DC561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DC961-A559-49E1-B406-BFEAEB0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Start or continue assessment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A59D8-8270-4433-BBF3-60CC21CD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392C5-D4CF-4182-9EB8-BFA27335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33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2DB03-B1C5-4756-A9A5-924637DD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18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Activate applicable departments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38BA7-46B2-4C50-8960-5ACDE2E3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FF0B4-94D0-413D-AE92-2AEF6414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342A7-F4F8-4331-8BFE-BF22B1DD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718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Capture checklist responses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8E6B9-1285-4DAD-AD9E-3C355C88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9BF9A-2266-414B-BD55-C33627F5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8BEBD-E3FE-4AEF-BE30-2230E495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034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Review gaps and assign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429F2-B645-44BD-89DA-D48ED80C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034F9-131F-447E-BC54-281DF87B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2B63F-CD53-49D4-A03A-085A76D8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718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Close gaps with evidence and revised 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5AA3A-A338-422C-AC30-2FE8AFB8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E53C44-0D19-4A33-8C5C-9E03367C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F2D900-45BB-49DF-8FA5-1731E86A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718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Monitor reports, KPIs and certification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CD361-1DC3-42EF-9F87-448906F6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0125"/>
            <a:ext cx="891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Scores support the workflow: 0 = non-compliance, 1 = partial compliance, 2 = full compliance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e1d7159c8437e"/>
          <a:srcRect xmlns:a="http://schemas.openxmlformats.org/drawingml/2006/main" l="0" t="20430" r="0" b="204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1200150"/>
            <a:ext cx="2362200" cy="10477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C4220-FD67-4CBB-A5B4-AB4EF461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 |  Client 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8E000-8B58-4B95-95D4-AC5FDB35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048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8BDF6-5206-4EFE-A106-F58371AB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Role-based experience for every level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673F1-9F70-4129-A93E-A8E8BFB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Each role sees the workflow and geography that match its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A6082-2A0A-4DA0-B644-3A436F3C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857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9E332-928F-4C82-8FFA-59FC3ABC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143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57CF0-A769-4B2D-9FD9-04B18B08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19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Facility team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B4FB6-51FD-4F44-A793-145845F3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Create assessments, complete checklists, manage CQI actions, enter KPI and outcome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D17B2-6525-4662-87ED-BC8D075F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4857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33163-F47C-4983-9520-FEB8A015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1143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B3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7C995-7F4D-4F25-A2AD-589D7A90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192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Assessor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C9C98-C8CC-4A30-B2AC-BCCE437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Work only on assigned facilities and allocated departments or classes.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D821A-D3F3-40C9-B3F6-E66A1071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857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A4EDE-6F6B-45B0-802D-6ED2DF3C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143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64DF1-2AFC-4B5F-B905-52BC961D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Block, district and division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48DB5-E6AE-4A3C-A8E2-DD38894C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Monitor facilities within the assigned administrative area.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40365-57EE-4FEB-B661-9563F9C5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4857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ED0DC-D51F-43B9-89CD-BCCE00C6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1143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09D0A-2C42-4A1A-B2FF-A9B353D4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State administration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B359B-0E91-460C-924A-2A41F20D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Monitor statewide data, manage assessors and users, track certification and export reports.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99F7C-EF42-4363-BBE3-E15ABA3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 |  Client 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3E54A-B473-414D-B6C6-A5E07827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1605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99AAF-6C41-4A45-8FD2-E234EB63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Core capabilities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35B793-A145-4A2F-8BD2-1EE0A8CB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The platform brings quality assessment and programme monitoring into the same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80C38-FBC9-4C87-9B6A-279DAE96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857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BB007-5CD7-4507-B8BE-C7DD93A7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Structured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26D6F-249C-4E64-8D56-5D775D53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Configurable frameworks, department activation, assessor information and checkpoint-level scoring.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F7A624-165E-475B-A090-6AB11D38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4857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CABBC-EB5F-4DD1-BC7D-B6056CD1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CQI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82DE1-B52C-4C22-AA4B-56AF1FA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Gap analysis, action plans, responsible person, target date, closure remarks and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72011-3FEB-4DA0-948A-9E2BEA4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857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3EE97-8897-4B13-B8BE-1D66AA37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Performance monitoring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C68B2-E3E1-4623-B3A5-812964F6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Configurable KPI and outcome indicators, monthly entry, formula-based results and trends.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592B2-5FE8-4B55-A0AF-F400A517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4857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844A3-85F7-442F-B541-3466E145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Certification tracking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595CE-A058-40FE-A09D-566BF685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290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State or national certification status, history, validity, expiry tracking and map 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CAD6D-6FE9-4F43-8BD8-80110091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857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873D0-53CA-4A5C-9816-E53BFF68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Reports and exports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6B26E-F09A-4390-8B45-261BFC78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Scorecards, progress reports, CQI reports, performance downloads and state reports.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4C23D-0F4C-45AB-95F5-20A84383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 |  Client presentation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87514-B856-42D4-90A8-0DB81CE4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840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89BC99-9D1F-4B31-A54C-49B2EC13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Monitoring that supports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D8420-F41F-47DE-8B13-FF8A13B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Programme teams can move from an overview to the facility and checkpoint that require follow-up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A374E-A387-4B20-9701-90FFB6B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Assessment 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2349D-FB7D-499F-9D53-807D490F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Track started, in-progress and completed assessments within the user’s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236FE-913E-4497-8688-F5397192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CQI action tracking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B611E2-15E1-4549-8EB9-7AA56CC1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Identify high-priority, unassigned, overdue and soon-due actions.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0EC37-B095-4A89-BB9B-22E7E9FB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Risk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ACB6A-A72A-4B40-876E-A0F3B99E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Find the quality concerns affecting the most facilities and drill down by location, facility type and department.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956BA-03F0-484A-A26C-5988ADA1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53911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9CA9E-81F0-4F9B-B5B1-7C465FDB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Facility Insights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B87A2-1920-4ED5-A7CF-C486A34F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View facility presence, certification coverage or the latest assessment result by Area of Concern and subtype.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34D36-C7C5-48C2-AEA1-07BE07CC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7E5ED-C91C-4ED9-B8B5-346736C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04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Critical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E1EC5-1216-44AE-B478-F45F86F1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004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0–25%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2CCBC-878B-4789-BAAF-3C829111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C8DEE-BBE4-4B47-8138-FD0BFBB5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338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Needs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7C341-8C81-4A7F-86AD-1411E65E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338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26–60%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80723-CD53-40FA-986B-DD1C0768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D1902-C94C-446C-BCDC-8EFA07B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67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Satisfactory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F28C1-7B0D-426E-8206-BAFFB68E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672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Above 60%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CAA92-EAF0-41C0-A8DF-E8059139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 |  Client 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71E2F-3C9A-4429-A510-23FF5428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0019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A867F-0097-4F89-AC8D-69F752F3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Designed for deployment and governance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E9ECA-2998-4015-9624-C8C958D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keeps the platform adaptable while making its data boundary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7F7EB-9452-4FA4-A5DD-DECBB3D0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086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D3B67-7F84-4909-BA97-1BF71222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Configurable by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58F0D-DDC9-4898-9ED1-F0006FF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Frameworks, departments, performance indicators, certification rules and map settings use configuration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9050D-0492-4461-8CE5-E3C37847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81150"/>
            <a:ext cx="5086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1B3A5-5A52-408F-8720-A8BAA195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Facility-level data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6187B-0A3D-4517-B41A-76E294C2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The platform supports facility observations, scores, CQI activity, KPI/outcome numbers and monitoring reports.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3C631-271F-4E66-91BB-B04319AA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086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66EF4-C23E-4411-8286-99E355DB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57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Protected administration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27FC3-CB4A-4629-A1E8-C7A22BE0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Role-based scopes restrict monitoring views. Administrative identity fields receive field encryption where implemented.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D22C6-6534-4656-B374-3C85E1A0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67125"/>
            <a:ext cx="50863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FD294-1C24-4284-8298-635795E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Open-source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BFDE07-AC2C-4CAA-B218-B71F6B84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The platform is maintained by the Tech4Gov team at Piramal Swasthya.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10242-8215-439B-9255-AEE80C1F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 |  Client presentation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D57B9-353A-4395-B92A-1988F4B7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0438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3e11184d84081"/>
          <a:stretch xmlns:a="http://schemas.openxmlformats.org/drawingml/2006/main"/>
        </p:blipFill>
        <p:spPr>
          <a:xfrm xmlns:a="http://schemas.openxmlformats.org/drawingml/2006/main">
            <a:off x="758825" y="609600"/>
            <a:ext cx="156845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461BC-644A-4363-997E-53362E1A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practical path to a SaQshi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1ED19-1AAF-4AD2-90E9-6F23AB0A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AE91E-E2A4-45D6-842A-C536FE54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0D7CB-6FEA-4237-ADDD-3A9C88C9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programme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A4162-7E26-4A57-B5D4-5603F567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Agree facility types, assessment framework, indicators and reporting needs.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2A4BC-E53C-4DFF-B878-6D99B8DC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B5740-3174-4458-BFCB-16267127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BE659-7986-4DF6-B11C-C3572904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861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Configure and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A0096-7150-42A0-BCB9-1D9EC11B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Set up masters, role mapping, geography, checklists and acceptance checks.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4F1DE-84D5-40B3-BA67-169AA8CF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4CBFF-0F0C-4C84-80BE-D5FDD25F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4D1FB-1B7A-49C8-B868-B4A4C9CD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with real teams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0032C-937E-44EB-96E2-D671E251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053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Run a controlled facility pilot and refine workflow, reports and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2F877-264E-44E9-846C-2AD0AF61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5B3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902EF-733A-4AA9-BCFD-C5610FA4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70058-8A6C-46C8-8262-F2455A9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 with oversight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0223A-F6D2-414D-A4BC-C1338466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244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Use dashboards, CQI tracking and certification views to guide follow-up.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D931B-7479-4D27-AD01-F2AB917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8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8F5"/>
                </a:solidFill>
                <a:latin typeface="Aptos"/>
                <a:ea typeface="Aptos"/>
                <a:cs typeface="Aptos"/>
              </a:rPr>
              <a:t>For partnership, implementation or technical support: tech4gov@piramalswasthya.org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4B514-64A2-405B-87DC-ABB3B576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SaQshi  |  Client presentation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C1888-5A3B-412A-BDE7-184144A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2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2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442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2026-09-07T13:01:42.1430000Z</dcterms:created>
  <dcterms:modified xsi:type="dcterms:W3CDTF">2026-09-07T13:01:42.1440000Z</dcterms:modified>
</coreProperties>
</file>