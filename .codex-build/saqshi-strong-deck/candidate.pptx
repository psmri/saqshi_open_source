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f6dd75ee4de4548" /><Relationship Type="http://schemas.openxmlformats.org/officeDocument/2006/relationships/extended-properties" Target="/docProps/app.xml" Id="Re92027118f204b98" /><Relationship Type="http://schemas.openxmlformats.org/officeDocument/2006/relationships/officeDocument" Target="/ppt/presentation.xml" Id="R1fc76b5538314fb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188865e36c24835"/>
  </p:sldMasterIdLst>
  <p:notesMasterIdLst>
    <p:notesMasterId xmlns:r="http://schemas.openxmlformats.org/officeDocument/2006/relationships" r:id="Rce77e8d4b0b14100"/>
  </p:notesMasterIdLst>
  <p:sldIdLst>
    <p:sldId xmlns:r="http://schemas.openxmlformats.org/officeDocument/2006/relationships" id="256" r:id="R260b2a43c5d2437e"/>
    <p:sldId xmlns:r="http://schemas.openxmlformats.org/officeDocument/2006/relationships" id="257" r:id="R8c28a86c0e054b23"/>
    <p:sldId xmlns:r="http://schemas.openxmlformats.org/officeDocument/2006/relationships" id="258" r:id="R7ff253c978a94154"/>
    <p:sldId xmlns:r="http://schemas.openxmlformats.org/officeDocument/2006/relationships" id="259" r:id="Rf8b36c5b100241ba"/>
    <p:sldId xmlns:r="http://schemas.openxmlformats.org/officeDocument/2006/relationships" id="260" r:id="Ra4b3e528b0f44a91"/>
    <p:sldId xmlns:r="http://schemas.openxmlformats.org/officeDocument/2006/relationships" id="261" r:id="R4275abb4da974890"/>
    <p:sldId xmlns:r="http://schemas.openxmlformats.org/officeDocument/2006/relationships" id="262" r:id="Ra32dab5003c641b4"/>
    <p:sldId xmlns:r="http://schemas.openxmlformats.org/officeDocument/2006/relationships" id="263" r:id="R9b9df73c2fec4986"/>
    <p:sldId xmlns:r="http://schemas.openxmlformats.org/officeDocument/2006/relationships" id="264" r:id="R43e88b58dfd14cf8"/>
    <p:sldId xmlns:r="http://schemas.openxmlformats.org/officeDocument/2006/relationships" id="265" r:id="Rac978dad21464447"/>
    <p:sldId xmlns:r="http://schemas.openxmlformats.org/officeDocument/2006/relationships" id="266" r:id="R5cd4da6fa27b46ea"/>
    <p:sldId xmlns:r="http://schemas.openxmlformats.org/officeDocument/2006/relationships" id="267" r:id="Rd6fcdcc5ac4a48d5"/>
    <p:sldId xmlns:r="http://schemas.openxmlformats.org/officeDocument/2006/relationships" id="268" r:id="R46153d352b214969"/>
    <p:sldId xmlns:r="http://schemas.openxmlformats.org/officeDocument/2006/relationships" id="269" r:id="R93bd18f684bf44c2"/>
    <p:sldId xmlns:r="http://schemas.openxmlformats.org/officeDocument/2006/relationships" id="270" r:id="R798d86d5b3804bab"/>
    <p:sldId xmlns:r="http://schemas.openxmlformats.org/officeDocument/2006/relationships" id="271" r:id="Rb1b238e9816645cd"/>
    <p:sldId xmlns:r="http://schemas.openxmlformats.org/officeDocument/2006/relationships" id="272" r:id="R888478e900854c10"/>
    <p:sldId xmlns:r="http://schemas.openxmlformats.org/officeDocument/2006/relationships" id="273" r:id="Rfa30e9fbef11426c"/>
    <p:sldId xmlns:r="http://schemas.openxmlformats.org/officeDocument/2006/relationships" id="274" r:id="R7faffe61919b4101"/>
    <p:sldId xmlns:r="http://schemas.openxmlformats.org/officeDocument/2006/relationships" id="275" r:id="R911831d8427d43b7"/>
    <p:sldId xmlns:r="http://schemas.openxmlformats.org/officeDocument/2006/relationships" id="276" r:id="R46e50e7247ae40cf"/>
    <p:sldId xmlns:r="http://schemas.openxmlformats.org/officeDocument/2006/relationships" id="277" r:id="R7c1481fd06c746f7"/>
    <p:sldId xmlns:r="http://schemas.openxmlformats.org/officeDocument/2006/relationships" id="278" r:id="R7a57aaaa54864e16"/>
    <p:sldId xmlns:r="http://schemas.openxmlformats.org/officeDocument/2006/relationships" id="279" r:id="R349498cc094e400b"/>
    <p:sldId xmlns:r="http://schemas.openxmlformats.org/officeDocument/2006/relationships" id="280" r:id="R5006a3e4632c474a"/>
    <p:sldId xmlns:r="http://schemas.openxmlformats.org/officeDocument/2006/relationships" id="281" r:id="Rbe8bba356d944c10"/>
    <p:sldId xmlns:r="http://schemas.openxmlformats.org/officeDocument/2006/relationships" id="282" r:id="R96b106508342480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023689a73374559" /><Relationship Type="http://schemas.openxmlformats.org/officeDocument/2006/relationships/slideMaster" Target="/ppt/slideMasters/slideMaster1.xml" Id="R2188865e36c24835" /><Relationship Type="http://schemas.openxmlformats.org/officeDocument/2006/relationships/notesMaster" Target="/ppt/notesMasters/notesMaster1.xml" Id="Rce77e8d4b0b14100" /><Relationship Type="http://schemas.openxmlformats.org/officeDocument/2006/relationships/presProps" Target="/ppt/presProps.xml" Id="Rba5e9818b2a94f40" /><Relationship Type="http://schemas.openxmlformats.org/officeDocument/2006/relationships/viewProps" Target="/ppt/viewProps.xml" Id="Rf76d673fbb91425d" /><Relationship Type="http://schemas.openxmlformats.org/officeDocument/2006/relationships/tableStyles" Target="/ppt/tableStyles.xml" Id="Rd2c6dd7e3cae4ea9" /><Relationship Type="http://schemas.openxmlformats.org/officeDocument/2006/relationships/slide" Target="/ppt/slides/slide1.xml" Id="R260b2a43c5d2437e" /><Relationship Type="http://schemas.openxmlformats.org/officeDocument/2006/relationships/slide" Target="/ppt/slides/slide2.xml" Id="R8c28a86c0e054b23" /><Relationship Type="http://schemas.openxmlformats.org/officeDocument/2006/relationships/slide" Target="/ppt/slides/slide3.xml" Id="R7ff253c978a94154" /><Relationship Type="http://schemas.openxmlformats.org/officeDocument/2006/relationships/slide" Target="/ppt/slides/slide4.xml" Id="Rf8b36c5b100241ba" /><Relationship Type="http://schemas.openxmlformats.org/officeDocument/2006/relationships/slide" Target="/ppt/slides/slide5.xml" Id="Ra4b3e528b0f44a91" /><Relationship Type="http://schemas.openxmlformats.org/officeDocument/2006/relationships/slide" Target="/ppt/slides/slide6.xml" Id="R4275abb4da974890" /><Relationship Type="http://schemas.openxmlformats.org/officeDocument/2006/relationships/slide" Target="/ppt/slides/slide7.xml" Id="Ra32dab5003c641b4" /><Relationship Type="http://schemas.openxmlformats.org/officeDocument/2006/relationships/slide" Target="/ppt/slides/slide8.xml" Id="R9b9df73c2fec4986" /><Relationship Type="http://schemas.openxmlformats.org/officeDocument/2006/relationships/slide" Target="/ppt/slides/slide9.xml" Id="R43e88b58dfd14cf8" /><Relationship Type="http://schemas.openxmlformats.org/officeDocument/2006/relationships/slide" Target="/ppt/slides/slide10.xml" Id="Rac978dad21464447" /><Relationship Type="http://schemas.openxmlformats.org/officeDocument/2006/relationships/slide" Target="/ppt/slides/slide11.xml" Id="R5cd4da6fa27b46ea" /><Relationship Type="http://schemas.openxmlformats.org/officeDocument/2006/relationships/slide" Target="/ppt/slides/slide12.xml" Id="Rd6fcdcc5ac4a48d5" /><Relationship Type="http://schemas.openxmlformats.org/officeDocument/2006/relationships/slide" Target="/ppt/slides/slide13.xml" Id="R46153d352b214969" /><Relationship Type="http://schemas.openxmlformats.org/officeDocument/2006/relationships/slide" Target="/ppt/slides/slide14.xml" Id="R93bd18f684bf44c2" /><Relationship Type="http://schemas.openxmlformats.org/officeDocument/2006/relationships/slide" Target="/ppt/slides/slide15.xml" Id="R798d86d5b3804bab" /><Relationship Type="http://schemas.openxmlformats.org/officeDocument/2006/relationships/slide" Target="/ppt/slides/slide16.xml" Id="Rb1b238e9816645cd" /><Relationship Type="http://schemas.openxmlformats.org/officeDocument/2006/relationships/slide" Target="/ppt/slides/slide17.xml" Id="R888478e900854c10" /><Relationship Type="http://schemas.openxmlformats.org/officeDocument/2006/relationships/slide" Target="/ppt/slides/slide18.xml" Id="Rfa30e9fbef11426c" /><Relationship Type="http://schemas.openxmlformats.org/officeDocument/2006/relationships/slide" Target="/ppt/slides/slide19.xml" Id="R7faffe61919b4101" /><Relationship Type="http://schemas.openxmlformats.org/officeDocument/2006/relationships/slide" Target="/ppt/slides/slide20.xml" Id="R911831d8427d43b7" /><Relationship Type="http://schemas.openxmlformats.org/officeDocument/2006/relationships/slide" Target="/ppt/slides/slide21.xml" Id="R46e50e7247ae40cf" /><Relationship Type="http://schemas.openxmlformats.org/officeDocument/2006/relationships/slide" Target="/ppt/slides/slide22.xml" Id="R7c1481fd06c746f7" /><Relationship Type="http://schemas.openxmlformats.org/officeDocument/2006/relationships/slide" Target="/ppt/slides/slide23.xml" Id="R7a57aaaa54864e16" /><Relationship Type="http://schemas.openxmlformats.org/officeDocument/2006/relationships/slide" Target="/ppt/slides/slide24.xml" Id="R349498cc094e400b" /><Relationship Type="http://schemas.openxmlformats.org/officeDocument/2006/relationships/slide" Target="/ppt/slides/slide25.xml" Id="R5006a3e4632c474a" /><Relationship Type="http://schemas.openxmlformats.org/officeDocument/2006/relationships/slide" Target="/ppt/slides/slide26.xml" Id="Rbe8bba356d944c10" /><Relationship Type="http://schemas.openxmlformats.org/officeDocument/2006/relationships/slide" Target="/ppt/slides/slide27.xml" Id="R96b106508342480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d41622ee3f44be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99f403f650d42e4" /><Relationship Type="http://schemas.openxmlformats.org/officeDocument/2006/relationships/notesMaster" Target="/ppt/notesMasters/notesMaster1.xml" Id="R2c14df46c3764ca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78c24464074451e" /><Relationship Type="http://schemas.openxmlformats.org/officeDocument/2006/relationships/notesMaster" Target="/ppt/notesMasters/notesMaster1.xml" Id="R2f1a6380b2c745d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4c99a8248ec4260" /><Relationship Type="http://schemas.openxmlformats.org/officeDocument/2006/relationships/notesMaster" Target="/ppt/notesMasters/notesMaster1.xml" Id="R408bfd0c459947b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7d2cc0627134454" /><Relationship Type="http://schemas.openxmlformats.org/officeDocument/2006/relationships/notesMaster" Target="/ppt/notesMasters/notesMaster1.xml" Id="Rb0d64d936cf143b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70e7eda66df4830" /><Relationship Type="http://schemas.openxmlformats.org/officeDocument/2006/relationships/notesMaster" Target="/ppt/notesMasters/notesMaster1.xml" Id="Ra97f5192f1814e1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1722a4c3a114866" /><Relationship Type="http://schemas.openxmlformats.org/officeDocument/2006/relationships/notesMaster" Target="/ppt/notesMasters/notesMaster1.xml" Id="R2bc20b52bfc44c8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0e2e4f0ba5141bc" /><Relationship Type="http://schemas.openxmlformats.org/officeDocument/2006/relationships/notesMaster" Target="/ppt/notesMasters/notesMaster1.xml" Id="Rc563e7ddca774f0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ad356c67aeb4d41" /><Relationship Type="http://schemas.openxmlformats.org/officeDocument/2006/relationships/notesMaster" Target="/ppt/notesMasters/notesMaster1.xml" Id="R9d0349fe63bd450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8090cd3d28d42c5" /><Relationship Type="http://schemas.openxmlformats.org/officeDocument/2006/relationships/notesMaster" Target="/ppt/notesMasters/notesMaster1.xml" Id="R3e58b115f1484dd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7368446724845cd" /><Relationship Type="http://schemas.openxmlformats.org/officeDocument/2006/relationships/notesMaster" Target="/ppt/notesMasters/notesMaster1.xml" Id="Rc354fa5dd06447c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65a2bff776d423d" /><Relationship Type="http://schemas.openxmlformats.org/officeDocument/2006/relationships/notesMaster" Target="/ppt/notesMasters/notesMaster1.xml" Id="R2002875c6fed454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4a5707754e44b13" /><Relationship Type="http://schemas.openxmlformats.org/officeDocument/2006/relationships/notesMaster" Target="/ppt/notesMasters/notesMaster1.xml" Id="R957d00dc07ca448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84834014e6e4f02" /><Relationship Type="http://schemas.openxmlformats.org/officeDocument/2006/relationships/notesMaster" Target="/ppt/notesMasters/notesMaster1.xml" Id="Rae5d0f454aa846a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2f75649906843ab" /><Relationship Type="http://schemas.openxmlformats.org/officeDocument/2006/relationships/notesMaster" Target="/ppt/notesMasters/notesMaster1.xml" Id="R4d301352b8f7424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bd27639c39a4489" /><Relationship Type="http://schemas.openxmlformats.org/officeDocument/2006/relationships/notesMaster" Target="/ppt/notesMasters/notesMaster1.xml" Id="Rb32cbaedab224ea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0ab2f80fddf4cff" /><Relationship Type="http://schemas.openxmlformats.org/officeDocument/2006/relationships/notesMaster" Target="/ppt/notesMasters/notesMaster1.xml" Id="R2f7484bc366b4dd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6d7df6b298a4837" /><Relationship Type="http://schemas.openxmlformats.org/officeDocument/2006/relationships/notesMaster" Target="/ppt/notesMasters/notesMaster1.xml" Id="R670208009e6f421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d8bfe0d71cd418d" /><Relationship Type="http://schemas.openxmlformats.org/officeDocument/2006/relationships/notesMaster" Target="/ppt/notesMasters/notesMaster1.xml" Id="R6387486797d245ee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4c298b1cfba84e58" /><Relationship Type="http://schemas.openxmlformats.org/officeDocument/2006/relationships/notesMaster" Target="/ppt/notesMasters/notesMaster1.xml" Id="R53eacff61eb44691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b6ee7bceb5dc47c5" /><Relationship Type="http://schemas.openxmlformats.org/officeDocument/2006/relationships/notesMaster" Target="/ppt/notesMasters/notesMaster1.xml" Id="R6662db9b7d5145f1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21da0eb1fa0e4255" /><Relationship Type="http://schemas.openxmlformats.org/officeDocument/2006/relationships/notesMaster" Target="/ppt/notesMasters/notesMaster1.xml" Id="R6e3c23a1732247e6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f34f5f7bbfb74b62" /><Relationship Type="http://schemas.openxmlformats.org/officeDocument/2006/relationships/notesMaster" Target="/ppt/notesMasters/notesMaster1.xml" Id="R0b2a039111e5437a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9f0602251d244f0b" /><Relationship Type="http://schemas.openxmlformats.org/officeDocument/2006/relationships/notesMaster" Target="/ppt/notesMasters/notesMaster1.xml" Id="R7da0c8b38c574dcf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af5abfa18e9d4e78" /><Relationship Type="http://schemas.openxmlformats.org/officeDocument/2006/relationships/notesMaster" Target="/ppt/notesMasters/notesMaster1.xml" Id="R48cdba5a61a14b33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20cddb2e9ac44060" /><Relationship Type="http://schemas.openxmlformats.org/officeDocument/2006/relationships/notesMaster" Target="/ppt/notesMasters/notesMaster1.xml" Id="Rc82970f3f7ee401a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067523509fce4c2f" /><Relationship Type="http://schemas.openxmlformats.org/officeDocument/2006/relationships/notesMaster" Target="/ppt/notesMasters/notesMaster1.xml" Id="Ra1cde8f62b774b14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0036786f64404c8a" /><Relationship Type="http://schemas.openxmlformats.org/officeDocument/2006/relationships/notesMaster" Target="/ppt/notesMasters/notesMaster1.xml" Id="Rea66431b74f9409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docs/architecture/project_overview.md.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docs/user/user_guide.md.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docs/architecture/project_overview.md and docs/user/user_guide.md.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Rollout structure is a proposed approach based on SaQshi configuration and role workflows.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7231bcfc50472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fbff457f3a4e44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preserve="1">
  <p:cSld name="SAQSHI_MASTER"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0BDFC27F-ADF5-4A87-898D-1E41DCF27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6248"/>
            <a:ext cx="12191695" cy="3017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12700">
            <a:solidFill>
              <a:srgbClr val="16324F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0405A43-2CF5-4000-8751-5005F2BA9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92824"/>
            <a:ext cx="621792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>
                <a:solidFill>
                  <a:srgbClr val="FFFFFF"/>
                </a:solidFill>
                <a:latin typeface="Aptos"/>
                <a:ea typeface="Aptos"/>
                <a:cs typeface="Aptos"/>
              </a:rPr>
              <a:t>SaQshi | Open Digital Quality Improvement Platform</a:t>
            </a:r>
            <a:endParaRPr sz="75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C70D45DD-6297-48AA-97ED-237E1401CA59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292840" y="6574536"/>
            <a:ext cx="347472" cy="1645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8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/>
              <a:t>1002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20f8c9b6a764740" /><Relationship Type="http://schemas.openxmlformats.org/officeDocument/2006/relationships/slideLayout" Target="/ppt/slideLayouts/slideLayout1.xml" Id="R24be3fb0b0c04f24" /><Relationship Type="http://schemas.openxmlformats.org/officeDocument/2006/relationships/slideLayout" Target="/ppt/slideLayouts/slideLayout2.xml" Id="R5c2c204566c74b97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72C6C773-6620-43C8-87A7-48D4A56E1EF6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292840" y="6574536"/>
            <a:ext cx="347472" cy="1645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8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/>
              <a:t>null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4be3fb0b0c04f24"/>
    <p:sldLayoutId xmlns:r="http://schemas.openxmlformats.org/officeDocument/2006/relationships" id="2147483650" r:id="R5c2c204566c74b97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97d66ca54a4fb0" /><Relationship Type="http://schemas.openxmlformats.org/officeDocument/2006/relationships/image" Target="/ppt/media/image.png" Id="Rbc1111b7c45e4554" /><Relationship Type="http://schemas.openxmlformats.org/officeDocument/2006/relationships/image" Target="/ppt/media/image2.png" Id="R0062d83a18e24820" /><Relationship Type="http://schemas.openxmlformats.org/officeDocument/2006/relationships/image" Target="/ppt/media/image.svg" Id="R3b4506dbeec04bdd" /><Relationship Type="http://schemas.openxmlformats.org/officeDocument/2006/relationships/image" Target="/ppt/media/image3.png" Id="R058704fb50454ef8" /><Relationship Type="http://schemas.openxmlformats.org/officeDocument/2006/relationships/image" Target="/ppt/media/image2.svg" Id="Ra2a5387b225246b9" /><Relationship Type="http://schemas.openxmlformats.org/officeDocument/2006/relationships/image" Target="/ppt/media/image4.png" Id="R25b15b4a8dda43f5" /><Relationship Type="http://schemas.openxmlformats.org/officeDocument/2006/relationships/image" Target="/ppt/media/image3.svg" Id="R563d6f4136cf4d6d" /><Relationship Type="http://schemas.openxmlformats.org/officeDocument/2006/relationships/image" Target="/ppt/media/image5.png" Id="R8063219c44904dbe" /><Relationship Type="http://schemas.openxmlformats.org/officeDocument/2006/relationships/image" Target="/ppt/media/image4.svg" Id="R21dc6785ea8a49f7" /><Relationship Type="http://schemas.openxmlformats.org/officeDocument/2006/relationships/image" Target="/ppt/media/image6.png" Id="R734e497799754a75" /><Relationship Type="http://schemas.openxmlformats.org/officeDocument/2006/relationships/image" Target="/ppt/media/image5.svg" Id="Rb904fa53d2374e6c" /><Relationship Type="http://schemas.openxmlformats.org/officeDocument/2006/relationships/notesSlide" Target="/ppt/notesSlides/notesSlide1.xml" Id="R0672af563d88470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0ab9d19c92e4fc2" /><Relationship Type="http://schemas.openxmlformats.org/officeDocument/2006/relationships/image" Target="/ppt/media/image7.png" Id="Rfc7b69e5f47e4885" /><Relationship Type="http://schemas.openxmlformats.org/officeDocument/2006/relationships/image" Target="/ppt/media/image8.png" Id="Ra95c959453a44d09" /><Relationship Type="http://schemas.openxmlformats.org/officeDocument/2006/relationships/image" Target="/ppt/media/image6.svg" Id="Racc8ee7e12cc4616" /><Relationship Type="http://schemas.openxmlformats.org/officeDocument/2006/relationships/image" Target="/ppt/media/image9.png" Id="R129482c837ad47ef" /><Relationship Type="http://schemas.openxmlformats.org/officeDocument/2006/relationships/image" Target="/ppt/media/image7.svg" Id="R1f1328c948404d75" /><Relationship Type="http://schemas.openxmlformats.org/officeDocument/2006/relationships/image" Target="/ppt/media/image10.png" Id="Rf0e20c0afabe4989" /><Relationship Type="http://schemas.openxmlformats.org/officeDocument/2006/relationships/image" Target="/ppt/media/image8.svg" Id="R7ff15a507c014c2f" /><Relationship Type="http://schemas.openxmlformats.org/officeDocument/2006/relationships/notesSlide" Target="/ppt/notesSlides/notesSlide2.xml" Id="Re6ef3928adee471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c9218e3dc664706" /><Relationship Type="http://schemas.openxmlformats.org/officeDocument/2006/relationships/image" Target="/ppt/media/image11.png" Id="Rda3eb8ab3e264f16" /><Relationship Type="http://schemas.openxmlformats.org/officeDocument/2006/relationships/image" Target="/ppt/media/image12.png" Id="Reca0583300e94d90" /><Relationship Type="http://schemas.openxmlformats.org/officeDocument/2006/relationships/image" Target="/ppt/media/image9.svg" Id="Rba237605288349bd" /><Relationship Type="http://schemas.openxmlformats.org/officeDocument/2006/relationships/image" Target="/ppt/media/image13.png" Id="R0850fc45c2e44b7f" /><Relationship Type="http://schemas.openxmlformats.org/officeDocument/2006/relationships/image" Target="/ppt/media/image10.svg" Id="R0d8e06c40df14f8f" /><Relationship Type="http://schemas.openxmlformats.org/officeDocument/2006/relationships/image" Target="/ppt/media/image14.png" Id="R0cce99b76326429f" /><Relationship Type="http://schemas.openxmlformats.org/officeDocument/2006/relationships/image" Target="/ppt/media/image11.svg" Id="R61ae2a50d75b4074" /><Relationship Type="http://schemas.openxmlformats.org/officeDocument/2006/relationships/image" Target="/ppt/media/image15.png" Id="R011deb9b47b34231" /><Relationship Type="http://schemas.openxmlformats.org/officeDocument/2006/relationships/image" Target="/ppt/media/image12.svg" Id="R43af41faceb9416d" /><Relationship Type="http://schemas.openxmlformats.org/officeDocument/2006/relationships/image" Target="/ppt/media/image16.png" Id="Rc70df9768a784344" /><Relationship Type="http://schemas.openxmlformats.org/officeDocument/2006/relationships/image" Target="/ppt/media/image13.svg" Id="R8b663f7b57894762" /><Relationship Type="http://schemas.openxmlformats.org/officeDocument/2006/relationships/image" Target="/ppt/media/image17.png" Id="R9481d856e50841a6" /><Relationship Type="http://schemas.openxmlformats.org/officeDocument/2006/relationships/image" Target="/ppt/media/image14.svg" Id="R6c6ac16c31a34f35" /><Relationship Type="http://schemas.openxmlformats.org/officeDocument/2006/relationships/notesSlide" Target="/ppt/notesSlides/notesSlide3.xml" Id="R60106b84afdc4bb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f380a91df0d4262" /><Relationship Type="http://schemas.openxmlformats.org/officeDocument/2006/relationships/image" Target="/ppt/media/image18.png" Id="R7cdf828410b741a2" /><Relationship Type="http://schemas.openxmlformats.org/officeDocument/2006/relationships/image" Target="/ppt/media/image19.png" Id="Re08d7e65397c4961" /><Relationship Type="http://schemas.openxmlformats.org/officeDocument/2006/relationships/image" Target="/ppt/media/image15.svg" Id="Rdd6b9252e1a14786" /><Relationship Type="http://schemas.openxmlformats.org/officeDocument/2006/relationships/image" Target="/ppt/media/image20.png" Id="Rebdf6f79d2b443bf" /><Relationship Type="http://schemas.openxmlformats.org/officeDocument/2006/relationships/image" Target="/ppt/media/image16.svg" Id="R7eac09bc4ba549b2" /><Relationship Type="http://schemas.openxmlformats.org/officeDocument/2006/relationships/image" Target="/ppt/media/image21.png" Id="Rdd9b2d142fca4ad5" /><Relationship Type="http://schemas.openxmlformats.org/officeDocument/2006/relationships/image" Target="/ppt/media/image17.svg" Id="Rf5137798c82840d9" /><Relationship Type="http://schemas.openxmlformats.org/officeDocument/2006/relationships/image" Target="/ppt/media/image22.png" Id="R132472bb516b41ea" /><Relationship Type="http://schemas.openxmlformats.org/officeDocument/2006/relationships/image" Target="/ppt/media/image18.svg" Id="Raed2c3a9540f4b8d" /><Relationship Type="http://schemas.openxmlformats.org/officeDocument/2006/relationships/image" Target="/ppt/media/image23.png" Id="Rae6da2261e004bbe" /><Relationship Type="http://schemas.openxmlformats.org/officeDocument/2006/relationships/image" Target="/ppt/media/image19.svg" Id="Rdc2f0d56bff447ec" /><Relationship Type="http://schemas.openxmlformats.org/officeDocument/2006/relationships/image" Target="/ppt/media/image24.png" Id="R7b27695264c24000" /><Relationship Type="http://schemas.openxmlformats.org/officeDocument/2006/relationships/image" Target="/ppt/media/image20.svg" Id="Rfcbd88c9f080411e" /><Relationship Type="http://schemas.openxmlformats.org/officeDocument/2006/relationships/notesSlide" Target="/ppt/notesSlides/notesSlide4.xml" Id="R4993dc7f3fb4406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1e1d34e76b549e5" /><Relationship Type="http://schemas.openxmlformats.org/officeDocument/2006/relationships/image" Target="/ppt/media/image25.png" Id="Rb4744cf40c574ce6" /><Relationship Type="http://schemas.openxmlformats.org/officeDocument/2006/relationships/image" Target="/ppt/media/image26.png" Id="R2d43e7d98f8b4f89" /><Relationship Type="http://schemas.openxmlformats.org/officeDocument/2006/relationships/image" Target="/ppt/media/image21.svg" Id="R43c0b19d85b04ccd" /><Relationship Type="http://schemas.openxmlformats.org/officeDocument/2006/relationships/image" Target="/ppt/media/image27.png" Id="Red06756f50d7434f" /><Relationship Type="http://schemas.openxmlformats.org/officeDocument/2006/relationships/image" Target="/ppt/media/image22.svg" Id="R1449d3deef3f4f0b" /><Relationship Type="http://schemas.openxmlformats.org/officeDocument/2006/relationships/image" Target="/ppt/media/image28.png" Id="R2a67f5e9faee448d" /><Relationship Type="http://schemas.openxmlformats.org/officeDocument/2006/relationships/image" Target="/ppt/media/image23.svg" Id="R551d69a16e6d418a" /><Relationship Type="http://schemas.openxmlformats.org/officeDocument/2006/relationships/image" Target="/ppt/media/image29.png" Id="Rf2d5d0414ed04356" /><Relationship Type="http://schemas.openxmlformats.org/officeDocument/2006/relationships/image" Target="/ppt/media/image24.svg" Id="Rfd8ab046464d4c4a" /><Relationship Type="http://schemas.openxmlformats.org/officeDocument/2006/relationships/image" Target="/ppt/media/image30.png" Id="Rf37adacb22b843c1" /><Relationship Type="http://schemas.openxmlformats.org/officeDocument/2006/relationships/image" Target="/ppt/media/image25.svg" Id="R343d8759d3764ebf" /><Relationship Type="http://schemas.openxmlformats.org/officeDocument/2006/relationships/image" Target="/ppt/media/image31.png" Id="Reacf0899e429467c" /><Relationship Type="http://schemas.openxmlformats.org/officeDocument/2006/relationships/image" Target="/ppt/media/image26.svg" Id="Rb97586eb19dd4033" /><Relationship Type="http://schemas.openxmlformats.org/officeDocument/2006/relationships/image" Target="/ppt/media/image32.png" Id="R3c278014e9754e0e" /><Relationship Type="http://schemas.openxmlformats.org/officeDocument/2006/relationships/image" Target="/ppt/media/image27.svg" Id="Rdabf0e86f85740dc" /><Relationship Type="http://schemas.openxmlformats.org/officeDocument/2006/relationships/image" Target="/ppt/media/image33.png" Id="Rbaa1e86a4d7a4734" /><Relationship Type="http://schemas.openxmlformats.org/officeDocument/2006/relationships/image" Target="/ppt/media/image28.svg" Id="R4ddf06e8defe44fa" /><Relationship Type="http://schemas.openxmlformats.org/officeDocument/2006/relationships/image" Target="/ppt/media/image34.png" Id="Rcaf687ddd5de4769" /><Relationship Type="http://schemas.openxmlformats.org/officeDocument/2006/relationships/image" Target="/ppt/media/image29.svg" Id="Re5c4c6a6c6734acd" /><Relationship Type="http://schemas.openxmlformats.org/officeDocument/2006/relationships/image" Target="/ppt/media/image35.png" Id="Rbf8beec25a824381" /><Relationship Type="http://schemas.openxmlformats.org/officeDocument/2006/relationships/image" Target="/ppt/media/image30.svg" Id="Rbf4728b1270e45da" /><Relationship Type="http://schemas.openxmlformats.org/officeDocument/2006/relationships/image" Target="/ppt/media/image36.png" Id="Re034df63a002486d" /><Relationship Type="http://schemas.openxmlformats.org/officeDocument/2006/relationships/image" Target="/ppt/media/image31.svg" Id="R75c08fdce1224918" /><Relationship Type="http://schemas.openxmlformats.org/officeDocument/2006/relationships/image" Target="/ppt/media/image37.png" Id="R45d13a8757744cdc" /><Relationship Type="http://schemas.openxmlformats.org/officeDocument/2006/relationships/image" Target="/ppt/media/image32.svg" Id="R16ebca4bd7294fd5" /><Relationship Type="http://schemas.openxmlformats.org/officeDocument/2006/relationships/notesSlide" Target="/ppt/notesSlides/notesSlide5.xml" Id="R8e952ce59c484a4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5cc8c13d1f44741" /><Relationship Type="http://schemas.openxmlformats.org/officeDocument/2006/relationships/image" Target="/ppt/media/image38.png" Id="Rdba7f1fcb2ea451b" /><Relationship Type="http://schemas.openxmlformats.org/officeDocument/2006/relationships/notesSlide" Target="/ppt/notesSlides/notesSlide6.xml" Id="R8c865c81121d48a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be9f3063330490f" /><Relationship Type="http://schemas.openxmlformats.org/officeDocument/2006/relationships/image" Target="/ppt/media/image39.png" Id="Rc9d04b3cf2854c9f" /><Relationship Type="http://schemas.openxmlformats.org/officeDocument/2006/relationships/image" Target="/ppt/media/image40.png" Id="R3a23afdcf5de4a9d" /><Relationship Type="http://schemas.openxmlformats.org/officeDocument/2006/relationships/image" Target="/ppt/media/image33.svg" Id="R33128fb12a564076" /><Relationship Type="http://schemas.openxmlformats.org/officeDocument/2006/relationships/image" Target="/ppt/media/image41.png" Id="R6028f5cdf7074495" /><Relationship Type="http://schemas.openxmlformats.org/officeDocument/2006/relationships/image" Target="/ppt/media/image34.svg" Id="R446f7679340d444b" /><Relationship Type="http://schemas.openxmlformats.org/officeDocument/2006/relationships/image" Target="/ppt/media/image42.png" Id="R3d7f3132cc054a56" /><Relationship Type="http://schemas.openxmlformats.org/officeDocument/2006/relationships/image" Target="/ppt/media/image35.svg" Id="R8bb3e06abf52407e" /><Relationship Type="http://schemas.openxmlformats.org/officeDocument/2006/relationships/image" Target="/ppt/media/image43.png" Id="Ra86c3a97550a4539" /><Relationship Type="http://schemas.openxmlformats.org/officeDocument/2006/relationships/image" Target="/ppt/media/image36.svg" Id="R3ae352b79cb0496f" /><Relationship Type="http://schemas.openxmlformats.org/officeDocument/2006/relationships/image" Target="/ppt/media/image44.png" Id="R9e77c03566c242e8" /><Relationship Type="http://schemas.openxmlformats.org/officeDocument/2006/relationships/image" Target="/ppt/media/image37.svg" Id="Rd4fe35ddd44d45c5" /><Relationship Type="http://schemas.openxmlformats.org/officeDocument/2006/relationships/image" Target="/ppt/media/image45.png" Id="R7bbf2c6749054aa5" /><Relationship Type="http://schemas.openxmlformats.org/officeDocument/2006/relationships/image" Target="/ppt/media/image38.svg" Id="R4934adcbecfe44e5" /><Relationship Type="http://schemas.openxmlformats.org/officeDocument/2006/relationships/notesSlide" Target="/ppt/notesSlides/notesSlide7.xml" Id="R960f89a703a347e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e8144d6f3f14d71" /><Relationship Type="http://schemas.openxmlformats.org/officeDocument/2006/relationships/image" Target="/ppt/media/image46.png" Id="Rc3b8f48fa08e43e8" /><Relationship Type="http://schemas.openxmlformats.org/officeDocument/2006/relationships/image" Target="/ppt/media/image47.png" Id="R575baa411c1d427f" /><Relationship Type="http://schemas.openxmlformats.org/officeDocument/2006/relationships/image" Target="/ppt/media/image39.svg" Id="Rd573be44b7de4499" /><Relationship Type="http://schemas.openxmlformats.org/officeDocument/2006/relationships/image" Target="/ppt/media/image48.png" Id="R66ce832159d647ab" /><Relationship Type="http://schemas.openxmlformats.org/officeDocument/2006/relationships/image" Target="/ppt/media/image40.svg" Id="R3f534b4d70fa45c3" /><Relationship Type="http://schemas.openxmlformats.org/officeDocument/2006/relationships/image" Target="/ppt/media/image49.png" Id="Rc44557340e7c4883" /><Relationship Type="http://schemas.openxmlformats.org/officeDocument/2006/relationships/image" Target="/ppt/media/image41.svg" Id="Rcdd9f6079afc4dee" /><Relationship Type="http://schemas.openxmlformats.org/officeDocument/2006/relationships/image" Target="/ppt/media/image50.png" Id="Rfc3c7f550e1f4251" /><Relationship Type="http://schemas.openxmlformats.org/officeDocument/2006/relationships/image" Target="/ppt/media/image42.svg" Id="Rb13400096d864da6" /><Relationship Type="http://schemas.openxmlformats.org/officeDocument/2006/relationships/image" Target="/ppt/media/image51.png" Id="Re56730030f7942db" /><Relationship Type="http://schemas.openxmlformats.org/officeDocument/2006/relationships/image" Target="/ppt/media/image43.svg" Id="Rfb61d7335a6f44f2" /><Relationship Type="http://schemas.openxmlformats.org/officeDocument/2006/relationships/image" Target="/ppt/media/image52.png" Id="R39d2fab8b487466b" /><Relationship Type="http://schemas.openxmlformats.org/officeDocument/2006/relationships/image" Target="/ppt/media/image44.svg" Id="Rfe01e538aa864998" /><Relationship Type="http://schemas.openxmlformats.org/officeDocument/2006/relationships/image" Target="/ppt/media/image53.png" Id="Rea3adcc36c984332" /><Relationship Type="http://schemas.openxmlformats.org/officeDocument/2006/relationships/image" Target="/ppt/media/image45.svg" Id="R78a35c677bde436f" /><Relationship Type="http://schemas.openxmlformats.org/officeDocument/2006/relationships/image" Target="/ppt/media/image54.png" Id="R9ca78def53ba4798" /><Relationship Type="http://schemas.openxmlformats.org/officeDocument/2006/relationships/image" Target="/ppt/media/image46.svg" Id="R1cdbcd3e1de842c7" /><Relationship Type="http://schemas.openxmlformats.org/officeDocument/2006/relationships/notesSlide" Target="/ppt/notesSlides/notesSlide8.xml" Id="R6ec9d8a099854d5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e4f7a9c0a3d43da" /><Relationship Type="http://schemas.openxmlformats.org/officeDocument/2006/relationships/image" Target="/ppt/media/image55.png" Id="Re95c60a31d724a48" /><Relationship Type="http://schemas.openxmlformats.org/officeDocument/2006/relationships/image" Target="/ppt/media/image56.png" Id="R1606e8d9c3ee4d61" /><Relationship Type="http://schemas.openxmlformats.org/officeDocument/2006/relationships/image" Target="/ppt/media/image47.svg" Id="Rbad6faf1f553445b" /><Relationship Type="http://schemas.openxmlformats.org/officeDocument/2006/relationships/image" Target="/ppt/media/image57.png" Id="Rf0c8ab558341486f" /><Relationship Type="http://schemas.openxmlformats.org/officeDocument/2006/relationships/image" Target="/ppt/media/image48.svg" Id="R871018b5dc1b4f7a" /><Relationship Type="http://schemas.openxmlformats.org/officeDocument/2006/relationships/image" Target="/ppt/media/image58.png" Id="R15f402e60d244db9" /><Relationship Type="http://schemas.openxmlformats.org/officeDocument/2006/relationships/image" Target="/ppt/media/image49.svg" Id="R1c0f190044e9408b" /><Relationship Type="http://schemas.openxmlformats.org/officeDocument/2006/relationships/image" Target="/ppt/media/image59.png" Id="R4ec9f824f4174c5a" /><Relationship Type="http://schemas.openxmlformats.org/officeDocument/2006/relationships/image" Target="/ppt/media/image50.svg" Id="R62e7f926c5774341" /><Relationship Type="http://schemas.openxmlformats.org/officeDocument/2006/relationships/image" Target="/ppt/media/image60.png" Id="R55a3c4490634435f" /><Relationship Type="http://schemas.openxmlformats.org/officeDocument/2006/relationships/image" Target="/ppt/media/image51.svg" Id="Ra85532019fad4750" /><Relationship Type="http://schemas.openxmlformats.org/officeDocument/2006/relationships/image" Target="/ppt/media/image61.png" Id="R8af9c2986c4b4ec9" /><Relationship Type="http://schemas.openxmlformats.org/officeDocument/2006/relationships/image" Target="/ppt/media/image52.svg" Id="Rf94476b064884f0d" /><Relationship Type="http://schemas.openxmlformats.org/officeDocument/2006/relationships/image" Target="/ppt/media/image62.png" Id="Rbf25df853b2b4bb4" /><Relationship Type="http://schemas.openxmlformats.org/officeDocument/2006/relationships/image" Target="/ppt/media/image53.svg" Id="Rdd518e0c25974d76" /><Relationship Type="http://schemas.openxmlformats.org/officeDocument/2006/relationships/image" Target="/ppt/media/image63.png" Id="R64d46d9a804b4df1" /><Relationship Type="http://schemas.openxmlformats.org/officeDocument/2006/relationships/image" Target="/ppt/media/image54.svg" Id="R27e48f3c9f8d49ba" /><Relationship Type="http://schemas.openxmlformats.org/officeDocument/2006/relationships/notesSlide" Target="/ppt/notesSlides/notesSlide9.xml" Id="R25b01a14ea704f1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2f226833d35498d" /><Relationship Type="http://schemas.openxmlformats.org/officeDocument/2006/relationships/image" Target="/ppt/media/image64.png" Id="R7243cd7b9dbb4bde" /><Relationship Type="http://schemas.openxmlformats.org/officeDocument/2006/relationships/image" Target="/ppt/media/image65.png" Id="R0c25ef9b30a04e14" /><Relationship Type="http://schemas.openxmlformats.org/officeDocument/2006/relationships/image" Target="/ppt/media/image55.svg" Id="R6356770fd3c34853" /><Relationship Type="http://schemas.openxmlformats.org/officeDocument/2006/relationships/image" Target="/ppt/media/image66.png" Id="R936ec353bb1a4d8a" /><Relationship Type="http://schemas.openxmlformats.org/officeDocument/2006/relationships/image" Target="/ppt/media/image56.svg" Id="R4cb412499b0e4404" /><Relationship Type="http://schemas.openxmlformats.org/officeDocument/2006/relationships/image" Target="/ppt/media/image67.png" Id="R8ad6e29bc669471a" /><Relationship Type="http://schemas.openxmlformats.org/officeDocument/2006/relationships/image" Target="/ppt/media/image57.svg" Id="Rd16759ff7fdc47eb" /><Relationship Type="http://schemas.openxmlformats.org/officeDocument/2006/relationships/image" Target="/ppt/media/image68.png" Id="R060db81e5d7349ef" /><Relationship Type="http://schemas.openxmlformats.org/officeDocument/2006/relationships/image" Target="/ppt/media/image58.svg" Id="R29833e28f1a94ee6" /><Relationship Type="http://schemas.openxmlformats.org/officeDocument/2006/relationships/image" Target="/ppt/media/image69.png" Id="Reda402e719fa4075" /><Relationship Type="http://schemas.openxmlformats.org/officeDocument/2006/relationships/image" Target="/ppt/media/image59.svg" Id="Re77d2d2c66974511" /><Relationship Type="http://schemas.openxmlformats.org/officeDocument/2006/relationships/image" Target="/ppt/media/image70.png" Id="R2092dc532c36472a" /><Relationship Type="http://schemas.openxmlformats.org/officeDocument/2006/relationships/image" Target="/ppt/media/image60.svg" Id="R0f89850120624896" /><Relationship Type="http://schemas.openxmlformats.org/officeDocument/2006/relationships/image" Target="/ppt/media/image71.png" Id="R528fdd6bb96a49a0" /><Relationship Type="http://schemas.openxmlformats.org/officeDocument/2006/relationships/image" Target="/ppt/media/image61.svg" Id="R5ecdf275d0bb4ba2" /><Relationship Type="http://schemas.openxmlformats.org/officeDocument/2006/relationships/notesSlide" Target="/ppt/notesSlides/notesSlide10.xml" Id="R5abf5c9d28b2476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e4a113ef7ff4ae8" /><Relationship Type="http://schemas.openxmlformats.org/officeDocument/2006/relationships/image" Target="/ppt/media/image72.png" Id="R96bd197d352f48bb" /><Relationship Type="http://schemas.openxmlformats.org/officeDocument/2006/relationships/image" Target="/ppt/media/image73.png" Id="R59b33961579243ba" /><Relationship Type="http://schemas.openxmlformats.org/officeDocument/2006/relationships/image" Target="/ppt/media/image62.svg" Id="Rbc914baa0a2542ea" /><Relationship Type="http://schemas.openxmlformats.org/officeDocument/2006/relationships/image" Target="/ppt/media/image74.png" Id="Rb7eef68d6ff74de9" /><Relationship Type="http://schemas.openxmlformats.org/officeDocument/2006/relationships/image" Target="/ppt/media/image63.svg" Id="Ra18344501fe6420f" /><Relationship Type="http://schemas.openxmlformats.org/officeDocument/2006/relationships/image" Target="/ppt/media/image75.png" Id="R35dbf37ef1fc4a8c" /><Relationship Type="http://schemas.openxmlformats.org/officeDocument/2006/relationships/image" Target="/ppt/media/image64.svg" Id="R369cf75ec5754417" /><Relationship Type="http://schemas.openxmlformats.org/officeDocument/2006/relationships/image" Target="/ppt/media/image76.png" Id="R961189d721ed49b6" /><Relationship Type="http://schemas.openxmlformats.org/officeDocument/2006/relationships/image" Target="/ppt/media/image65.svg" Id="Rc9578d1bf6374cb2" /><Relationship Type="http://schemas.openxmlformats.org/officeDocument/2006/relationships/image" Target="/ppt/media/image77.png" Id="Rd018169bea1a4b39" /><Relationship Type="http://schemas.openxmlformats.org/officeDocument/2006/relationships/image" Target="/ppt/media/image66.svg" Id="Rc354e06419444c10" /><Relationship Type="http://schemas.openxmlformats.org/officeDocument/2006/relationships/image" Target="/ppt/media/image78.png" Id="Rc379877a78174659" /><Relationship Type="http://schemas.openxmlformats.org/officeDocument/2006/relationships/image" Target="/ppt/media/image67.svg" Id="R334bc82ee8394a7f" /><Relationship Type="http://schemas.openxmlformats.org/officeDocument/2006/relationships/image" Target="/ppt/media/image79.png" Id="R43928db4b71a428e" /><Relationship Type="http://schemas.openxmlformats.org/officeDocument/2006/relationships/image" Target="/ppt/media/image68.svg" Id="R8a2bc728452d4e8d" /><Relationship Type="http://schemas.openxmlformats.org/officeDocument/2006/relationships/image" Target="/ppt/media/image80.png" Id="R79bee40c61254776" /><Relationship Type="http://schemas.openxmlformats.org/officeDocument/2006/relationships/image" Target="/ppt/media/image69.svg" Id="R05266baf866c4404" /><Relationship Type="http://schemas.openxmlformats.org/officeDocument/2006/relationships/image" Target="/ppt/media/image81.png" Id="R996627c0066740d4" /><Relationship Type="http://schemas.openxmlformats.org/officeDocument/2006/relationships/image" Target="/ppt/media/image70.svg" Id="R885115e537fb4c4f" /><Relationship Type="http://schemas.openxmlformats.org/officeDocument/2006/relationships/image" Target="/ppt/media/image82.png" Id="R65e434f799be4e1b" /><Relationship Type="http://schemas.openxmlformats.org/officeDocument/2006/relationships/image" Target="/ppt/media/image71.svg" Id="R0bd03f7e3d164272" /><Relationship Type="http://schemas.openxmlformats.org/officeDocument/2006/relationships/notesSlide" Target="/ppt/notesSlides/notesSlide11.xml" Id="Ra390c8c11b51446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cde5169b048425c" /><Relationship Type="http://schemas.openxmlformats.org/officeDocument/2006/relationships/image" Target="/ppt/media/image83.png" Id="R003fe3d7587b46a8" /><Relationship Type="http://schemas.openxmlformats.org/officeDocument/2006/relationships/image" Target="/ppt/media/image84.png" Id="R737e60e92b18400b" /><Relationship Type="http://schemas.openxmlformats.org/officeDocument/2006/relationships/image" Target="/ppt/media/image72.svg" Id="Rf2ed1204cc454dc9" /><Relationship Type="http://schemas.openxmlformats.org/officeDocument/2006/relationships/image" Target="/ppt/media/image85.png" Id="Rb6d9d7c9cae3486e" /><Relationship Type="http://schemas.openxmlformats.org/officeDocument/2006/relationships/image" Target="/ppt/media/image73.svg" Id="Rab9bd302110f494e" /><Relationship Type="http://schemas.openxmlformats.org/officeDocument/2006/relationships/image" Target="/ppt/media/image86.png" Id="Rc31f6552c9b94078" /><Relationship Type="http://schemas.openxmlformats.org/officeDocument/2006/relationships/image" Target="/ppt/media/image74.svg" Id="R8b73d97497e541fc" /><Relationship Type="http://schemas.openxmlformats.org/officeDocument/2006/relationships/image" Target="/ppt/media/image87.png" Id="R8df67d9f608d4a56" /><Relationship Type="http://schemas.openxmlformats.org/officeDocument/2006/relationships/image" Target="/ppt/media/image75.svg" Id="R65d6c053ca4f41ce" /><Relationship Type="http://schemas.openxmlformats.org/officeDocument/2006/relationships/notesSlide" Target="/ppt/notesSlides/notesSlide12.xml" Id="R20a7ef3783db4fc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a9982242a1b4e2e" /><Relationship Type="http://schemas.openxmlformats.org/officeDocument/2006/relationships/image" Target="/ppt/media/image88.png" Id="R13f919a5f0b644d1" /><Relationship Type="http://schemas.openxmlformats.org/officeDocument/2006/relationships/image" Target="/ppt/media/image89.png" Id="Re0ad9cf1c0494e88" /><Relationship Type="http://schemas.openxmlformats.org/officeDocument/2006/relationships/notesSlide" Target="/ppt/notesSlides/notesSlide13.xml" Id="R7e09b40e189f427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8e3de4849ff4d06" /><Relationship Type="http://schemas.openxmlformats.org/officeDocument/2006/relationships/image" Target="/ppt/media/image90.png" Id="R58560109efb145fc" /><Relationship Type="http://schemas.openxmlformats.org/officeDocument/2006/relationships/image" Target="/ppt/media/image91.png" Id="R211e2c432712491d" /><Relationship Type="http://schemas.openxmlformats.org/officeDocument/2006/relationships/image" Target="/ppt/media/image76.svg" Id="R9163776b5bd64687" /><Relationship Type="http://schemas.openxmlformats.org/officeDocument/2006/relationships/image" Target="/ppt/media/image92.png" Id="R351278d872fd4e09" /><Relationship Type="http://schemas.openxmlformats.org/officeDocument/2006/relationships/image" Target="/ppt/media/image77.svg" Id="R207f653686a148c3" /><Relationship Type="http://schemas.openxmlformats.org/officeDocument/2006/relationships/image" Target="/ppt/media/image93.png" Id="R1aba932d3f354bef" /><Relationship Type="http://schemas.openxmlformats.org/officeDocument/2006/relationships/image" Target="/ppt/media/image78.svg" Id="R93e55e7c74dc4840" /><Relationship Type="http://schemas.openxmlformats.org/officeDocument/2006/relationships/image" Target="/ppt/media/image94.png" Id="R32e93d86487442f8" /><Relationship Type="http://schemas.openxmlformats.org/officeDocument/2006/relationships/image" Target="/ppt/media/image79.svg" Id="R4197d10ad1f641f1" /><Relationship Type="http://schemas.openxmlformats.org/officeDocument/2006/relationships/image" Target="/ppt/media/image95.png" Id="Rce2947e4e21d4a36" /><Relationship Type="http://schemas.openxmlformats.org/officeDocument/2006/relationships/image" Target="/ppt/media/image80.svg" Id="R8d90e150b87f4173" /><Relationship Type="http://schemas.openxmlformats.org/officeDocument/2006/relationships/image" Target="/ppt/media/image96.png" Id="R7f7eb1d69ea54102" /><Relationship Type="http://schemas.openxmlformats.org/officeDocument/2006/relationships/image" Target="/ppt/media/image81.svg" Id="Rbc5dcb69ffe24616" /><Relationship Type="http://schemas.openxmlformats.org/officeDocument/2006/relationships/notesSlide" Target="/ppt/notesSlides/notesSlide14.xml" Id="R9db2ba21c66944c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4d74dc14e80404e" /><Relationship Type="http://schemas.openxmlformats.org/officeDocument/2006/relationships/image" Target="/ppt/media/image97.png" Id="Rd0de0a17565e41d6" /><Relationship Type="http://schemas.openxmlformats.org/officeDocument/2006/relationships/image" Target="/ppt/media/image98.png" Id="R8dc058e37da34ef8" /><Relationship Type="http://schemas.openxmlformats.org/officeDocument/2006/relationships/image" Target="/ppt/media/image82.svg" Id="R7f0d9d70d9594fe3" /><Relationship Type="http://schemas.openxmlformats.org/officeDocument/2006/relationships/image" Target="/ppt/media/image99.png" Id="R0a8f03176a184f08" /><Relationship Type="http://schemas.openxmlformats.org/officeDocument/2006/relationships/image" Target="/ppt/media/image83.svg" Id="R06997e16dee8470e" /><Relationship Type="http://schemas.openxmlformats.org/officeDocument/2006/relationships/image" Target="/ppt/media/image100.png" Id="R998fecc6c6ef4145" /><Relationship Type="http://schemas.openxmlformats.org/officeDocument/2006/relationships/image" Target="/ppt/media/image84.svg" Id="Rc61fe334bb454cf5" /><Relationship Type="http://schemas.openxmlformats.org/officeDocument/2006/relationships/image" Target="/ppt/media/image101.png" Id="R414ed83a9f3248af" /><Relationship Type="http://schemas.openxmlformats.org/officeDocument/2006/relationships/image" Target="/ppt/media/image85.svg" Id="R4d01460692274794" /><Relationship Type="http://schemas.openxmlformats.org/officeDocument/2006/relationships/notesSlide" Target="/ppt/notesSlides/notesSlide15.xml" Id="R0b2c0db6202a4db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ca2ad6b18994274" /><Relationship Type="http://schemas.openxmlformats.org/officeDocument/2006/relationships/image" Target="/ppt/media/image102.png" Id="Rd63a8d07f5ba440f" /><Relationship Type="http://schemas.openxmlformats.org/officeDocument/2006/relationships/notesSlide" Target="/ppt/notesSlides/notesSlide16.xml" Id="Rc1c5b673aa504c9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bc1cb0dafdb45cc" /><Relationship Type="http://schemas.openxmlformats.org/officeDocument/2006/relationships/image" Target="/ppt/media/image103.png" Id="Ra5183883ba174b07" /><Relationship Type="http://schemas.openxmlformats.org/officeDocument/2006/relationships/image" Target="/ppt/media/image104.png" Id="R5efcc4187c214ef4" /><Relationship Type="http://schemas.openxmlformats.org/officeDocument/2006/relationships/image" Target="/ppt/media/image86.svg" Id="R72b700c4ade644b3" /><Relationship Type="http://schemas.openxmlformats.org/officeDocument/2006/relationships/image" Target="/ppt/media/image105.png" Id="R6193b12bc4be4f71" /><Relationship Type="http://schemas.openxmlformats.org/officeDocument/2006/relationships/image" Target="/ppt/media/image87.svg" Id="R3dcc0d4829214099" /><Relationship Type="http://schemas.openxmlformats.org/officeDocument/2006/relationships/image" Target="/ppt/media/image106.png" Id="Rac97fe3ae2ff4d00" /><Relationship Type="http://schemas.openxmlformats.org/officeDocument/2006/relationships/image" Target="/ppt/media/image88.svg" Id="Rdb4c4aa0ab37433e" /><Relationship Type="http://schemas.openxmlformats.org/officeDocument/2006/relationships/image" Target="/ppt/media/image107.png" Id="R450dc5231e1742d8" /><Relationship Type="http://schemas.openxmlformats.org/officeDocument/2006/relationships/image" Target="/ppt/media/image89.svg" Id="R944b6ecc1ab442fe" /><Relationship Type="http://schemas.openxmlformats.org/officeDocument/2006/relationships/image" Target="/ppt/media/image108.png" Id="Rca738768a24f4f01" /><Relationship Type="http://schemas.openxmlformats.org/officeDocument/2006/relationships/image" Target="/ppt/media/image90.svg" Id="R78a7e6cfb12746b0" /><Relationship Type="http://schemas.openxmlformats.org/officeDocument/2006/relationships/image" Target="/ppt/media/image109.png" Id="R6725e7f1271f401d" /><Relationship Type="http://schemas.openxmlformats.org/officeDocument/2006/relationships/image" Target="/ppt/media/image91.svg" Id="R398bbf3a2c78488a" /><Relationship Type="http://schemas.openxmlformats.org/officeDocument/2006/relationships/notesSlide" Target="/ppt/notesSlides/notesSlide17.xml" Id="R56cb42a0149c46c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c6bdadf30b9496a" /><Relationship Type="http://schemas.openxmlformats.org/officeDocument/2006/relationships/image" Target="/ppt/media/image110.png" Id="R02002b1ce4474f82" /><Relationship Type="http://schemas.openxmlformats.org/officeDocument/2006/relationships/image" Target="/ppt/media/image111.png" Id="R40b4f64672864a4e" /><Relationship Type="http://schemas.openxmlformats.org/officeDocument/2006/relationships/image" Target="/ppt/media/image92.svg" Id="R7ff1147a39b74291" /><Relationship Type="http://schemas.openxmlformats.org/officeDocument/2006/relationships/image" Target="/ppt/media/image112.png" Id="R542f62c6590a4c01" /><Relationship Type="http://schemas.openxmlformats.org/officeDocument/2006/relationships/image" Target="/ppt/media/image93.svg" Id="Rd5a79eef11694eed" /><Relationship Type="http://schemas.openxmlformats.org/officeDocument/2006/relationships/image" Target="/ppt/media/image113.png" Id="Rfdf79840ce844f25" /><Relationship Type="http://schemas.openxmlformats.org/officeDocument/2006/relationships/image" Target="/ppt/media/image94.svg" Id="Rcf313a7c615e4755" /><Relationship Type="http://schemas.openxmlformats.org/officeDocument/2006/relationships/image" Target="/ppt/media/image114.png" Id="Reaea23914f3b42ae" /><Relationship Type="http://schemas.openxmlformats.org/officeDocument/2006/relationships/image" Target="/ppt/media/image95.svg" Id="Rdb571c3c0ece4c78" /><Relationship Type="http://schemas.openxmlformats.org/officeDocument/2006/relationships/image" Target="/ppt/media/image115.png" Id="R5c9d6b5a9e5f4514" /><Relationship Type="http://schemas.openxmlformats.org/officeDocument/2006/relationships/image" Target="/ppt/media/image96.svg" Id="Rc8d548fe034842d8" /><Relationship Type="http://schemas.openxmlformats.org/officeDocument/2006/relationships/image" Target="/ppt/media/image116.png" Id="R46383b9d65134768" /><Relationship Type="http://schemas.openxmlformats.org/officeDocument/2006/relationships/image" Target="/ppt/media/image97.svg" Id="Rfd37f469da1942a8" /><Relationship Type="http://schemas.openxmlformats.org/officeDocument/2006/relationships/image" Target="/ppt/media/image117.png" Id="R1361efe5ea4947a9" /><Relationship Type="http://schemas.openxmlformats.org/officeDocument/2006/relationships/image" Target="/ppt/media/image98.svg" Id="R8e01318cf2454249" /><Relationship Type="http://schemas.openxmlformats.org/officeDocument/2006/relationships/image" Target="/ppt/media/image118.png" Id="R4c32843e65c34ffd" /><Relationship Type="http://schemas.openxmlformats.org/officeDocument/2006/relationships/image" Target="/ppt/media/image99.svg" Id="Rcc5e60543bf34bb9" /><Relationship Type="http://schemas.openxmlformats.org/officeDocument/2006/relationships/image" Target="/ppt/media/image119.png" Id="R0313cfc25fb84556" /><Relationship Type="http://schemas.openxmlformats.org/officeDocument/2006/relationships/image" Target="/ppt/media/image100.svg" Id="R543d4a8a299e4eb6" /><Relationship Type="http://schemas.openxmlformats.org/officeDocument/2006/relationships/image" Target="/ppt/media/image120.png" Id="R24a31f7a015d49bb" /><Relationship Type="http://schemas.openxmlformats.org/officeDocument/2006/relationships/image" Target="/ppt/media/image101.svg" Id="R6875da323f234e66" /><Relationship Type="http://schemas.openxmlformats.org/officeDocument/2006/relationships/image" Target="/ppt/media/image121.png" Id="R85b741146bc744a2" /><Relationship Type="http://schemas.openxmlformats.org/officeDocument/2006/relationships/image" Target="/ppt/media/image102.svg" Id="R67fe736e0f494709" /><Relationship Type="http://schemas.openxmlformats.org/officeDocument/2006/relationships/image" Target="/ppt/media/image122.png" Id="R46dc9a7000334e9f" /><Relationship Type="http://schemas.openxmlformats.org/officeDocument/2006/relationships/image" Target="/ppt/media/image103.svg" Id="Rda1a405b119d4bcf" /><Relationship Type="http://schemas.openxmlformats.org/officeDocument/2006/relationships/image" Target="/ppt/media/image123.png" Id="Rb67ea31f6f324564" /><Relationship Type="http://schemas.openxmlformats.org/officeDocument/2006/relationships/image" Target="/ppt/media/image104.svg" Id="R969b4eebe84649bc" /><Relationship Type="http://schemas.openxmlformats.org/officeDocument/2006/relationships/image" Target="/ppt/media/image124.png" Id="R260d83f53f5e421f" /><Relationship Type="http://schemas.openxmlformats.org/officeDocument/2006/relationships/image" Target="/ppt/media/image105.svg" Id="Rbcf6ab5e54fa4961" /><Relationship Type="http://schemas.openxmlformats.org/officeDocument/2006/relationships/notesSlide" Target="/ppt/notesSlides/notesSlide18.xml" Id="R3b04ac151c9d4254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7887bcd3a4440c6" /><Relationship Type="http://schemas.openxmlformats.org/officeDocument/2006/relationships/image" Target="/ppt/media/image125.png" Id="R9769b0c62a494cf0" /><Relationship Type="http://schemas.openxmlformats.org/officeDocument/2006/relationships/notesSlide" Target="/ppt/notesSlides/notesSlide19.xml" Id="Ra35136d392d948c7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9f390ac54584906" /><Relationship Type="http://schemas.openxmlformats.org/officeDocument/2006/relationships/image" Target="/ppt/media/image126.png" Id="R17eecc437aba4b26" /><Relationship Type="http://schemas.openxmlformats.org/officeDocument/2006/relationships/image" Target="/ppt/media/image127.png" Id="R6fa4a6d7442d4c29" /><Relationship Type="http://schemas.openxmlformats.org/officeDocument/2006/relationships/image" Target="/ppt/media/image106.svg" Id="R6862858a96ef43aa" /><Relationship Type="http://schemas.openxmlformats.org/officeDocument/2006/relationships/image" Target="/ppt/media/image128.png" Id="R58b543cfde5f491d" /><Relationship Type="http://schemas.openxmlformats.org/officeDocument/2006/relationships/image" Target="/ppt/media/image107.svg" Id="R8d2878b7e45e450b" /><Relationship Type="http://schemas.openxmlformats.org/officeDocument/2006/relationships/image" Target="/ppt/media/image129.png" Id="R90f022ee8b5041b6" /><Relationship Type="http://schemas.openxmlformats.org/officeDocument/2006/relationships/image" Target="/ppt/media/image108.svg" Id="R94b88eb6775a45da" /><Relationship Type="http://schemas.openxmlformats.org/officeDocument/2006/relationships/notesSlide" Target="/ppt/notesSlides/notesSlide20.xml" Id="Rab3129bc2be74636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ff7ffde0a60422b" /><Relationship Type="http://schemas.openxmlformats.org/officeDocument/2006/relationships/image" Target="/ppt/media/image130.png" Id="R50e84ef06111420f" /><Relationship Type="http://schemas.openxmlformats.org/officeDocument/2006/relationships/image" Target="/ppt/media/image131.png" Id="R0e9d7cc12b674c6d" /><Relationship Type="http://schemas.openxmlformats.org/officeDocument/2006/relationships/image" Target="/ppt/media/image109.svg" Id="Rcb4995aa1a79484c" /><Relationship Type="http://schemas.openxmlformats.org/officeDocument/2006/relationships/image" Target="/ppt/media/image132.png" Id="R9151c913fdf24f22" /><Relationship Type="http://schemas.openxmlformats.org/officeDocument/2006/relationships/image" Target="/ppt/media/image110.svg" Id="R116361a29060413e" /><Relationship Type="http://schemas.openxmlformats.org/officeDocument/2006/relationships/image" Target="/ppt/media/image133.png" Id="Rf5a5fb50fcf341f6" /><Relationship Type="http://schemas.openxmlformats.org/officeDocument/2006/relationships/image" Target="/ppt/media/image111.svg" Id="R9b01ea23ecf846b5" /><Relationship Type="http://schemas.openxmlformats.org/officeDocument/2006/relationships/image" Target="/ppt/media/image134.png" Id="R95a9fc6307994f8a" /><Relationship Type="http://schemas.openxmlformats.org/officeDocument/2006/relationships/image" Target="/ppt/media/image112.svg" Id="Rf38865b36cb9458f" /><Relationship Type="http://schemas.openxmlformats.org/officeDocument/2006/relationships/image" Target="/ppt/media/image135.png" Id="R109ffb7235e54b98" /><Relationship Type="http://schemas.openxmlformats.org/officeDocument/2006/relationships/image" Target="/ppt/media/image113.svg" Id="R243bb638fb014df5" /><Relationship Type="http://schemas.openxmlformats.org/officeDocument/2006/relationships/image" Target="/ppt/media/image136.png" Id="R00da0a8c778c40d5" /><Relationship Type="http://schemas.openxmlformats.org/officeDocument/2006/relationships/image" Target="/ppt/media/image114.svg" Id="R001c1a6683324b88" /><Relationship Type="http://schemas.openxmlformats.org/officeDocument/2006/relationships/notesSlide" Target="/ppt/notesSlides/notesSlide21.xml" Id="Rb210ac826a224485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53367aba9894447" /><Relationship Type="http://schemas.openxmlformats.org/officeDocument/2006/relationships/image" Target="/ppt/media/image137.png" Id="Rb3aff8d85e9a40fb" /><Relationship Type="http://schemas.openxmlformats.org/officeDocument/2006/relationships/notesSlide" Target="/ppt/notesSlides/notesSlide22.xml" Id="R8dd60fbd87d2462a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d9475edd254abd" /><Relationship Type="http://schemas.openxmlformats.org/officeDocument/2006/relationships/image" Target="/ppt/media/image138.png" Id="R5c5d7a1832054cfb" /><Relationship Type="http://schemas.openxmlformats.org/officeDocument/2006/relationships/image" Target="/ppt/media/image139.png" Id="R3e89fa4c60384490" /><Relationship Type="http://schemas.openxmlformats.org/officeDocument/2006/relationships/image" Target="/ppt/media/image115.svg" Id="R1e894763448044ad" /><Relationship Type="http://schemas.openxmlformats.org/officeDocument/2006/relationships/image" Target="/ppt/media/image140.png" Id="R417a1faa9f374365" /><Relationship Type="http://schemas.openxmlformats.org/officeDocument/2006/relationships/image" Target="/ppt/media/image116.svg" Id="Rc9ddc748ec6e49ef" /><Relationship Type="http://schemas.openxmlformats.org/officeDocument/2006/relationships/image" Target="/ppt/media/image141.png" Id="R7e3391629bec4137" /><Relationship Type="http://schemas.openxmlformats.org/officeDocument/2006/relationships/image" Target="/ppt/media/image117.svg" Id="Rf723746fc1474355" /><Relationship Type="http://schemas.openxmlformats.org/officeDocument/2006/relationships/image" Target="/ppt/media/image142.png" Id="Reedea1208c034164" /><Relationship Type="http://schemas.openxmlformats.org/officeDocument/2006/relationships/image" Target="/ppt/media/image118.svg" Id="Rde92f33b943f4605" /><Relationship Type="http://schemas.openxmlformats.org/officeDocument/2006/relationships/notesSlide" Target="/ppt/notesSlides/notesSlide23.xml" Id="Rf478aa07df9c4bfd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117b840f0142f7" /><Relationship Type="http://schemas.openxmlformats.org/officeDocument/2006/relationships/image" Target="/ppt/media/image143.png" Id="Rda70f93b1b504d94" /><Relationship Type="http://schemas.openxmlformats.org/officeDocument/2006/relationships/image" Target="/ppt/media/image144.png" Id="R7aadaee1dc63414b" /><Relationship Type="http://schemas.openxmlformats.org/officeDocument/2006/relationships/notesSlide" Target="/ppt/notesSlides/notesSlide24.xml" Id="R0a5e4b1c1b7a4d9c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f4923f51b54da2" /><Relationship Type="http://schemas.openxmlformats.org/officeDocument/2006/relationships/image" Target="/ppt/media/image145.png" Id="R989ffc0a031641bc" /><Relationship Type="http://schemas.openxmlformats.org/officeDocument/2006/relationships/notesSlide" Target="/ppt/notesSlides/notesSlide25.xml" Id="Re14dd1c7651b4661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87a93c616a4236" /><Relationship Type="http://schemas.openxmlformats.org/officeDocument/2006/relationships/image" Target="/ppt/media/image146.png" Id="R7b4c06c014e74b85" /><Relationship Type="http://schemas.openxmlformats.org/officeDocument/2006/relationships/notesSlide" Target="/ppt/notesSlides/notesSlide26.xml" Id="R2f79e86946d44334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e2e56355c94657" /><Relationship Type="http://schemas.openxmlformats.org/officeDocument/2006/relationships/image" Target="/ppt/media/image147.png" Id="Rc46f09c548f746db" /><Relationship Type="http://schemas.openxmlformats.org/officeDocument/2006/relationships/notesSlide" Target="/ppt/notesSlides/notesSlide27.xml" Id="R3da124a418dd44e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E24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47E52DFF-F976-41BB-A7D7-8DE2C7FD2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1080" y="73152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6A">
              <a:alpha val="78000"/>
            </a:srgbClr>
          </a:solidFill>
          <a:ln xmlns:a="http://schemas.openxmlformats.org/drawingml/2006/main" w="12700">
            <a:solidFill>
              <a:srgbClr val="2F6F6A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9085E773-D83D-4F20-BAB6-65E49464C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657600"/>
            <a:ext cx="2697480" cy="26974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8A2A">
              <a:alpha val="88000"/>
            </a:srgbClr>
          </a:solidFill>
          <a:ln xmlns:a="http://schemas.openxmlformats.org/drawingml/2006/main" w="12700">
            <a:solidFill>
              <a:srgbClr val="F18A2A">
                <a:alpha val="0"/>
              </a:srgbClr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51E45810-257C-4FD2-BA0A-FA5EDC9C4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60" y="1143000"/>
            <a:ext cx="2926080" cy="44805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EA49D">
                <a:alpha val="50000"/>
              </a:srgbClr>
            </a:solidFill>
            <a:prstDash val="solid"/>
          </a:ln>
        </p:spPr>
      </p:sp>
      <p:pic>
        <p:nvPicPr>
          <p:cNvPr id="3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1111b7c45e455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8368" y="576072"/>
            <a:ext cx="2331720" cy="804672"/>
          </a:xfrm>
          <a:prstGeom xmlns:a="http://schemas.openxmlformats.org/drawingml/2006/main" prst="rect">
            <a:avLst/>
          </a:prstGeom>
        </p:spPr>
      </p:pic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C4D52D3F-17F2-4855-8B7B-CB2423654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581912"/>
            <a:ext cx="3017520" cy="310896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2F6F6A"/>
          </a:solidFill>
          <a:ln xmlns:a="http://schemas.openxmlformats.org/drawingml/2006/main" w="12700">
            <a:solidFill>
              <a:srgbClr val="2F6F6A"/>
            </a:solidFill>
            <a:prstDash val="solid"/>
          </a:ln>
        </p:spPr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0DE09771-23FC-48B1-AFD2-25E00DDC0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645920"/>
            <a:ext cx="287121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80" b="1">
                <a:solidFill>
                  <a:srgbClr val="FFFFFF"/>
                </a:solidFill>
              </a:rPr>
              <a:t>OPEN SOURCE • CONFIGURABLE • CROSS-SECTOR</a:t>
            </a:r>
            <a:endParaRPr sz="88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2B23705B-069A-4C18-B44E-6EE5C4BAC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029968"/>
            <a:ext cx="4937760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700" b="1">
                <a:solidFill>
                  <a:srgbClr val="FFFFFF"/>
                </a:solidFill>
              </a:rPr>
              <a:t>SaQshi</a:t>
            </a:r>
            <a:endParaRPr sz="37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C186DF26-6369-45C3-85A6-E1F8D4073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651760"/>
            <a:ext cx="6492240" cy="1261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100" b="1">
                <a:solidFill>
                  <a:srgbClr val="DDEBE8"/>
                </a:solidFill>
              </a:rPr>
              <a:t>Open Digital Quality</a:t>
            </a:r>
            <a:endParaRPr sz="3100"/>
          </a:p>
          <a:p xmlns:a="http://schemas.openxmlformats.org/drawingml/2006/main">
            <a:pPr marL="0" indent="0">
              <a:buNone/>
            </a:pPr>
            <a:r>
              <a:rPr sz="3100" b="1">
                <a:solidFill>
                  <a:srgbClr val="DDEBE8"/>
                </a:solidFill>
              </a:rPr>
              <a:t>Improvement Platform</a:t>
            </a:r>
            <a:endParaRPr sz="310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5B08F80A-C606-4B61-B1C9-A2F53901D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" y="4160520"/>
            <a:ext cx="6446520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C5D7E0"/>
                </a:solidFill>
              </a:rPr>
              <a:t>From assessment → action → outcomes → certification — across health, education and other public-service quality programs.</a:t>
            </a:r>
            <a:endParaRPr sz="1500"/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9E8C3D29-ABD4-44B2-BBD8-A5D876424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7968" y="1664208"/>
            <a:ext cx="2249424" cy="22494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/>
            </a:solidFill>
            <a:prstDash val="solid"/>
          </a:ln>
        </p:spPr>
      </p:sp>
      <p:pic>
        <p:nvPicPr>
          <p:cNvPr id="4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62d83a18e24820">
            <a:extLst>
              <a:ext uri="{96DAC541-7B7A-43D3-8B79-37D633B846F1}">
                <asvg:svgBlip xmlns:asvg="http://schemas.microsoft.com/office/drawing/2016/SVG/main" r:embed="R3b4506dbeec04bdd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628632" y="2212848"/>
            <a:ext cx="768096" cy="768096"/>
          </a:xfrm>
          <a:prstGeom xmlns:a="http://schemas.openxmlformats.org/drawingml/2006/main" prst="rect">
            <a:avLst/>
          </a:prstGeom>
        </p:spPr>
      </p:pic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11DFC9BB-AE08-42E8-808F-997EA233E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8592" y="3017520"/>
            <a:ext cx="14173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16324F"/>
                </a:solidFill>
              </a:rPr>
              <a:t>ONE</a:t>
            </a:r>
            <a:endParaRPr sz="1100"/>
          </a:p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16324F"/>
                </a:solidFill>
              </a:rPr>
              <a:t>PLATFORM</a:t>
            </a:r>
            <a:endParaRPr sz="1100"/>
          </a:p>
        </p:txBody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D4150665-20A3-458E-9F0D-0CC1F431B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1143000"/>
            <a:ext cx="1051560" cy="10515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95000"/>
            </a:srgbClr>
          </a:solidFill>
          <a:ln xmlns:a="http://schemas.openxmlformats.org/drawingml/2006/main" w="25400">
            <a:solidFill>
              <a:srgbClr val="2CB67D"/>
            </a:solidFill>
            <a:prstDash val="solid"/>
          </a:ln>
        </p:spPr>
      </p:sp>
      <p:pic>
        <p:nvPicPr>
          <p:cNvPr id="46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8704fb50454ef8">
            <a:extLst>
              <a:ext uri="{96DAC541-7B7A-43D3-8B79-37D633B846F1}">
                <asvg:svgBlip xmlns:asvg="http://schemas.microsoft.com/office/drawing/2016/SVG/main" r:embed="Ra2a5387b225246b9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93024" y="1325880"/>
            <a:ext cx="484632" cy="484632"/>
          </a:xfrm>
          <a:prstGeom xmlns:a="http://schemas.openxmlformats.org/drawingml/2006/main" prst="rect">
            <a:avLst/>
          </a:prstGeom>
        </p:spPr>
      </p:pic>
      <p:sp>
        <p:nvSpPr>
          <p:cNvPr id="16" name="Text 11">
            <a:extLst xmlns:a="http://schemas.openxmlformats.org/drawingml/2006/main">
              <a:ext uri="{FF2B5EF4-FFF2-40B4-BE49-F238E27FC236}">
                <a16:creationId xmlns:a16="http://schemas.microsoft.com/office/drawing/2014/main" id="{096446D2-0EA9-48C6-AAFA-688D43EBE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231136"/>
            <a:ext cx="1325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E7EEF3"/>
                </a:solidFill>
              </a:rPr>
              <a:t>Health</a:t>
            </a:r>
            <a:endParaRPr sz="850"/>
          </a:p>
        </p:txBody>
      </p:sp>
      <p:sp>
        <p:nvSpPr>
          <p:cNvPr id="17" name="Shape 12">
            <a:extLst xmlns:a="http://schemas.openxmlformats.org/drawingml/2006/main">
              <a:ext uri="{FF2B5EF4-FFF2-40B4-BE49-F238E27FC236}">
                <a16:creationId xmlns:a16="http://schemas.microsoft.com/office/drawing/2014/main" id="{0F8CC6C0-1998-4244-8496-9A9CCB3F0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7080" y="658368"/>
            <a:ext cx="1051560" cy="10515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95000"/>
            </a:srgbClr>
          </a:solidFill>
          <a:ln xmlns:a="http://schemas.openxmlformats.org/drawingml/2006/main" w="25400">
            <a:solidFill>
              <a:srgbClr val="2D7FF9"/>
            </a:solidFill>
            <a:prstDash val="solid"/>
          </a:ln>
        </p:spPr>
      </p:sp>
      <p:pic>
        <p:nvPicPr>
          <p:cNvPr id="49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b15b4a8dda43f5">
            <a:extLst>
              <a:ext uri="{96DAC541-7B7A-43D3-8B79-37D633B846F1}">
                <asvg:svgBlip xmlns:asvg="http://schemas.microsoft.com/office/drawing/2016/SVG/main" r:embed="R563d6f4136cf4d6d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210544" y="841248"/>
            <a:ext cx="484632" cy="484632"/>
          </a:xfrm>
          <a:prstGeom xmlns:a="http://schemas.openxmlformats.org/drawingml/2006/main" prst="rect">
            <a:avLst/>
          </a:prstGeom>
        </p:spPr>
      </p:pic>
      <p:sp>
        <p:nvSpPr>
          <p:cNvPr id="19" name="Text 13">
            <a:extLst xmlns:a="http://schemas.openxmlformats.org/drawingml/2006/main">
              <a:ext uri="{FF2B5EF4-FFF2-40B4-BE49-F238E27FC236}">
                <a16:creationId xmlns:a16="http://schemas.microsoft.com/office/drawing/2014/main" id="{F318D011-E4C1-4D7C-AF82-F7952D969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0" y="1746504"/>
            <a:ext cx="1325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E7EEF3"/>
                </a:solidFill>
              </a:rPr>
              <a:t>Education</a:t>
            </a:r>
            <a:endParaRPr sz="850"/>
          </a:p>
        </p:txBody>
      </p:sp>
      <p:sp>
        <p:nvSpPr>
          <p:cNvPr id="20" name="Shape 14">
            <a:extLst xmlns:a="http://schemas.openxmlformats.org/drawingml/2006/main">
              <a:ext uri="{FF2B5EF4-FFF2-40B4-BE49-F238E27FC236}">
                <a16:creationId xmlns:a16="http://schemas.microsoft.com/office/drawing/2014/main" id="{215C2CB8-8775-43A5-A9DF-29CBF4CDA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8520" y="4251960"/>
            <a:ext cx="1051560" cy="10515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95000"/>
            </a:srgbClr>
          </a:solidFill>
          <a:ln xmlns:a="http://schemas.openxmlformats.org/drawingml/2006/main" w="25400">
            <a:solidFill>
              <a:srgbClr val="F18A2A"/>
            </a:solidFill>
            <a:prstDash val="solid"/>
          </a:ln>
        </p:spPr>
      </p:sp>
      <p:pic>
        <p:nvPicPr>
          <p:cNvPr id="52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63219c44904dbe">
            <a:extLst>
              <a:ext uri="{96DAC541-7B7A-43D3-8B79-37D633B846F1}">
                <asvg:svgBlip xmlns:asvg="http://schemas.microsoft.com/office/drawing/2016/SVG/main" r:embed="R21dc6785ea8a49f7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301984" y="4434840"/>
            <a:ext cx="484632" cy="484632"/>
          </a:xfrm>
          <a:prstGeom xmlns:a="http://schemas.openxmlformats.org/drawingml/2006/main" prst="rect">
            <a:avLst/>
          </a:prstGeom>
        </p:spPr>
      </p:pic>
      <p:sp>
        <p:nvSpPr>
          <p:cNvPr id="22" name="Text 15">
            <a:extLst xmlns:a="http://schemas.openxmlformats.org/drawingml/2006/main">
              <a:ext uri="{FF2B5EF4-FFF2-40B4-BE49-F238E27FC236}">
                <a16:creationId xmlns:a16="http://schemas.microsoft.com/office/drawing/2014/main" id="{40A7EDAD-5CE7-49D8-822B-E0FCB8512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5340096"/>
            <a:ext cx="1325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E7EEF3"/>
                </a:solidFill>
              </a:rPr>
              <a:t>Feedback</a:t>
            </a:r>
            <a:endParaRPr sz="850"/>
          </a:p>
        </p:txBody>
      </p:sp>
      <p:sp>
        <p:nvSpPr>
          <p:cNvPr id="23" name="Shape 16">
            <a:extLst xmlns:a="http://schemas.openxmlformats.org/drawingml/2006/main">
              <a:ext uri="{FF2B5EF4-FFF2-40B4-BE49-F238E27FC236}">
                <a16:creationId xmlns:a16="http://schemas.microsoft.com/office/drawing/2014/main" id="{74FF781D-5572-4503-90D2-14004738B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20" y="4389120"/>
            <a:ext cx="1051560" cy="10515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95000"/>
            </a:srgbClr>
          </a:solidFill>
          <a:ln xmlns:a="http://schemas.openxmlformats.org/drawingml/2006/main" w="25400">
            <a:solidFill>
              <a:srgbClr val="7B61FF"/>
            </a:solidFill>
            <a:prstDash val="solid"/>
          </a:ln>
        </p:spPr>
      </p:sp>
      <p:pic>
        <p:nvPicPr>
          <p:cNvPr id="55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4e497799754a75">
            <a:extLst>
              <a:ext uri="{96DAC541-7B7A-43D3-8B79-37D633B846F1}">
                <asvg:svgBlip xmlns:asvg="http://schemas.microsoft.com/office/drawing/2016/SVG/main" r:embed="Rb904fa53d2374e6c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01584" y="4572000"/>
            <a:ext cx="484632" cy="484632"/>
          </a:xfrm>
          <a:prstGeom xmlns:a="http://schemas.openxmlformats.org/drawingml/2006/main" prst="rect">
            <a:avLst/>
          </a:prstGeom>
        </p:spPr>
      </p:pic>
      <p:sp>
        <p:nvSpPr>
          <p:cNvPr id="25" name="Text 17">
            <a:extLst xmlns:a="http://schemas.openxmlformats.org/drawingml/2006/main">
              <a:ext uri="{FF2B5EF4-FFF2-40B4-BE49-F238E27FC236}">
                <a16:creationId xmlns:a16="http://schemas.microsoft.com/office/drawing/2014/main" id="{F14DC636-E2BC-4F6E-B0BF-206924751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5477256"/>
            <a:ext cx="1325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E7EEF3"/>
                </a:solidFill>
              </a:rPr>
              <a:t>Analytics</a:t>
            </a:r>
            <a:endParaRPr sz="850"/>
          </a:p>
        </p:txBody>
      </p:sp>
      <p:sp>
        <p:nvSpPr>
          <p:cNvPr id="26" name="Text 18">
            <a:extLst xmlns:a="http://schemas.openxmlformats.org/drawingml/2006/main">
              <a:ext uri="{FF2B5EF4-FFF2-40B4-BE49-F238E27FC236}">
                <a16:creationId xmlns:a16="http://schemas.microsoft.com/office/drawing/2014/main" id="{F1F071E2-432B-4B0D-9A2F-2A79812CE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" y="5806440"/>
            <a:ext cx="850392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AFC5D0"/>
                </a:solidFill>
              </a:rPr>
              <a:t>Your Saathi for Quality Assessment — evolved into a reusable digital public quality platform.</a:t>
            </a:r>
            <a:endParaRPr sz="1050"/>
          </a:p>
        </p:txBody>
      </p:sp>
    </p:spTree>
    <p:extLst>
      <p:ext uri="{BB962C8B-B14F-4D97-AF65-F5344CB8AC3E}">
        <p14:creationId xmlns:p14="http://schemas.microsoft.com/office/powerpoint/2010/main" val="95688638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97017751-CAED-463B-9BB4-9439A90BA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10312"/>
            <a:ext cx="2011680" cy="27432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2F6F6A"/>
          </a:solidFill>
          <a:ln xmlns:a="http://schemas.openxmlformats.org/drawingml/2006/main" w="12700">
            <a:solidFill>
              <a:srgbClr val="2F6F6A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8961AE7-A103-405D-A84E-BBFC8343B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51460"/>
            <a:ext cx="1865376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60" b="1" spc="80">
                <a:solidFill>
                  <a:srgbClr val="FFFFFF"/>
                </a:solidFill>
              </a:rPr>
              <a:t>EXECUTIVE PROPOSITION</a:t>
            </a:r>
            <a:endParaRPr sz="76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BE01AA0-2961-4311-9FD5-21EDCA059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11480"/>
            <a:ext cx="1088136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16324F"/>
                </a:solidFill>
                <a:latin typeface="Aptos Display"/>
                <a:ea typeface="Aptos Display"/>
                <a:cs typeface="Aptos Display"/>
              </a:rPr>
              <a:t>SaQshi is not another checklist application</a:t>
            </a:r>
            <a:endParaRPr sz="25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A0300618-D6C5-401C-89D7-7AEB12B89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69264"/>
            <a:ext cx="7315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0">
            <a:solidFill>
              <a:srgbClr val="F18A2A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D76262A9-C793-4761-BDC4-7BB358D79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060704"/>
            <a:ext cx="109728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5F7180"/>
                </a:solidFill>
              </a:rPr>
              <a:t>It is a configurable quality-improvement operating layer that turns standards into repeatable digital workflows.</a:t>
            </a:r>
            <a:endParaRPr sz="1150"/>
          </a:p>
        </p:txBody>
      </p:sp>
      <p:pic>
        <p:nvPicPr>
          <p:cNvPr id="35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7b69e5f47e488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329184"/>
            <a:ext cx="841248" cy="292608"/>
          </a:xfrm>
          <a:prstGeom xmlns:a="http://schemas.openxmlformats.org/drawingml/2006/main" prst="rect">
            <a:avLst/>
          </a:prstGeom>
        </p:spPr>
      </p:pic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AFFB4C59-E073-4772-B3F4-ADF4C9916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3401568" cy="3063240"/>
          </a:xfrm>
          <a:prstGeom xmlns:a="http://schemas.openxmlformats.org/drawingml/2006/main" prst="roundRect">
            <a:avLst>
              <a:gd name="adj" fmla="val 2388"/>
            </a:avLst>
          </a:prstGeom>
          <a:solidFill xmlns:a="http://schemas.openxmlformats.org/drawingml/2006/main">
            <a:srgbClr val="EAF5F3"/>
          </a:solidFill>
          <a:ln xmlns:a="http://schemas.openxmlformats.org/drawingml/2006/main" w="12700">
            <a:solidFill>
              <a:srgbClr val="EAF5F3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CBD4DA">
                <a:alpha val="14000"/>
              </a:srgbClr>
            </a:outerShdw>
          </a:effectLst>
        </p:spPr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9C3606D8-6716-478B-8587-86226807D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2057400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/>
            </a:solidFill>
            <a:prstDash val="solid"/>
          </a:ln>
        </p:spPr>
      </p:sp>
      <p:pic>
        <p:nvPicPr>
          <p:cNvPr id="38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5c959453a44d09">
            <a:extLst>
              <a:ext uri="{96DAC541-7B7A-43D3-8B79-37D633B846F1}">
                <asvg:svgBlip xmlns:asvg="http://schemas.microsoft.com/office/drawing/2016/SVG/main" r:embed="Racc8ee7e12cc4616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37844" y="2153412"/>
            <a:ext cx="374904" cy="374904"/>
          </a:xfrm>
          <a:prstGeom xmlns:a="http://schemas.openxmlformats.org/drawingml/2006/main" prst="rect">
            <a:avLst/>
          </a:prstGeom>
        </p:spPr>
      </p:pic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0C3AE584-2C26-4AB6-869D-6E1C66A6C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2788920"/>
            <a:ext cx="288036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6324F"/>
                </a:solidFill>
              </a:rPr>
              <a:t>Standards become digital</a:t>
            </a:r>
            <a:endParaRPr sz="1700"/>
          </a:p>
        </p:txBody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A32F3FF2-DA38-4F4A-B3EE-300ABBC05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3364992"/>
            <a:ext cx="2852928" cy="1143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10">
                <a:solidFill>
                  <a:srgbClr val="1D2B36"/>
                </a:solidFill>
              </a:rPr>
              <a:t>Frameworks, domains, checkpoints, scoring rules and facility/entity types become configuration — not hard-coded forms.</a:t>
            </a:r>
            <a:endParaRPr sz="1110"/>
          </a:p>
        </p:txBody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1047C1AE-57C2-45D9-864F-2B06DD112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1828800"/>
            <a:ext cx="3401568" cy="3063240"/>
          </a:xfrm>
          <a:prstGeom xmlns:a="http://schemas.openxmlformats.org/drawingml/2006/main" prst="roundRect">
            <a:avLst>
              <a:gd name="adj" fmla="val 2388"/>
            </a:avLst>
          </a:prstGeom>
          <a:solidFill xmlns:a="http://schemas.openxmlformats.org/drawingml/2006/main">
            <a:srgbClr val="FFF2E7"/>
          </a:solidFill>
          <a:ln xmlns:a="http://schemas.openxmlformats.org/drawingml/2006/main" w="12700">
            <a:solidFill>
              <a:srgbClr val="FFF2E7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CBD4DA">
                <a:alpha val="14000"/>
              </a:srgbClr>
            </a:outerShdw>
          </a:effectLst>
        </p:spPr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451AA983-93C8-430A-B61A-E0BBDA8FD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5736" y="2057400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/>
            </a:solidFill>
            <a:prstDash val="solid"/>
          </a:ln>
        </p:spPr>
      </p:sp>
      <p:pic>
        <p:nvPicPr>
          <p:cNvPr id="43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9482c837ad47ef">
            <a:extLst>
              <a:ext uri="{96DAC541-7B7A-43D3-8B79-37D633B846F1}">
                <asvg:svgBlip xmlns:asvg="http://schemas.microsoft.com/office/drawing/2016/SVG/main" r:embed="R1f1328c948404d75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41748" y="2153412"/>
            <a:ext cx="374904" cy="374904"/>
          </a:xfrm>
          <a:prstGeom xmlns:a="http://schemas.openxmlformats.org/drawingml/2006/main" prst="rect">
            <a:avLst/>
          </a:prstGeom>
        </p:spPr>
      </p:pic>
      <p:sp>
        <p:nvSpPr>
          <p:cNvPr id="16" name="Text 11">
            <a:extLst xmlns:a="http://schemas.openxmlformats.org/drawingml/2006/main">
              <a:ext uri="{FF2B5EF4-FFF2-40B4-BE49-F238E27FC236}">
                <a16:creationId xmlns:a16="http://schemas.microsoft.com/office/drawing/2014/main" id="{F7AC12FE-FCD3-4BBA-902D-7C405C488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5736" y="2788920"/>
            <a:ext cx="288036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6324F"/>
                </a:solidFill>
              </a:rPr>
              <a:t>Assessments become workflows</a:t>
            </a:r>
            <a:endParaRPr sz="1700"/>
          </a:p>
        </p:txBody>
      </p:sp>
      <p:sp>
        <p:nvSpPr>
          <p:cNvPr id="17" name="Text 12">
            <a:extLst xmlns:a="http://schemas.openxmlformats.org/drawingml/2006/main">
              <a:ext uri="{FF2B5EF4-FFF2-40B4-BE49-F238E27FC236}">
                <a16:creationId xmlns:a16="http://schemas.microsoft.com/office/drawing/2014/main" id="{E00091F0-E58E-401C-94D8-071671517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5736" y="3364992"/>
            <a:ext cx="2852928" cy="1143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10">
                <a:solidFill>
                  <a:srgbClr val="1D2B36"/>
                </a:solidFill>
              </a:rPr>
              <a:t>Pause/resume, evidence, scoring, gaps, action plans, responsibility, target dates, closure and reassessment stay connected.</a:t>
            </a:r>
            <a:endParaRPr sz="1110"/>
          </a:p>
        </p:txBody>
      </p:sp>
      <p:sp>
        <p:nvSpPr>
          <p:cNvPr id="18" name="Shape 13">
            <a:extLst xmlns:a="http://schemas.openxmlformats.org/drawingml/2006/main">
              <a:ext uri="{FF2B5EF4-FFF2-40B4-BE49-F238E27FC236}">
                <a16:creationId xmlns:a16="http://schemas.microsoft.com/office/drawing/2014/main" id="{3BA30216-DBC7-451F-A492-4DD7BAF18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608" y="1828800"/>
            <a:ext cx="3401568" cy="3063240"/>
          </a:xfrm>
          <a:prstGeom xmlns:a="http://schemas.openxmlformats.org/drawingml/2006/main" prst="roundRect">
            <a:avLst>
              <a:gd name="adj" fmla="val 2388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2700">
            <a:solidFill>
              <a:srgbClr val="EAF2FF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CBD4DA">
                <a:alpha val="14000"/>
              </a:srgbClr>
            </a:outerShdw>
          </a:effectLst>
        </p:spPr>
      </p:sp>
      <p:sp>
        <p:nvSpPr>
          <p:cNvPr id="19" name="Shape 14">
            <a:extLst xmlns:a="http://schemas.openxmlformats.org/drawingml/2006/main">
              <a:ext uri="{FF2B5EF4-FFF2-40B4-BE49-F238E27FC236}">
                <a16:creationId xmlns:a16="http://schemas.microsoft.com/office/drawing/2014/main" id="{03FF35A0-D76C-4C78-848C-42A2B7390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2057400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/>
            </a:solidFill>
            <a:prstDash val="solid"/>
          </a:ln>
        </p:spPr>
      </p:sp>
      <p:pic>
        <p:nvPicPr>
          <p:cNvPr id="48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e20c0afabe4989">
            <a:extLst>
              <a:ext uri="{96DAC541-7B7A-43D3-8B79-37D633B846F1}">
                <asvg:svgBlip xmlns:asvg="http://schemas.microsoft.com/office/drawing/2016/SVG/main" r:embed="R7ff15a507c014c2f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45652" y="2153412"/>
            <a:ext cx="374904" cy="374904"/>
          </a:xfrm>
          <a:prstGeom xmlns:a="http://schemas.openxmlformats.org/drawingml/2006/main" prst="rect">
            <a:avLst/>
          </a:prstGeom>
        </p:spPr>
      </p:pic>
      <p:sp>
        <p:nvSpPr>
          <p:cNvPr id="21" name="Text 15">
            <a:extLst xmlns:a="http://schemas.openxmlformats.org/drawingml/2006/main">
              <a:ext uri="{FF2B5EF4-FFF2-40B4-BE49-F238E27FC236}">
                <a16:creationId xmlns:a16="http://schemas.microsoft.com/office/drawing/2014/main" id="{D7859320-4F53-478A-B82C-98123CC3F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2788920"/>
            <a:ext cx="288036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6324F"/>
                </a:solidFill>
              </a:rPr>
              <a:t>Data becomes improvement</a:t>
            </a:r>
            <a:endParaRPr sz="1700"/>
          </a:p>
        </p:txBody>
      </p:sp>
      <p:sp>
        <p:nvSpPr>
          <p:cNvPr id="22" name="Text 16">
            <a:extLst xmlns:a="http://schemas.openxmlformats.org/drawingml/2006/main">
              <a:ext uri="{FF2B5EF4-FFF2-40B4-BE49-F238E27FC236}">
                <a16:creationId xmlns:a16="http://schemas.microsoft.com/office/drawing/2014/main" id="{BE8BEF97-10F5-4EB0-AC09-CD4C3B40D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3364992"/>
            <a:ext cx="2852928" cy="1143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10">
                <a:solidFill>
                  <a:srgbClr val="1D2B36"/>
                </a:solidFill>
              </a:rPr>
              <a:t>Dashboards, KPI/outcome trends, certification status and comparative analysis show whether quality is actually changing.</a:t>
            </a:r>
            <a:endParaRPr sz="1110"/>
          </a:p>
        </p:txBody>
      </p:sp>
      <p:sp>
        <p:nvSpPr>
          <p:cNvPr id="23" name="Shape 17">
            <a:extLst xmlns:a="http://schemas.openxmlformats.org/drawingml/2006/main">
              <a:ext uri="{FF2B5EF4-FFF2-40B4-BE49-F238E27FC236}">
                <a16:creationId xmlns:a16="http://schemas.microsoft.com/office/drawing/2014/main" id="{870A8C7D-EFF5-4381-A4FA-A1DA777A9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5285232"/>
            <a:ext cx="9235440" cy="713232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16324F"/>
          </a:solidFill>
          <a:ln xmlns:a="http://schemas.openxmlformats.org/drawingml/2006/main" w="12700">
            <a:solidFill>
              <a:srgbClr val="16324F"/>
            </a:solidFill>
            <a:prstDash val="solid"/>
          </a:ln>
        </p:spPr>
      </p:sp>
      <p:sp>
        <p:nvSpPr>
          <p:cNvPr id="24" name="Text 18">
            <a:extLst xmlns:a="http://schemas.openxmlformats.org/drawingml/2006/main">
              <a:ext uri="{FF2B5EF4-FFF2-40B4-BE49-F238E27FC236}">
                <a16:creationId xmlns:a16="http://schemas.microsoft.com/office/drawing/2014/main" id="{1E82AB26-330E-45E0-A8C7-0DC47FAB9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7360" y="5486400"/>
            <a:ext cx="8686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20" b="1">
                <a:solidFill>
                  <a:srgbClr val="FFFFFF"/>
                </a:solidFill>
              </a:rPr>
              <a:t>THE PLATFORM IDEA  →  Configure once. Reuse across frameworks, facilities, schools, departments, classes and geographies.</a:t>
            </a:r>
            <a:endParaRPr sz="132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87E2A3A8-028F-4E64-AA59-B851900895B8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292840" y="6574536"/>
            <a:ext cx="347472" cy="1645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8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8336361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A22CDEE-95A5-4EED-A4B3-729A8CEA9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10312"/>
            <a:ext cx="2011680" cy="27432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2F6F6A"/>
          </a:solidFill>
          <a:ln xmlns:a="http://schemas.openxmlformats.org/drawingml/2006/main" w="12700">
            <a:solidFill>
              <a:srgbClr val="2F6F6A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6F8B213-B33C-4431-961F-BD80B9FFD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51460"/>
            <a:ext cx="1865376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60" b="1" spc="80">
                <a:solidFill>
                  <a:srgbClr val="FFFFFF"/>
                </a:solidFill>
              </a:rPr>
              <a:t>PROBLEM</a:t>
            </a:r>
            <a:endParaRPr sz="76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2C0F251F-ED8D-4F60-B037-3364DFB59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11480"/>
            <a:ext cx="1088136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16324F"/>
                </a:solidFill>
                <a:latin typeface="Aptos Display"/>
                <a:ea typeface="Aptos Display"/>
                <a:cs typeface="Aptos Display"/>
              </a:rPr>
              <a:t>Quality assurance is still fragmented between paper, Excel and isolated applications</a:t>
            </a:r>
            <a:endParaRPr sz="25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4443AC6C-172B-40EB-B21F-D1BBFEF5B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69264"/>
            <a:ext cx="7315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0">
            <a:solidFill>
              <a:srgbClr val="F18A2A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51FD64D4-B4D6-48F2-8348-40C70CEE9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060704"/>
            <a:ext cx="109728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5F7180"/>
                </a:solidFill>
              </a:rPr>
              <a:t>The original SaQshi concept note identifies manual assessment, limited digital functionality, weak action planning and poor comparative analysis.</a:t>
            </a:r>
            <a:endParaRPr sz="1150"/>
          </a:p>
        </p:txBody>
      </p:sp>
      <p:pic>
        <p:nvPicPr>
          <p:cNvPr id="5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3eb8ab3e264f1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329184"/>
            <a:ext cx="841248" cy="292608"/>
          </a:xfrm>
          <a:prstGeom xmlns:a="http://schemas.openxmlformats.org/drawingml/2006/main" prst="rect">
            <a:avLst/>
          </a:prstGeom>
        </p:spPr>
      </p:pic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8487D217-5AD8-4B1C-A9FA-3C75B65E0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719072"/>
            <a:ext cx="3429000" cy="1847088"/>
          </a:xfrm>
          <a:prstGeom xmlns:a="http://schemas.openxmlformats.org/drawingml/2006/main" prst="roundRect">
            <a:avLst>
              <a:gd name="adj" fmla="val 3960"/>
            </a:avLst>
          </a:prstGeom>
          <a:solidFill xmlns:a="http://schemas.openxmlformats.org/drawingml/2006/main">
            <a:srgbClr val="FDECEF"/>
          </a:solidFill>
          <a:ln xmlns:a="http://schemas.openxmlformats.org/drawingml/2006/main" w="12700">
            <a:solidFill>
              <a:srgbClr val="FDECEF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CBD4DA">
                <a:alpha val="14000"/>
              </a:srgbClr>
            </a:outerShdw>
          </a:effectLst>
        </p:spPr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EED84984-409A-4009-B996-B958621C0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" y="1938528"/>
            <a:ext cx="475488" cy="4754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/>
            </a:solidFill>
            <a:prstDash val="solid"/>
          </a:ln>
        </p:spPr>
      </p:sp>
      <p:pic>
        <p:nvPicPr>
          <p:cNvPr id="5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a0583300e94d90">
            <a:extLst>
              <a:ext uri="{96DAC541-7B7A-43D3-8B79-37D633B846F1}">
                <asvg:svgBlip xmlns:asvg="http://schemas.microsoft.com/office/drawing/2016/SVG/main" r:embed="Rba237605288349bd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82980" y="2034540"/>
            <a:ext cx="283464" cy="283464"/>
          </a:xfrm>
          <a:prstGeom xmlns:a="http://schemas.openxmlformats.org/drawingml/2006/main" prst="rect">
            <a:avLst/>
          </a:prstGeom>
        </p:spPr>
      </p:pic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AAAC624F-682A-4633-A920-6DAAAC447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1929384"/>
            <a:ext cx="2331720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20" b="1">
                <a:solidFill>
                  <a:srgbClr val="16324F"/>
                </a:solidFill>
              </a:rPr>
              <a:t>Paper → Excel → manual scoring</a:t>
            </a:r>
            <a:endParaRPr sz="1320"/>
          </a:p>
        </p:txBody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69AED0E2-294C-4C6C-8B85-12C3F4BA7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" y="2560320"/>
            <a:ext cx="2944368" cy="7589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D2B36"/>
                </a:solidFill>
              </a:rPr>
              <a:t>Printing, re-entry and score collation consume time and introduce avoidable errors.</a:t>
            </a:r>
            <a:endParaRPr sz="1050"/>
          </a:p>
        </p:txBody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4E543D8E-DDB0-4ABB-96C6-726FC638B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3128" y="1719072"/>
            <a:ext cx="3429000" cy="1847088"/>
          </a:xfrm>
          <a:prstGeom xmlns:a="http://schemas.openxmlformats.org/drawingml/2006/main" prst="roundRect">
            <a:avLst>
              <a:gd name="adj" fmla="val 3960"/>
            </a:avLst>
          </a:prstGeom>
          <a:solidFill xmlns:a="http://schemas.openxmlformats.org/drawingml/2006/main">
            <a:srgbClr val="FFF2E7"/>
          </a:solidFill>
          <a:ln xmlns:a="http://schemas.openxmlformats.org/drawingml/2006/main" w="12700">
            <a:solidFill>
              <a:srgbClr val="FFF2E7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CBD4DA">
                <a:alpha val="14000"/>
              </a:srgbClr>
            </a:outerShdw>
          </a:effectLst>
        </p:spPr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AD5E279D-4ACE-460E-921F-C03000DC2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1728" y="1938528"/>
            <a:ext cx="475488" cy="4754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/>
            </a:solidFill>
            <a:prstDash val="solid"/>
          </a:ln>
        </p:spPr>
      </p:sp>
      <p:pic>
        <p:nvPicPr>
          <p:cNvPr id="58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50fc45c2e44b7f">
            <a:extLst>
              <a:ext uri="{96DAC541-7B7A-43D3-8B79-37D633B846F1}">
                <asvg:svgBlip xmlns:asvg="http://schemas.microsoft.com/office/drawing/2016/SVG/main" r:embed="R0d8e06c40df14f8f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77740" y="2034540"/>
            <a:ext cx="283464" cy="283464"/>
          </a:xfrm>
          <a:prstGeom xmlns:a="http://schemas.openxmlformats.org/drawingml/2006/main" prst="rect">
            <a:avLst/>
          </a:prstGeom>
        </p:spPr>
      </p:pic>
      <p:sp>
        <p:nvSpPr>
          <p:cNvPr id="16" name="Text 11">
            <a:extLst xmlns:a="http://schemas.openxmlformats.org/drawingml/2006/main">
              <a:ext uri="{FF2B5EF4-FFF2-40B4-BE49-F238E27FC236}">
                <a16:creationId xmlns:a16="http://schemas.microsoft.com/office/drawing/2014/main" id="{7A03627F-41E2-47D5-9E52-BAC42D2F4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088" y="1929384"/>
            <a:ext cx="2331720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20" b="1">
                <a:solidFill>
                  <a:srgbClr val="16324F"/>
                </a:solidFill>
              </a:rPr>
              <a:t>Digital forms without workflow</a:t>
            </a:r>
            <a:endParaRPr sz="1320"/>
          </a:p>
        </p:txBody>
      </p:sp>
      <p:sp>
        <p:nvSpPr>
          <p:cNvPr id="17" name="Text 12">
            <a:extLst xmlns:a="http://schemas.openxmlformats.org/drawingml/2006/main">
              <a:ext uri="{FF2B5EF4-FFF2-40B4-BE49-F238E27FC236}">
                <a16:creationId xmlns:a16="http://schemas.microsoft.com/office/drawing/2014/main" id="{2352E928-1CA1-420D-93EB-F28C66637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1728" y="2560320"/>
            <a:ext cx="2944368" cy="7589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D2B36"/>
                </a:solidFill>
              </a:rPr>
              <a:t>Capturing answers alone does not create real-time gap visibility or accountability for closure.</a:t>
            </a:r>
            <a:endParaRPr sz="1050"/>
          </a:p>
        </p:txBody>
      </p:sp>
      <p:sp>
        <p:nvSpPr>
          <p:cNvPr id="18" name="Shape 13">
            <a:extLst xmlns:a="http://schemas.openxmlformats.org/drawingml/2006/main">
              <a:ext uri="{FF2B5EF4-FFF2-40B4-BE49-F238E27FC236}">
                <a16:creationId xmlns:a16="http://schemas.microsoft.com/office/drawing/2014/main" id="{19C2E89D-1D04-4009-9066-31569528A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7888" y="1719072"/>
            <a:ext cx="3429000" cy="1847088"/>
          </a:xfrm>
          <a:prstGeom xmlns:a="http://schemas.openxmlformats.org/drawingml/2006/main" prst="roundRect">
            <a:avLst>
              <a:gd name="adj" fmla="val 3960"/>
            </a:avLst>
          </a:prstGeom>
          <a:solidFill xmlns:a="http://schemas.openxmlformats.org/drawingml/2006/main">
            <a:srgbClr val="FFF9DF"/>
          </a:solidFill>
          <a:ln xmlns:a="http://schemas.openxmlformats.org/drawingml/2006/main" w="12700">
            <a:solidFill>
              <a:srgbClr val="FFF9DF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CBD4DA">
                <a:alpha val="14000"/>
              </a:srgbClr>
            </a:outerShdw>
          </a:effectLst>
        </p:spPr>
      </p:sp>
      <p:sp>
        <p:nvSpPr>
          <p:cNvPr id="19" name="Shape 14">
            <a:extLst xmlns:a="http://schemas.openxmlformats.org/drawingml/2006/main">
              <a:ext uri="{FF2B5EF4-FFF2-40B4-BE49-F238E27FC236}">
                <a16:creationId xmlns:a16="http://schemas.microsoft.com/office/drawing/2014/main" id="{1DC74539-3064-4481-B0AF-A6639BC3F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6488" y="1938528"/>
            <a:ext cx="475488" cy="4754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/>
            </a:solidFill>
            <a:prstDash val="solid"/>
          </a:ln>
        </p:spPr>
      </p:sp>
      <p:pic>
        <p:nvPicPr>
          <p:cNvPr id="63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ce99b76326429f">
            <a:extLst>
              <a:ext uri="{96DAC541-7B7A-43D3-8B79-37D633B846F1}">
                <asvg:svgBlip xmlns:asvg="http://schemas.microsoft.com/office/drawing/2016/SVG/main" r:embed="R61ae2a50d75b4074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72500" y="2034540"/>
            <a:ext cx="283464" cy="283464"/>
          </a:xfrm>
          <a:prstGeom xmlns:a="http://schemas.openxmlformats.org/drawingml/2006/main" prst="rect">
            <a:avLst/>
          </a:prstGeom>
        </p:spPr>
      </p:pic>
      <p:sp>
        <p:nvSpPr>
          <p:cNvPr id="21" name="Text 15">
            <a:extLst xmlns:a="http://schemas.openxmlformats.org/drawingml/2006/main">
              <a:ext uri="{FF2B5EF4-FFF2-40B4-BE49-F238E27FC236}">
                <a16:creationId xmlns:a16="http://schemas.microsoft.com/office/drawing/2014/main" id="{A816DDB5-0E95-47C5-AC9E-6AA16D841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0848" y="1929384"/>
            <a:ext cx="2331720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20" b="1">
                <a:solidFill>
                  <a:srgbClr val="16324F"/>
                </a:solidFill>
              </a:rPr>
              <a:t>Action plans disconnected from evidence</a:t>
            </a:r>
            <a:endParaRPr sz="1320"/>
          </a:p>
        </p:txBody>
      </p:sp>
      <p:sp>
        <p:nvSpPr>
          <p:cNvPr id="22" name="Text 16">
            <a:extLst xmlns:a="http://schemas.openxmlformats.org/drawingml/2006/main">
              <a:ext uri="{FF2B5EF4-FFF2-40B4-BE49-F238E27FC236}">
                <a16:creationId xmlns:a16="http://schemas.microsoft.com/office/drawing/2014/main" id="{0FD88331-684F-4ADD-914A-8B42312FC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6488" y="2560320"/>
            <a:ext cx="2944368" cy="7589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D2B36"/>
                </a:solidFill>
              </a:rPr>
              <a:t>Owner, due date, closure evidence and revised score are often managed outside the assessment.</a:t>
            </a:r>
            <a:endParaRPr sz="1050"/>
          </a:p>
        </p:txBody>
      </p:sp>
      <p:sp>
        <p:nvSpPr>
          <p:cNvPr id="23" name="Shape 17">
            <a:extLst xmlns:a="http://schemas.openxmlformats.org/drawingml/2006/main">
              <a:ext uri="{FF2B5EF4-FFF2-40B4-BE49-F238E27FC236}">
                <a16:creationId xmlns:a16="http://schemas.microsoft.com/office/drawing/2014/main" id="{3AC9A181-780E-4C17-A6B1-F6987B97E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895344"/>
            <a:ext cx="3429000" cy="1847088"/>
          </a:xfrm>
          <a:prstGeom xmlns:a="http://schemas.openxmlformats.org/drawingml/2006/main" prst="roundRect">
            <a:avLst>
              <a:gd name="adj" fmla="val 3960"/>
            </a:avLst>
          </a:prstGeom>
          <a:solidFill xmlns:a="http://schemas.openxmlformats.org/drawingml/2006/main">
            <a:srgbClr val="F2EEFF"/>
          </a:solidFill>
          <a:ln xmlns:a="http://schemas.openxmlformats.org/drawingml/2006/main" w="12700">
            <a:solidFill>
              <a:srgbClr val="F2EEFF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CBD4DA">
                <a:alpha val="14000"/>
              </a:srgbClr>
            </a:outerShdw>
          </a:effectLst>
        </p:spPr>
      </p:sp>
      <p:sp>
        <p:nvSpPr>
          <p:cNvPr id="24" name="Shape 18">
            <a:extLst xmlns:a="http://schemas.openxmlformats.org/drawingml/2006/main">
              <a:ext uri="{FF2B5EF4-FFF2-40B4-BE49-F238E27FC236}">
                <a16:creationId xmlns:a16="http://schemas.microsoft.com/office/drawing/2014/main" id="{99670CA4-CEB6-4719-8324-D0065481E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" y="4114800"/>
            <a:ext cx="475488" cy="4754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/>
            </a:solidFill>
            <a:prstDash val="solid"/>
          </a:ln>
        </p:spPr>
      </p:sp>
      <p:pic>
        <p:nvPicPr>
          <p:cNvPr id="68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1deb9b47b34231">
            <a:extLst>
              <a:ext uri="{96DAC541-7B7A-43D3-8B79-37D633B846F1}">
                <asvg:svgBlip xmlns:asvg="http://schemas.microsoft.com/office/drawing/2016/SVG/main" r:embed="R43af41faceb9416d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82980" y="4210812"/>
            <a:ext cx="283464" cy="283464"/>
          </a:xfrm>
          <a:prstGeom xmlns:a="http://schemas.openxmlformats.org/drawingml/2006/main" prst="rect">
            <a:avLst/>
          </a:prstGeom>
        </p:spPr>
      </p:pic>
      <p:sp>
        <p:nvSpPr>
          <p:cNvPr id="26" name="Text 19">
            <a:extLst xmlns:a="http://schemas.openxmlformats.org/drawingml/2006/main">
              <a:ext uri="{FF2B5EF4-FFF2-40B4-BE49-F238E27FC236}">
                <a16:creationId xmlns:a16="http://schemas.microsoft.com/office/drawing/2014/main" id="{51CA0F56-48CE-4446-8EDC-23026FF6F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4105656"/>
            <a:ext cx="2331720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20" b="1">
                <a:solidFill>
                  <a:srgbClr val="16324F"/>
                </a:solidFill>
              </a:rPr>
              <a:t>No continuous improvement memory</a:t>
            </a:r>
            <a:endParaRPr sz="1320"/>
          </a:p>
        </p:txBody>
      </p:sp>
      <p:sp>
        <p:nvSpPr>
          <p:cNvPr id="27" name="Text 20">
            <a:extLst xmlns:a="http://schemas.openxmlformats.org/drawingml/2006/main">
              <a:ext uri="{FF2B5EF4-FFF2-40B4-BE49-F238E27FC236}">
                <a16:creationId xmlns:a16="http://schemas.microsoft.com/office/drawing/2014/main" id="{8A4DA61D-7509-4E77-BFD8-713BE44CE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" y="4736592"/>
            <a:ext cx="2944368" cy="7589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D2B36"/>
                </a:solidFill>
              </a:rPr>
              <a:t>Baseline, reassessment and current status are difficult to compare consistently over time.</a:t>
            </a:r>
            <a:endParaRPr sz="1050"/>
          </a:p>
        </p:txBody>
      </p:sp>
      <p:sp>
        <p:nvSpPr>
          <p:cNvPr id="28" name="Shape 21">
            <a:extLst xmlns:a="http://schemas.openxmlformats.org/drawingml/2006/main">
              <a:ext uri="{FF2B5EF4-FFF2-40B4-BE49-F238E27FC236}">
                <a16:creationId xmlns:a16="http://schemas.microsoft.com/office/drawing/2014/main" id="{EDCE124D-6D97-4A2D-90E8-9BAE90209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3128" y="3895344"/>
            <a:ext cx="3429000" cy="1847088"/>
          </a:xfrm>
          <a:prstGeom xmlns:a="http://schemas.openxmlformats.org/drawingml/2006/main" prst="roundRect">
            <a:avLst>
              <a:gd name="adj" fmla="val 396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2700">
            <a:solidFill>
              <a:srgbClr val="EAF2FF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CBD4DA">
                <a:alpha val="14000"/>
              </a:srgbClr>
            </a:outerShdw>
          </a:effectLst>
        </p:spPr>
      </p:sp>
      <p:sp>
        <p:nvSpPr>
          <p:cNvPr id="29" name="Shape 22">
            <a:extLst xmlns:a="http://schemas.openxmlformats.org/drawingml/2006/main">
              <a:ext uri="{FF2B5EF4-FFF2-40B4-BE49-F238E27FC236}">
                <a16:creationId xmlns:a16="http://schemas.microsoft.com/office/drawing/2014/main" id="{84F242DA-98D1-4D8F-9202-9286C2E6E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1728" y="4114800"/>
            <a:ext cx="475488" cy="4754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/>
            </a:solidFill>
            <a:prstDash val="solid"/>
          </a:ln>
        </p:spPr>
      </p:sp>
      <p:pic>
        <p:nvPicPr>
          <p:cNvPr id="73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0df9768a784344">
            <a:extLst>
              <a:ext uri="{96DAC541-7B7A-43D3-8B79-37D633B846F1}">
                <asvg:svgBlip xmlns:asvg="http://schemas.microsoft.com/office/drawing/2016/SVG/main" r:embed="R8b663f7b57894762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77740" y="4210812"/>
            <a:ext cx="283464" cy="283464"/>
          </a:xfrm>
          <a:prstGeom xmlns:a="http://schemas.openxmlformats.org/drawingml/2006/main" prst="rect">
            <a:avLst/>
          </a:prstGeom>
        </p:spPr>
      </p:pic>
      <p:sp>
        <p:nvSpPr>
          <p:cNvPr id="31" name="Text 23">
            <a:extLst xmlns:a="http://schemas.openxmlformats.org/drawingml/2006/main">
              <a:ext uri="{FF2B5EF4-FFF2-40B4-BE49-F238E27FC236}">
                <a16:creationId xmlns:a16="http://schemas.microsoft.com/office/drawing/2014/main" id="{E62A3F6C-2B76-44C6-9737-CC5BBCCD5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088" y="4105656"/>
            <a:ext cx="2331720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20" b="1">
                <a:solidFill>
                  <a:srgbClr val="16324F"/>
                </a:solidFill>
              </a:rPr>
              <a:t>Framework silos</a:t>
            </a:r>
            <a:endParaRPr sz="1320"/>
          </a:p>
        </p:txBody>
      </p:sp>
      <p:sp>
        <p:nvSpPr>
          <p:cNvPr id="32" name="Text 24">
            <a:extLst xmlns:a="http://schemas.openxmlformats.org/drawingml/2006/main">
              <a:ext uri="{FF2B5EF4-FFF2-40B4-BE49-F238E27FC236}">
                <a16:creationId xmlns:a16="http://schemas.microsoft.com/office/drawing/2014/main" id="{2E6F4775-65B1-4684-A0D5-B9103363C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1728" y="4736592"/>
            <a:ext cx="2944368" cy="7589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D2B36"/>
                </a:solidFill>
              </a:rPr>
              <a:t>Every program, facility type or sector tends to create a new workflow and a new technology stack.</a:t>
            </a:r>
            <a:endParaRPr sz="1050"/>
          </a:p>
        </p:txBody>
      </p:sp>
      <p:sp>
        <p:nvSpPr>
          <p:cNvPr id="33" name="Shape 25">
            <a:extLst xmlns:a="http://schemas.openxmlformats.org/drawingml/2006/main">
              <a:ext uri="{FF2B5EF4-FFF2-40B4-BE49-F238E27FC236}">
                <a16:creationId xmlns:a16="http://schemas.microsoft.com/office/drawing/2014/main" id="{0037C986-2409-4944-A1D6-3EAA93EB9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7888" y="3895344"/>
            <a:ext cx="3429000" cy="1847088"/>
          </a:xfrm>
          <a:prstGeom xmlns:a="http://schemas.openxmlformats.org/drawingml/2006/main" prst="roundRect">
            <a:avLst>
              <a:gd name="adj" fmla="val 3960"/>
            </a:avLst>
          </a:prstGeom>
          <a:solidFill xmlns:a="http://schemas.openxmlformats.org/drawingml/2006/main">
            <a:srgbClr val="EAF5F3"/>
          </a:solidFill>
          <a:ln xmlns:a="http://schemas.openxmlformats.org/drawingml/2006/main" w="12700">
            <a:solidFill>
              <a:srgbClr val="EAF5F3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CBD4DA">
                <a:alpha val="14000"/>
              </a:srgbClr>
            </a:outerShdw>
          </a:effectLst>
        </p:spPr>
      </p:sp>
      <p:sp>
        <p:nvSpPr>
          <p:cNvPr id="34" name="Shape 26">
            <a:extLst xmlns:a="http://schemas.openxmlformats.org/drawingml/2006/main">
              <a:ext uri="{FF2B5EF4-FFF2-40B4-BE49-F238E27FC236}">
                <a16:creationId xmlns:a16="http://schemas.microsoft.com/office/drawing/2014/main" id="{E750C813-0A9F-4FCC-859E-D4A10CAED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6488" y="4114800"/>
            <a:ext cx="475488" cy="4754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/>
            </a:solidFill>
            <a:prstDash val="solid"/>
          </a:ln>
        </p:spPr>
      </p:sp>
      <p:pic>
        <p:nvPicPr>
          <p:cNvPr id="78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81d856e50841a6">
            <a:extLst>
              <a:ext uri="{96DAC541-7B7A-43D3-8B79-37D633B846F1}">
                <asvg:svgBlip xmlns:asvg="http://schemas.microsoft.com/office/drawing/2016/SVG/main" r:embed="R6c6ac16c31a34f35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72500" y="4210812"/>
            <a:ext cx="283464" cy="283464"/>
          </a:xfrm>
          <a:prstGeom xmlns:a="http://schemas.openxmlformats.org/drawingml/2006/main" prst="rect">
            <a:avLst/>
          </a:prstGeom>
        </p:spPr>
      </p:pic>
      <p:sp>
        <p:nvSpPr>
          <p:cNvPr id="36" name="Text 27">
            <a:extLst xmlns:a="http://schemas.openxmlformats.org/drawingml/2006/main">
              <a:ext uri="{FF2B5EF4-FFF2-40B4-BE49-F238E27FC236}">
                <a16:creationId xmlns:a16="http://schemas.microsoft.com/office/drawing/2014/main" id="{1BA655BD-90B0-42E5-8219-74BA6B3E1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0848" y="4105656"/>
            <a:ext cx="2331720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20" b="1">
                <a:solidFill>
                  <a:srgbClr val="16324F"/>
                </a:solidFill>
              </a:rPr>
              <a:t>Vendor &amp; customization dependency</a:t>
            </a:r>
            <a:endParaRPr sz="1320"/>
          </a:p>
        </p:txBody>
      </p:sp>
      <p:sp>
        <p:nvSpPr>
          <p:cNvPr id="37" name="Text 28">
            <a:extLst xmlns:a="http://schemas.openxmlformats.org/drawingml/2006/main">
              <a:ext uri="{FF2B5EF4-FFF2-40B4-BE49-F238E27FC236}">
                <a16:creationId xmlns:a16="http://schemas.microsoft.com/office/drawing/2014/main" id="{1CBED948-DE6E-4ECE-A8F7-4BE5DEE70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6488" y="4736592"/>
            <a:ext cx="2944368" cy="7589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D2B36"/>
                </a:solidFill>
              </a:rPr>
              <a:t>Closed or hard-coded systems make adaptation, integration and long-term ownership expensive.</a:t>
            </a:r>
            <a:endParaRPr sz="105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85664D01-0F3B-4556-ABA1-FE4EB5D81C61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292840" y="6574536"/>
            <a:ext cx="347472" cy="1645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8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5141912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E65E1677-BE2E-40F3-93E7-33D0959CD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10312"/>
            <a:ext cx="2011680" cy="27432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2F6F6A"/>
          </a:solidFill>
          <a:ln xmlns:a="http://schemas.openxmlformats.org/drawingml/2006/main" w="12700">
            <a:solidFill>
              <a:srgbClr val="2F6F6A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1FB9E340-BC42-43EB-B93C-6D0A03B52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51460"/>
            <a:ext cx="1865376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60" b="1" spc="80">
                <a:solidFill>
                  <a:srgbClr val="FFFFFF"/>
                </a:solidFill>
              </a:rPr>
              <a:t>STRATEGIC SHIFT</a:t>
            </a:r>
            <a:endParaRPr sz="76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73055873-01E0-40DC-B929-AD5C6B046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11480"/>
            <a:ext cx="1088136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16324F"/>
                </a:solidFill>
                <a:latin typeface="Aptos Display"/>
                <a:ea typeface="Aptos Display"/>
                <a:cs typeface="Aptos Display"/>
              </a:rPr>
              <a:t>The shift: from digitizing a checklist to operating a quality-improvement system</a:t>
            </a:r>
            <a:endParaRPr sz="25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CE2C5FA8-678B-46F8-912D-D98A6A954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69264"/>
            <a:ext cx="7315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0">
            <a:solidFill>
              <a:srgbClr val="F18A2A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70D5D170-6207-4624-AEDB-C5516A3E8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060704"/>
            <a:ext cx="109728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5F7180"/>
                </a:solidFill>
              </a:rPr>
              <a:t>SaQshi connects the full improvement loop instead of stopping after data capture.</a:t>
            </a:r>
            <a:endParaRPr sz="1150"/>
          </a:p>
        </p:txBody>
      </p:sp>
      <p:pic>
        <p:nvPicPr>
          <p:cNvPr id="5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df828410b741a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329184"/>
            <a:ext cx="841248" cy="292608"/>
          </a:xfrm>
          <a:prstGeom xmlns:a="http://schemas.openxmlformats.org/drawingml/2006/main" prst="rect">
            <a:avLst/>
          </a:prstGeom>
        </p:spPr>
      </p:pic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39006DCE-5E75-4671-BD5C-9528372AA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901952"/>
            <a:ext cx="11430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7940">
            <a:solidFill>
              <a:srgbClr val="2F6F6A"/>
            </a:solidFill>
            <a:prstDash val="solid"/>
          </a:ln>
        </p:spPr>
      </p:sp>
      <p:pic>
        <p:nvPicPr>
          <p:cNvPr id="60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8d7e65397c4961">
            <a:extLst>
              <a:ext uri="{96DAC541-7B7A-43D3-8B79-37D633B846F1}">
                <asvg:svgBlip xmlns:asvg="http://schemas.microsoft.com/office/drawing/2016/SVG/main" r:embed="Rdd6b9252e1a14786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7824" y="2148840"/>
            <a:ext cx="521208" cy="521208"/>
          </a:xfrm>
          <a:prstGeom xmlns:a="http://schemas.openxmlformats.org/drawingml/2006/main" prst="rect">
            <a:avLst/>
          </a:prstGeom>
        </p:spPr>
      </p:pic>
      <p:sp>
        <p:nvSpPr>
          <p:cNvPr id="10" name="Text 6">
            <a:extLst xmlns:a="http://schemas.openxmlformats.org/drawingml/2006/main">
              <a:ext uri="{FF2B5EF4-FFF2-40B4-BE49-F238E27FC236}">
                <a16:creationId xmlns:a16="http://schemas.microsoft.com/office/drawing/2014/main" id="{4855F2EF-3250-4C99-B423-7835982B3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" y="2743200"/>
            <a:ext cx="5029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50" b="1">
                <a:solidFill>
                  <a:srgbClr val="2F6F6A"/>
                </a:solidFill>
              </a:rPr>
              <a:t>01</a:t>
            </a:r>
            <a:endParaRPr sz="750"/>
          </a:p>
        </p:txBody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0A768FF5-1D38-4B7A-BE4E-69E8CC8C6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3227832"/>
            <a:ext cx="1600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16324F"/>
                </a:solidFill>
              </a:rPr>
              <a:t>Configure</a:t>
            </a:r>
            <a:endParaRPr sz="1300"/>
          </a:p>
        </p:txBody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99D631E2-F50E-4C13-B317-457CC005A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3639312"/>
            <a:ext cx="1737360" cy="9875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40">
                <a:solidFill>
                  <a:srgbClr val="5F7180"/>
                </a:solidFill>
              </a:rPr>
              <a:t>Framework, entity types, domains, checkpoints, scoring</a:t>
            </a:r>
            <a:endParaRPr sz="940"/>
          </a:p>
        </p:txBody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A1160C49-8ABF-408F-A473-8CF59B3FF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8216" y="2468880"/>
            <a:ext cx="69494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7940">
            <a:solidFill>
              <a:srgbClr val="AFC0CC"/>
            </a:solidFill>
            <a:prstDash val="solid"/>
            <a:headEnd type="none"/>
            <a:tailEnd type="triangle"/>
          </a:ln>
        </p:spPr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E47F6BB4-82AF-4251-8F41-89C88B130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1448" y="1901952"/>
            <a:ext cx="11430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7940">
            <a:solidFill>
              <a:srgbClr val="2D7FF9"/>
            </a:solidFill>
            <a:prstDash val="solid"/>
          </a:ln>
        </p:spPr>
      </p:sp>
      <p:pic>
        <p:nvPicPr>
          <p:cNvPr id="66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df6f79d2b443bf">
            <a:extLst>
              <a:ext uri="{96DAC541-7B7A-43D3-8B79-37D633B846F1}">
                <asvg:svgBlip xmlns:asvg="http://schemas.microsoft.com/office/drawing/2016/SVG/main" r:embed="R7eac09bc4ba549b2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52344" y="2148840"/>
            <a:ext cx="521208" cy="521208"/>
          </a:xfrm>
          <a:prstGeom xmlns:a="http://schemas.openxmlformats.org/drawingml/2006/main" prst="rect">
            <a:avLst/>
          </a:prstGeom>
        </p:spPr>
      </p:pic>
      <p:sp>
        <p:nvSpPr>
          <p:cNvPr id="16" name="Text 11">
            <a:extLst xmlns:a="http://schemas.openxmlformats.org/drawingml/2006/main">
              <a:ext uri="{FF2B5EF4-FFF2-40B4-BE49-F238E27FC236}">
                <a16:creationId xmlns:a16="http://schemas.microsoft.com/office/drawing/2014/main" id="{4EAB1DF6-36AF-4976-9826-B343B8CA1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1488" y="2743200"/>
            <a:ext cx="5029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50" b="1">
                <a:solidFill>
                  <a:srgbClr val="2D7FF9"/>
                </a:solidFill>
              </a:rPr>
              <a:t>02</a:t>
            </a:r>
            <a:endParaRPr sz="750"/>
          </a:p>
        </p:txBody>
      </p:sp>
      <p:sp>
        <p:nvSpPr>
          <p:cNvPr id="17" name="Text 12">
            <a:extLst xmlns:a="http://schemas.openxmlformats.org/drawingml/2006/main">
              <a:ext uri="{FF2B5EF4-FFF2-40B4-BE49-F238E27FC236}">
                <a16:creationId xmlns:a16="http://schemas.microsoft.com/office/drawing/2014/main" id="{BF53C877-09CB-4F06-B36B-4A3594852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2848" y="3227832"/>
            <a:ext cx="1600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16324F"/>
                </a:solidFill>
              </a:rPr>
              <a:t>Assess</a:t>
            </a:r>
            <a:endParaRPr sz="1300"/>
          </a:p>
        </p:txBody>
      </p:sp>
      <p:sp>
        <p:nvSpPr>
          <p:cNvPr id="18" name="Text 13">
            <a:extLst xmlns:a="http://schemas.openxmlformats.org/drawingml/2006/main">
              <a:ext uri="{FF2B5EF4-FFF2-40B4-BE49-F238E27FC236}">
                <a16:creationId xmlns:a16="http://schemas.microsoft.com/office/drawing/2014/main" id="{A2F0CE83-0785-4A57-B88E-DD1CCAC7A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8840" y="3639312"/>
            <a:ext cx="1737360" cy="9875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40">
                <a:solidFill>
                  <a:srgbClr val="5F7180"/>
                </a:solidFill>
              </a:rPr>
              <a:t>Digital response, evidence, progress, pause/resume</a:t>
            </a:r>
            <a:endParaRPr sz="940"/>
          </a:p>
        </p:txBody>
      </p:sp>
      <p:sp>
        <p:nvSpPr>
          <p:cNvPr id="19" name="Shape 14">
            <a:extLst xmlns:a="http://schemas.openxmlformats.org/drawingml/2006/main">
              <a:ext uri="{FF2B5EF4-FFF2-40B4-BE49-F238E27FC236}">
                <a16:creationId xmlns:a16="http://schemas.microsoft.com/office/drawing/2014/main" id="{32FFD6F8-86BD-4A11-B7A1-73BCAB883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2736" y="2468880"/>
            <a:ext cx="69494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7940">
            <a:solidFill>
              <a:srgbClr val="AFC0CC"/>
            </a:solidFill>
            <a:prstDash val="solid"/>
            <a:headEnd type="none"/>
            <a:tailEnd type="triangle"/>
          </a:ln>
        </p:spPr>
      </p:sp>
      <p:sp>
        <p:nvSpPr>
          <p:cNvPr id="20" name="Shape 15">
            <a:extLst xmlns:a="http://schemas.openxmlformats.org/drawingml/2006/main">
              <a:ext uri="{FF2B5EF4-FFF2-40B4-BE49-F238E27FC236}">
                <a16:creationId xmlns:a16="http://schemas.microsoft.com/office/drawing/2014/main" id="{CAADCCFF-9AFF-4C58-8239-78BF83E24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5968" y="1901952"/>
            <a:ext cx="11430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7940">
            <a:solidFill>
              <a:srgbClr val="F18A2A"/>
            </a:solidFill>
            <a:prstDash val="solid"/>
          </a:ln>
        </p:spPr>
      </p:sp>
      <p:pic>
        <p:nvPicPr>
          <p:cNvPr id="72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9b2d142fca4ad5">
            <a:extLst>
              <a:ext uri="{96DAC541-7B7A-43D3-8B79-37D633B846F1}">
                <asvg:svgBlip xmlns:asvg="http://schemas.microsoft.com/office/drawing/2016/SVG/main" r:embed="Rf5137798c82840d9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26864" y="2148840"/>
            <a:ext cx="521208" cy="521208"/>
          </a:xfrm>
          <a:prstGeom xmlns:a="http://schemas.openxmlformats.org/drawingml/2006/main" prst="rect">
            <a:avLst/>
          </a:prstGeom>
        </p:spPr>
      </p:pic>
      <p:sp>
        <p:nvSpPr>
          <p:cNvPr id="22" name="Text 16">
            <a:extLst xmlns:a="http://schemas.openxmlformats.org/drawingml/2006/main">
              <a:ext uri="{FF2B5EF4-FFF2-40B4-BE49-F238E27FC236}">
                <a16:creationId xmlns:a16="http://schemas.microsoft.com/office/drawing/2014/main" id="{10490AEB-95FF-4A1F-8C71-570AB1AB2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6008" y="2743200"/>
            <a:ext cx="5029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50" b="1">
                <a:solidFill>
                  <a:srgbClr val="F18A2A"/>
                </a:solidFill>
              </a:rPr>
              <a:t>03</a:t>
            </a:r>
            <a:endParaRPr sz="750"/>
          </a:p>
        </p:txBody>
      </p:sp>
      <p:sp>
        <p:nvSpPr>
          <p:cNvPr id="23" name="Text 17">
            <a:extLst xmlns:a="http://schemas.openxmlformats.org/drawingml/2006/main">
              <a:ext uri="{FF2B5EF4-FFF2-40B4-BE49-F238E27FC236}">
                <a16:creationId xmlns:a16="http://schemas.microsoft.com/office/drawing/2014/main" id="{AEA2E740-FFC1-43AA-9DF6-8EBB858F0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7368" y="3227832"/>
            <a:ext cx="1600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16324F"/>
                </a:solidFill>
              </a:rPr>
              <a:t>Improve</a:t>
            </a:r>
            <a:endParaRPr sz="1300"/>
          </a:p>
        </p:txBody>
      </p:sp>
      <p:sp>
        <p:nvSpPr>
          <p:cNvPr id="24" name="Text 18">
            <a:extLst xmlns:a="http://schemas.openxmlformats.org/drawingml/2006/main">
              <a:ext uri="{FF2B5EF4-FFF2-40B4-BE49-F238E27FC236}">
                <a16:creationId xmlns:a16="http://schemas.microsoft.com/office/drawing/2014/main" id="{84CBEFB3-774F-44EF-AD8E-05F1DCAB9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3360" y="3639312"/>
            <a:ext cx="1737360" cy="9875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40">
                <a:solidFill>
                  <a:srgbClr val="5F7180"/>
                </a:solidFill>
              </a:rPr>
              <a:t>Gap analysis, action plan, owner, target date, closure</a:t>
            </a:r>
            <a:endParaRPr sz="940"/>
          </a:p>
        </p:txBody>
      </p:sp>
      <p:sp>
        <p:nvSpPr>
          <p:cNvPr id="25" name="Shape 19">
            <a:extLst xmlns:a="http://schemas.openxmlformats.org/drawingml/2006/main">
              <a:ext uri="{FF2B5EF4-FFF2-40B4-BE49-F238E27FC236}">
                <a16:creationId xmlns:a16="http://schemas.microsoft.com/office/drawing/2014/main" id="{DE3AB722-95EA-4DC7-9FBD-3CFF3650F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7256" y="2468880"/>
            <a:ext cx="69494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7940">
            <a:solidFill>
              <a:srgbClr val="AFC0CC"/>
            </a:solidFill>
            <a:prstDash val="solid"/>
            <a:headEnd type="none"/>
            <a:tailEnd type="triangle"/>
          </a:ln>
        </p:spPr>
      </p:sp>
      <p:sp>
        <p:nvSpPr>
          <p:cNvPr id="26" name="Shape 20">
            <a:extLst xmlns:a="http://schemas.openxmlformats.org/drawingml/2006/main">
              <a:ext uri="{FF2B5EF4-FFF2-40B4-BE49-F238E27FC236}">
                <a16:creationId xmlns:a16="http://schemas.microsoft.com/office/drawing/2014/main" id="{14C1B17F-3692-45B8-AD35-6A5346264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0488" y="1901952"/>
            <a:ext cx="11430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7940">
            <a:solidFill>
              <a:srgbClr val="7B61FF"/>
            </a:solidFill>
            <a:prstDash val="solid"/>
          </a:ln>
        </p:spPr>
      </p:sp>
      <p:pic>
        <p:nvPicPr>
          <p:cNvPr id="78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2472bb516b41ea">
            <a:extLst>
              <a:ext uri="{96DAC541-7B7A-43D3-8B79-37D633B846F1}">
                <asvg:svgBlip xmlns:asvg="http://schemas.microsoft.com/office/drawing/2016/SVG/main" r:embed="Raed2c3a9540f4b8d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01384" y="2148840"/>
            <a:ext cx="521208" cy="521208"/>
          </a:xfrm>
          <a:prstGeom xmlns:a="http://schemas.openxmlformats.org/drawingml/2006/main" prst="rect">
            <a:avLst/>
          </a:prstGeom>
        </p:spPr>
      </p:pic>
      <p:sp>
        <p:nvSpPr>
          <p:cNvPr id="28" name="Text 21">
            <a:extLst xmlns:a="http://schemas.openxmlformats.org/drawingml/2006/main">
              <a:ext uri="{FF2B5EF4-FFF2-40B4-BE49-F238E27FC236}">
                <a16:creationId xmlns:a16="http://schemas.microsoft.com/office/drawing/2014/main" id="{30000DE0-9A43-4D88-9C72-D5047BFB0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0528" y="2743200"/>
            <a:ext cx="5029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50" b="1">
                <a:solidFill>
                  <a:srgbClr val="7B61FF"/>
                </a:solidFill>
              </a:rPr>
              <a:t>04</a:t>
            </a:r>
            <a:endParaRPr sz="750"/>
          </a:p>
        </p:txBody>
      </p:sp>
      <p:sp>
        <p:nvSpPr>
          <p:cNvPr id="29" name="Text 22">
            <a:extLst xmlns:a="http://schemas.openxmlformats.org/drawingml/2006/main">
              <a:ext uri="{FF2B5EF4-FFF2-40B4-BE49-F238E27FC236}">
                <a16:creationId xmlns:a16="http://schemas.microsoft.com/office/drawing/2014/main" id="{77CCD090-9CA0-4770-9BA3-6F5E97F4B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1888" y="3227832"/>
            <a:ext cx="1600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16324F"/>
                </a:solidFill>
              </a:rPr>
              <a:t>Monitor</a:t>
            </a:r>
            <a:endParaRPr sz="1300"/>
          </a:p>
        </p:txBody>
      </p:sp>
      <p:sp>
        <p:nvSpPr>
          <p:cNvPr id="30" name="Text 23">
            <a:extLst xmlns:a="http://schemas.openxmlformats.org/drawingml/2006/main">
              <a:ext uri="{FF2B5EF4-FFF2-40B4-BE49-F238E27FC236}">
                <a16:creationId xmlns:a16="http://schemas.microsoft.com/office/drawing/2014/main" id="{10058994-188F-43CB-8A77-C25F75C18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3639312"/>
            <a:ext cx="1737360" cy="9875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40">
                <a:solidFill>
                  <a:srgbClr val="5F7180"/>
                </a:solidFill>
              </a:rPr>
              <a:t>KPI / outcome entry, formulas, validation and trends</a:t>
            </a:r>
            <a:endParaRPr sz="940"/>
          </a:p>
        </p:txBody>
      </p:sp>
      <p:sp>
        <p:nvSpPr>
          <p:cNvPr id="31" name="Shape 24">
            <a:extLst xmlns:a="http://schemas.openxmlformats.org/drawingml/2006/main">
              <a:ext uri="{FF2B5EF4-FFF2-40B4-BE49-F238E27FC236}">
                <a16:creationId xmlns:a16="http://schemas.microsoft.com/office/drawing/2014/main" id="{998D2E16-FB59-4315-90A0-E782402CE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1776" y="2468880"/>
            <a:ext cx="69494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7940">
            <a:solidFill>
              <a:srgbClr val="AFC0CC"/>
            </a:solidFill>
            <a:prstDash val="solid"/>
            <a:headEnd type="none"/>
            <a:tailEnd type="triangle"/>
          </a:ln>
        </p:spPr>
      </p:sp>
      <p:sp>
        <p:nvSpPr>
          <p:cNvPr id="32" name="Shape 25">
            <a:extLst xmlns:a="http://schemas.openxmlformats.org/drawingml/2006/main">
              <a:ext uri="{FF2B5EF4-FFF2-40B4-BE49-F238E27FC236}">
                <a16:creationId xmlns:a16="http://schemas.microsoft.com/office/drawing/2014/main" id="{227B6E2C-799A-4DC0-902C-5E35C21AF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5008" y="1901952"/>
            <a:ext cx="11430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7940">
            <a:solidFill>
              <a:srgbClr val="2CB67D"/>
            </a:solidFill>
            <a:prstDash val="solid"/>
          </a:ln>
        </p:spPr>
      </p:sp>
      <p:pic>
        <p:nvPicPr>
          <p:cNvPr id="84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6da2261e004bbe">
            <a:extLst>
              <a:ext uri="{96DAC541-7B7A-43D3-8B79-37D633B846F1}">
                <asvg:svgBlip xmlns:asvg="http://schemas.microsoft.com/office/drawing/2016/SVG/main" r:embed="Rdc2f0d56bff447ec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75904" y="2148840"/>
            <a:ext cx="521208" cy="521208"/>
          </a:xfrm>
          <a:prstGeom xmlns:a="http://schemas.openxmlformats.org/drawingml/2006/main" prst="rect">
            <a:avLst/>
          </a:prstGeom>
        </p:spPr>
      </p:pic>
      <p:sp>
        <p:nvSpPr>
          <p:cNvPr id="34" name="Text 26">
            <a:extLst xmlns:a="http://schemas.openxmlformats.org/drawingml/2006/main">
              <a:ext uri="{FF2B5EF4-FFF2-40B4-BE49-F238E27FC236}">
                <a16:creationId xmlns:a16="http://schemas.microsoft.com/office/drawing/2014/main" id="{EC8E069E-D553-4C2E-AB88-8CAD0D0EA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2743200"/>
            <a:ext cx="5029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50" b="1">
                <a:solidFill>
                  <a:srgbClr val="2CB67D"/>
                </a:solidFill>
              </a:rPr>
              <a:t>05</a:t>
            </a:r>
            <a:endParaRPr sz="750"/>
          </a:p>
        </p:txBody>
      </p:sp>
      <p:sp>
        <p:nvSpPr>
          <p:cNvPr id="35" name="Text 27">
            <a:extLst xmlns:a="http://schemas.openxmlformats.org/drawingml/2006/main">
              <a:ext uri="{FF2B5EF4-FFF2-40B4-BE49-F238E27FC236}">
                <a16:creationId xmlns:a16="http://schemas.microsoft.com/office/drawing/2014/main" id="{FE10B764-6A15-4B76-90D4-631E31620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6408" y="3227832"/>
            <a:ext cx="1600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16324F"/>
                </a:solidFill>
              </a:rPr>
              <a:t>Certify</a:t>
            </a:r>
            <a:endParaRPr sz="1300"/>
          </a:p>
        </p:txBody>
      </p:sp>
      <p:sp>
        <p:nvSpPr>
          <p:cNvPr id="36" name="Text 28">
            <a:extLst xmlns:a="http://schemas.openxmlformats.org/drawingml/2006/main">
              <a:ext uri="{FF2B5EF4-FFF2-40B4-BE49-F238E27FC236}">
                <a16:creationId xmlns:a16="http://schemas.microsoft.com/office/drawing/2014/main" id="{679EF9C1-32A1-411B-9E76-A5B08185D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639312"/>
            <a:ext cx="1737360" cy="9875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40">
                <a:solidFill>
                  <a:srgbClr val="5F7180"/>
                </a:solidFill>
              </a:rPr>
              <a:t>Certification type, validity, renewal and history</a:t>
            </a:r>
            <a:endParaRPr sz="940"/>
          </a:p>
        </p:txBody>
      </p:sp>
      <p:sp>
        <p:nvSpPr>
          <p:cNvPr id="37" name="Shape 29">
            <a:extLst xmlns:a="http://schemas.openxmlformats.org/drawingml/2006/main">
              <a:ext uri="{FF2B5EF4-FFF2-40B4-BE49-F238E27FC236}">
                <a16:creationId xmlns:a16="http://schemas.microsoft.com/office/drawing/2014/main" id="{A54D541F-849F-43AF-B119-7CE52B320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2468880"/>
            <a:ext cx="69494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7940">
            <a:solidFill>
              <a:srgbClr val="AFC0CC"/>
            </a:solidFill>
            <a:prstDash val="solid"/>
            <a:headEnd type="none"/>
            <a:tailEnd type="triangle"/>
          </a:ln>
        </p:spPr>
      </p:sp>
      <p:sp>
        <p:nvSpPr>
          <p:cNvPr id="38" name="Shape 30">
            <a:extLst xmlns:a="http://schemas.openxmlformats.org/drawingml/2006/main">
              <a:ext uri="{FF2B5EF4-FFF2-40B4-BE49-F238E27FC236}">
                <a16:creationId xmlns:a16="http://schemas.microsoft.com/office/drawing/2014/main" id="{6C53B9BC-74D6-4103-878E-D7B239935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9528" y="1901952"/>
            <a:ext cx="11430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7940">
            <a:solidFill>
              <a:srgbClr val="E84A5F"/>
            </a:solidFill>
            <a:prstDash val="solid"/>
          </a:ln>
        </p:spPr>
      </p:sp>
      <p:pic>
        <p:nvPicPr>
          <p:cNvPr id="90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27695264c24000">
            <a:extLst>
              <a:ext uri="{96DAC541-7B7A-43D3-8B79-37D633B846F1}">
                <asvg:svgBlip xmlns:asvg="http://schemas.microsoft.com/office/drawing/2016/SVG/main" r:embed="Rfcbd88c9f080411e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250424" y="2148840"/>
            <a:ext cx="521208" cy="521208"/>
          </a:xfrm>
          <a:prstGeom xmlns:a="http://schemas.openxmlformats.org/drawingml/2006/main" prst="rect">
            <a:avLst/>
          </a:prstGeom>
        </p:spPr>
      </p:pic>
      <p:sp>
        <p:nvSpPr>
          <p:cNvPr id="40" name="Text 31">
            <a:extLst xmlns:a="http://schemas.openxmlformats.org/drawingml/2006/main">
              <a:ext uri="{FF2B5EF4-FFF2-40B4-BE49-F238E27FC236}">
                <a16:creationId xmlns:a16="http://schemas.microsoft.com/office/drawing/2014/main" id="{37318BCF-BEA2-47F0-822B-7AD0D6E96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9568" y="2743200"/>
            <a:ext cx="5029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50" b="1">
                <a:solidFill>
                  <a:srgbClr val="E84A5F"/>
                </a:solidFill>
              </a:rPr>
              <a:t>06</a:t>
            </a:r>
            <a:endParaRPr sz="750"/>
          </a:p>
        </p:txBody>
      </p:sp>
      <p:sp>
        <p:nvSpPr>
          <p:cNvPr id="41" name="Text 32">
            <a:extLst xmlns:a="http://schemas.openxmlformats.org/drawingml/2006/main">
              <a:ext uri="{FF2B5EF4-FFF2-40B4-BE49-F238E27FC236}">
                <a16:creationId xmlns:a16="http://schemas.microsoft.com/office/drawing/2014/main" id="{65AB4F76-340D-4B94-8100-8D00D1D47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0928" y="3227832"/>
            <a:ext cx="1600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16324F"/>
                </a:solidFill>
              </a:rPr>
              <a:t>Learn</a:t>
            </a:r>
            <a:endParaRPr sz="1300"/>
          </a:p>
        </p:txBody>
      </p:sp>
      <p:sp>
        <p:nvSpPr>
          <p:cNvPr id="42" name="Text 33">
            <a:extLst xmlns:a="http://schemas.openxmlformats.org/drawingml/2006/main">
              <a:ext uri="{FF2B5EF4-FFF2-40B4-BE49-F238E27FC236}">
                <a16:creationId xmlns:a16="http://schemas.microsoft.com/office/drawing/2014/main" id="{EFD2CD04-6DE8-4D58-A922-DF74ECBBD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920" y="3639312"/>
            <a:ext cx="1737360" cy="9875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40">
                <a:solidFill>
                  <a:srgbClr val="5F7180"/>
                </a:solidFill>
              </a:rPr>
              <a:t>Dashboards, drill-down, reports and resource feedback</a:t>
            </a:r>
            <a:endParaRPr sz="940"/>
          </a:p>
        </p:txBody>
      </p:sp>
      <p:sp>
        <p:nvSpPr>
          <p:cNvPr id="43" name="Shape 34">
            <a:extLst xmlns:a="http://schemas.openxmlformats.org/drawingml/2006/main">
              <a:ext uri="{FF2B5EF4-FFF2-40B4-BE49-F238E27FC236}">
                <a16:creationId xmlns:a16="http://schemas.microsoft.com/office/drawing/2014/main" id="{59C15B0D-9030-4580-8306-9B45C6C07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5138928"/>
            <a:ext cx="9372600" cy="713232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AF5F3"/>
          </a:solidFill>
          <a:ln xmlns:a="http://schemas.openxmlformats.org/drawingml/2006/main" w="12700">
            <a:solidFill>
              <a:srgbClr val="CFE8E4"/>
            </a:solidFill>
            <a:prstDash val="solid"/>
          </a:ln>
        </p:spPr>
      </p:sp>
      <p:sp>
        <p:nvSpPr>
          <p:cNvPr id="44" name="Text 35">
            <a:extLst xmlns:a="http://schemas.openxmlformats.org/drawingml/2006/main">
              <a:ext uri="{FF2B5EF4-FFF2-40B4-BE49-F238E27FC236}">
                <a16:creationId xmlns:a16="http://schemas.microsoft.com/office/drawing/2014/main" id="{488CA1DB-CD14-49DD-AAEE-FAF354888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7360" y="5367528"/>
            <a:ext cx="8686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20" b="1">
                <a:solidFill>
                  <a:srgbClr val="2F6F6A"/>
                </a:solidFill>
              </a:rPr>
              <a:t>Continuous Quality Improvement (CQI) loop: each reassessment creates a new evidence-backed improvement history instead of replacing the past.</a:t>
            </a:r>
            <a:endParaRPr sz="1220"/>
          </a:p>
        </p:txBody>
      </p:sp>
      <p:sp>
        <p:nvSpPr>
          <p:cNvPr id="52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C7995DD4-7CDC-47A0-86BD-B5AB8B82147A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292840" y="6574536"/>
            <a:ext cx="347472" cy="1645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8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7143164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D7C63E7-25BB-4046-972E-FBDC8BCDB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10312"/>
            <a:ext cx="2011680" cy="27432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2F6F6A"/>
          </a:solidFill>
          <a:ln xmlns:a="http://schemas.openxmlformats.org/drawingml/2006/main" w="12700">
            <a:solidFill>
              <a:srgbClr val="2F6F6A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F770853-D4B2-4C2E-9F55-713CA1970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51460"/>
            <a:ext cx="1865376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60" b="1" spc="80">
                <a:solidFill>
                  <a:srgbClr val="FFFFFF"/>
                </a:solidFill>
              </a:rPr>
              <a:t>PLATFORM</a:t>
            </a:r>
            <a:endParaRPr sz="76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E3AA8429-3078-4A00-8D5E-E1DDB838A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11480"/>
            <a:ext cx="1088136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16324F"/>
                </a:solidFill>
                <a:latin typeface="Aptos Display"/>
                <a:ea typeface="Aptos Display"/>
                <a:cs typeface="Aptos Display"/>
              </a:rPr>
              <a:t>One core engine, many sectors and frameworks</a:t>
            </a:r>
            <a:endParaRPr sz="25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1B20E666-ED24-4A1B-AFD0-8E61B5FA3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69264"/>
            <a:ext cx="7315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0">
            <a:solidFill>
              <a:srgbClr val="F18A2A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E9EE1C60-6AC3-4110-ADA4-C0A8281DC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060704"/>
            <a:ext cx="109728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5F7180"/>
                </a:solidFill>
              </a:rPr>
              <a:t>The reusable platform separates common capabilities from sector-specific configuration.</a:t>
            </a:r>
            <a:endParaRPr sz="1150"/>
          </a:p>
        </p:txBody>
      </p:sp>
      <p:pic>
        <p:nvPicPr>
          <p:cNvPr id="8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744cf40c574ce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329184"/>
            <a:ext cx="841248" cy="292608"/>
          </a:xfrm>
          <a:prstGeom xmlns:a="http://schemas.openxmlformats.org/drawingml/2006/main" prst="rect">
            <a:avLst/>
          </a:prstGeom>
        </p:spPr>
      </p:pic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7B9D8EF8-54B8-4220-A1F1-5413C2277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520" y="1920240"/>
            <a:ext cx="3886200" cy="356616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16324F"/>
          </a:solidFill>
          <a:ln xmlns:a="http://schemas.openxmlformats.org/drawingml/2006/main" w="12700">
            <a:solidFill>
              <a:srgbClr val="16324F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CBD4DA">
                <a:alpha val="14000"/>
              </a:srgbClr>
            </a:outerShdw>
          </a:effectLst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7EC8A7A5-0D98-4F3E-B7C3-89C8B2202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1728" y="2212848"/>
            <a:ext cx="28346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100" b="1">
                <a:solidFill>
                  <a:srgbClr val="FFFFFF"/>
                </a:solidFill>
              </a:rPr>
              <a:t>SaQshi Core Platform</a:t>
            </a:r>
            <a:endParaRPr sz="2100"/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FAF33C22-7CBA-4A8F-8D0F-8BA7462DB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3984" y="2852928"/>
            <a:ext cx="1444752" cy="530352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24415B"/>
          </a:solidFill>
          <a:ln xmlns:a="http://schemas.openxmlformats.org/drawingml/2006/main" w="12700">
            <a:solidFill>
              <a:srgbClr val="38566F"/>
            </a:solidFill>
            <a:prstDash val="solid"/>
          </a:ln>
        </p:spPr>
      </p:sp>
      <p:pic>
        <p:nvPicPr>
          <p:cNvPr id="87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43e7d98f8b4f89">
            <a:extLst>
              <a:ext uri="{96DAC541-7B7A-43D3-8B79-37D633B846F1}">
                <asvg:svgBlip xmlns:asvg="http://schemas.microsoft.com/office/drawing/2016/SVG/main" r:embed="R43c0b19d85b04ccd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44568" y="2980944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967E170C-026D-4504-85AA-0BFEF5819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8032" y="2971800"/>
            <a:ext cx="950976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90" b="1">
                <a:solidFill>
                  <a:srgbClr val="FFFFFF"/>
                </a:solidFill>
              </a:rPr>
              <a:t>Identity &amp; RBAC</a:t>
            </a:r>
            <a:endParaRPr sz="890"/>
          </a:p>
        </p:txBody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D7B263D4-E7A3-41C4-B55B-BAD735974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4768" y="2852928"/>
            <a:ext cx="1444752" cy="530352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24415B"/>
          </a:solidFill>
          <a:ln xmlns:a="http://schemas.openxmlformats.org/drawingml/2006/main" w="12700">
            <a:solidFill>
              <a:srgbClr val="38566F"/>
            </a:solidFill>
            <a:prstDash val="solid"/>
          </a:ln>
        </p:spPr>
      </p:sp>
      <p:pic>
        <p:nvPicPr>
          <p:cNvPr id="90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06756f50d7434f">
            <a:extLst>
              <a:ext uri="{96DAC541-7B7A-43D3-8B79-37D633B846F1}">
                <asvg:svgBlip xmlns:asvg="http://schemas.microsoft.com/office/drawing/2016/SVG/main" r:embed="R1449d3deef3f4f0b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45352" y="2980944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5" name="Text 10">
            <a:extLst xmlns:a="http://schemas.openxmlformats.org/drawingml/2006/main">
              <a:ext uri="{FF2B5EF4-FFF2-40B4-BE49-F238E27FC236}">
                <a16:creationId xmlns:a16="http://schemas.microsoft.com/office/drawing/2014/main" id="{6191BC0D-0081-486A-96F6-842EC1B2C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8816" y="2971800"/>
            <a:ext cx="950976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90" b="1">
                <a:solidFill>
                  <a:srgbClr val="FFFFFF"/>
                </a:solidFill>
              </a:rPr>
              <a:t>Framework Engine</a:t>
            </a:r>
            <a:endParaRPr sz="890"/>
          </a:p>
        </p:txBody>
      </p:sp>
      <p:sp>
        <p:nvSpPr>
          <p:cNvPr id="16" name="Shape 11">
            <a:extLst xmlns:a="http://schemas.openxmlformats.org/drawingml/2006/main">
              <a:ext uri="{FF2B5EF4-FFF2-40B4-BE49-F238E27FC236}">
                <a16:creationId xmlns:a16="http://schemas.microsoft.com/office/drawing/2014/main" id="{D8FD71C7-AE32-4841-847E-396828A8C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3984" y="3566160"/>
            <a:ext cx="1444752" cy="530352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24415B"/>
          </a:solidFill>
          <a:ln xmlns:a="http://schemas.openxmlformats.org/drawingml/2006/main" w="12700">
            <a:solidFill>
              <a:srgbClr val="38566F"/>
            </a:solidFill>
            <a:prstDash val="solid"/>
          </a:ln>
        </p:spPr>
      </p:sp>
      <p:pic>
        <p:nvPicPr>
          <p:cNvPr id="93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67f5e9faee448d">
            <a:extLst>
              <a:ext uri="{96DAC541-7B7A-43D3-8B79-37D633B846F1}">
                <asvg:svgBlip xmlns:asvg="http://schemas.microsoft.com/office/drawing/2016/SVG/main" r:embed="R551d69a16e6d418a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44568" y="3694176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8" name="Text 12">
            <a:extLst xmlns:a="http://schemas.openxmlformats.org/drawingml/2006/main">
              <a:ext uri="{FF2B5EF4-FFF2-40B4-BE49-F238E27FC236}">
                <a16:creationId xmlns:a16="http://schemas.microsoft.com/office/drawing/2014/main" id="{2FC29435-7C93-4746-B7CF-73FCF0B02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8032" y="3685032"/>
            <a:ext cx="950976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90" b="1">
                <a:solidFill>
                  <a:srgbClr val="FFFFFF"/>
                </a:solidFill>
              </a:rPr>
              <a:t>Assessment &amp; Scoring</a:t>
            </a:r>
            <a:endParaRPr sz="890"/>
          </a:p>
        </p:txBody>
      </p:sp>
      <p:sp>
        <p:nvSpPr>
          <p:cNvPr id="19" name="Shape 13">
            <a:extLst xmlns:a="http://schemas.openxmlformats.org/drawingml/2006/main">
              <a:ext uri="{FF2B5EF4-FFF2-40B4-BE49-F238E27FC236}">
                <a16:creationId xmlns:a16="http://schemas.microsoft.com/office/drawing/2014/main" id="{D5ED7627-67DB-4907-8E1A-73D28D604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4768" y="3566160"/>
            <a:ext cx="1444752" cy="530352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24415B"/>
          </a:solidFill>
          <a:ln xmlns:a="http://schemas.openxmlformats.org/drawingml/2006/main" w="12700">
            <a:solidFill>
              <a:srgbClr val="38566F"/>
            </a:solidFill>
            <a:prstDash val="solid"/>
          </a:ln>
        </p:spPr>
      </p:sp>
      <p:pic>
        <p:nvPicPr>
          <p:cNvPr id="96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d5d0414ed04356">
            <a:extLst>
              <a:ext uri="{96DAC541-7B7A-43D3-8B79-37D633B846F1}">
                <asvg:svgBlip xmlns:asvg="http://schemas.microsoft.com/office/drawing/2016/SVG/main" r:embed="Rfd8ab046464d4c4a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45352" y="3694176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1" name="Text 14">
            <a:extLst xmlns:a="http://schemas.openxmlformats.org/drawingml/2006/main">
              <a:ext uri="{FF2B5EF4-FFF2-40B4-BE49-F238E27FC236}">
                <a16:creationId xmlns:a16="http://schemas.microsoft.com/office/drawing/2014/main" id="{5817D848-0AA5-4739-9BE5-5C2205C49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8816" y="3685032"/>
            <a:ext cx="950976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90" b="1">
                <a:solidFill>
                  <a:srgbClr val="FFFFFF"/>
                </a:solidFill>
              </a:rPr>
              <a:t>CQI / Action Plan</a:t>
            </a:r>
            <a:endParaRPr sz="890"/>
          </a:p>
        </p:txBody>
      </p:sp>
      <p:sp>
        <p:nvSpPr>
          <p:cNvPr id="22" name="Shape 15">
            <a:extLst xmlns:a="http://schemas.openxmlformats.org/drawingml/2006/main">
              <a:ext uri="{FF2B5EF4-FFF2-40B4-BE49-F238E27FC236}">
                <a16:creationId xmlns:a16="http://schemas.microsoft.com/office/drawing/2014/main" id="{826AD928-BFAA-4279-B7F6-4562973EF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3984" y="4279392"/>
            <a:ext cx="1444752" cy="530352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24415B"/>
          </a:solidFill>
          <a:ln xmlns:a="http://schemas.openxmlformats.org/drawingml/2006/main" w="12700">
            <a:solidFill>
              <a:srgbClr val="38566F"/>
            </a:solidFill>
            <a:prstDash val="solid"/>
          </a:ln>
        </p:spPr>
      </p:sp>
      <p:pic>
        <p:nvPicPr>
          <p:cNvPr id="99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7adacb22b843c1">
            <a:extLst>
              <a:ext uri="{96DAC541-7B7A-43D3-8B79-37D633B846F1}">
                <asvg:svgBlip xmlns:asvg="http://schemas.microsoft.com/office/drawing/2016/SVG/main" r:embed="R343d8759d3764ebf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44568" y="4407408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4" name="Text 16">
            <a:extLst xmlns:a="http://schemas.openxmlformats.org/drawingml/2006/main">
              <a:ext uri="{FF2B5EF4-FFF2-40B4-BE49-F238E27FC236}">
                <a16:creationId xmlns:a16="http://schemas.microsoft.com/office/drawing/2014/main" id="{E7443144-5459-48F0-8AE6-813466D2C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8032" y="4398264"/>
            <a:ext cx="950976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90" b="1">
                <a:solidFill>
                  <a:srgbClr val="FFFFFF"/>
                </a:solidFill>
              </a:rPr>
              <a:t>KPI / Outcomes</a:t>
            </a:r>
            <a:endParaRPr sz="890"/>
          </a:p>
        </p:txBody>
      </p:sp>
      <p:sp>
        <p:nvSpPr>
          <p:cNvPr id="25" name="Shape 17">
            <a:extLst xmlns:a="http://schemas.openxmlformats.org/drawingml/2006/main">
              <a:ext uri="{FF2B5EF4-FFF2-40B4-BE49-F238E27FC236}">
                <a16:creationId xmlns:a16="http://schemas.microsoft.com/office/drawing/2014/main" id="{F287BCEC-0397-4F47-9DDC-F6E8BBF42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4768" y="4279392"/>
            <a:ext cx="1444752" cy="530352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24415B"/>
          </a:solidFill>
          <a:ln xmlns:a="http://schemas.openxmlformats.org/drawingml/2006/main" w="12700">
            <a:solidFill>
              <a:srgbClr val="38566F"/>
            </a:solidFill>
            <a:prstDash val="solid"/>
          </a:ln>
        </p:spPr>
      </p:sp>
      <p:pic>
        <p:nvPicPr>
          <p:cNvPr id="102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cf0899e429467c">
            <a:extLst>
              <a:ext uri="{96DAC541-7B7A-43D3-8B79-37D633B846F1}">
                <asvg:svgBlip xmlns:asvg="http://schemas.microsoft.com/office/drawing/2016/SVG/main" r:embed="Rb97586eb19dd4033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45352" y="4407408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7" name="Text 18">
            <a:extLst xmlns:a="http://schemas.openxmlformats.org/drawingml/2006/main">
              <a:ext uri="{FF2B5EF4-FFF2-40B4-BE49-F238E27FC236}">
                <a16:creationId xmlns:a16="http://schemas.microsoft.com/office/drawing/2014/main" id="{ED336F66-2EE4-447A-9C8E-DDE98B588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8816" y="4398264"/>
            <a:ext cx="950976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90" b="1">
                <a:solidFill>
                  <a:srgbClr val="FFFFFF"/>
                </a:solidFill>
              </a:rPr>
              <a:t>Analytics &amp; Export</a:t>
            </a:r>
            <a:endParaRPr sz="890"/>
          </a:p>
        </p:txBody>
      </p:sp>
      <p:sp>
        <p:nvSpPr>
          <p:cNvPr id="28" name="Shape 19">
            <a:extLst xmlns:a="http://schemas.openxmlformats.org/drawingml/2006/main">
              <a:ext uri="{FF2B5EF4-FFF2-40B4-BE49-F238E27FC236}">
                <a16:creationId xmlns:a16="http://schemas.microsoft.com/office/drawing/2014/main" id="{BE5D527D-9960-488D-BF8C-69332F4F5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5960"/>
            <a:ext cx="2834640" cy="96012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4EA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CBD4DA">
                <a:alpha val="14000"/>
              </a:srgbClr>
            </a:outerShdw>
          </a:effectLst>
        </p:spPr>
      </p:sp>
      <p:sp>
        <p:nvSpPr>
          <p:cNvPr id="29" name="Shape 20">
            <a:extLst xmlns:a="http://schemas.openxmlformats.org/drawingml/2006/main">
              <a:ext uri="{FF2B5EF4-FFF2-40B4-BE49-F238E27FC236}">
                <a16:creationId xmlns:a16="http://schemas.microsoft.com/office/drawing/2014/main" id="{F3177AE7-3C98-4857-B145-832EE0A20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2194560"/>
            <a:ext cx="493776" cy="49377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F2"/>
          </a:solidFill>
          <a:ln xmlns:a="http://schemas.openxmlformats.org/drawingml/2006/main" w="12700">
            <a:solidFill>
              <a:srgbClr val="EAF8F2"/>
            </a:solidFill>
            <a:prstDash val="solid"/>
          </a:ln>
        </p:spPr>
      </p:sp>
      <p:pic>
        <p:nvPicPr>
          <p:cNvPr id="106" name="Imag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278014e9754e0e">
            <a:extLst>
              <a:ext uri="{96DAC541-7B7A-43D3-8B79-37D633B846F1}">
                <asvg:svgBlip xmlns:asvg="http://schemas.microsoft.com/office/drawing/2016/SVG/main" r:embed="Rdabf0e86f85740dc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2124" y="2290572"/>
            <a:ext cx="301752" cy="301752"/>
          </a:xfrm>
          <a:prstGeom xmlns:a="http://schemas.openxmlformats.org/drawingml/2006/main" prst="rect">
            <a:avLst/>
          </a:prstGeom>
        </p:spPr>
      </p:pic>
      <p:sp>
        <p:nvSpPr>
          <p:cNvPr id="31" name="Text 21">
            <a:extLst xmlns:a="http://schemas.openxmlformats.org/drawingml/2006/main">
              <a:ext uri="{FF2B5EF4-FFF2-40B4-BE49-F238E27FC236}">
                <a16:creationId xmlns:a16="http://schemas.microsoft.com/office/drawing/2014/main" id="{96A17D08-4634-4264-A265-805D9233E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7048" y="2157984"/>
            <a:ext cx="1645920" cy="3017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20" b="1">
                <a:solidFill>
                  <a:srgbClr val="16324F"/>
                </a:solidFill>
              </a:rPr>
              <a:t>Health</a:t>
            </a:r>
            <a:endParaRPr sz="1320"/>
          </a:p>
        </p:txBody>
      </p:sp>
      <p:sp>
        <p:nvSpPr>
          <p:cNvPr id="32" name="Text 22">
            <a:extLst xmlns:a="http://schemas.openxmlformats.org/drawingml/2006/main">
              <a:ext uri="{FF2B5EF4-FFF2-40B4-BE49-F238E27FC236}">
                <a16:creationId xmlns:a16="http://schemas.microsoft.com/office/drawing/2014/main" id="{330F81FF-486C-42C8-9D45-B73681599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7048" y="2496312"/>
            <a:ext cx="1691640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20">
                <a:solidFill>
                  <a:srgbClr val="5F7180"/>
                </a:solidFill>
              </a:rPr>
              <a:t>NQAS • MusQan • LaQshya</a:t>
            </a:r>
            <a:endParaRPr sz="920"/>
          </a:p>
        </p:txBody>
      </p:sp>
      <p:sp>
        <p:nvSpPr>
          <p:cNvPr id="33" name="Shape 23">
            <a:extLst xmlns:a="http://schemas.openxmlformats.org/drawingml/2006/main">
              <a:ext uri="{FF2B5EF4-FFF2-40B4-BE49-F238E27FC236}">
                <a16:creationId xmlns:a16="http://schemas.microsoft.com/office/drawing/2014/main" id="{588542B3-0367-41E5-8948-13228343D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9584" y="2441448"/>
            <a:ext cx="5669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ABAC5"/>
            </a:solidFill>
            <a:prstDash val="solid"/>
            <a:headEnd type="none"/>
            <a:tailEnd type="triangle"/>
          </a:ln>
        </p:spPr>
      </p:sp>
      <p:sp>
        <p:nvSpPr>
          <p:cNvPr id="34" name="Shape 24">
            <a:extLst xmlns:a="http://schemas.openxmlformats.org/drawingml/2006/main">
              <a:ext uri="{FF2B5EF4-FFF2-40B4-BE49-F238E27FC236}">
                <a16:creationId xmlns:a16="http://schemas.microsoft.com/office/drawing/2014/main" id="{A901E34D-B62C-4499-B8E3-3322BAC2C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91840"/>
            <a:ext cx="2834640" cy="96012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4EA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CBD4DA">
                <a:alpha val="14000"/>
              </a:srgbClr>
            </a:outerShdw>
          </a:effectLst>
        </p:spPr>
      </p:sp>
      <p:sp>
        <p:nvSpPr>
          <p:cNvPr id="35" name="Shape 25">
            <a:extLst xmlns:a="http://schemas.openxmlformats.org/drawingml/2006/main">
              <a:ext uri="{FF2B5EF4-FFF2-40B4-BE49-F238E27FC236}">
                <a16:creationId xmlns:a16="http://schemas.microsoft.com/office/drawing/2014/main" id="{43F79F5F-BBB7-4A29-949D-204A13E6A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3520440"/>
            <a:ext cx="493776" cy="49377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2700">
            <a:solidFill>
              <a:srgbClr val="EAF2FF"/>
            </a:solidFill>
            <a:prstDash val="solid"/>
          </a:ln>
        </p:spPr>
      </p:sp>
      <p:pic>
        <p:nvPicPr>
          <p:cNvPr id="112" name="Imag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a1e86a4d7a4734">
            <a:extLst>
              <a:ext uri="{96DAC541-7B7A-43D3-8B79-37D633B846F1}">
                <asvg:svgBlip xmlns:asvg="http://schemas.microsoft.com/office/drawing/2016/SVG/main" r:embed="R4ddf06e8defe44fa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2124" y="3616452"/>
            <a:ext cx="301752" cy="301752"/>
          </a:xfrm>
          <a:prstGeom xmlns:a="http://schemas.openxmlformats.org/drawingml/2006/main" prst="rect">
            <a:avLst/>
          </a:prstGeom>
        </p:spPr>
      </p:pic>
      <p:sp>
        <p:nvSpPr>
          <p:cNvPr id="37" name="Text 26">
            <a:extLst xmlns:a="http://schemas.openxmlformats.org/drawingml/2006/main">
              <a:ext uri="{FF2B5EF4-FFF2-40B4-BE49-F238E27FC236}">
                <a16:creationId xmlns:a16="http://schemas.microsoft.com/office/drawing/2014/main" id="{E0D0E4B6-6EE2-475F-806B-8439C4A61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7048" y="3483864"/>
            <a:ext cx="1645920" cy="3017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20" b="1">
                <a:solidFill>
                  <a:srgbClr val="16324F"/>
                </a:solidFill>
              </a:rPr>
              <a:t>Education</a:t>
            </a:r>
            <a:endParaRPr sz="1320"/>
          </a:p>
        </p:txBody>
      </p:sp>
      <p:sp>
        <p:nvSpPr>
          <p:cNvPr id="38" name="Text 27">
            <a:extLst xmlns:a="http://schemas.openxmlformats.org/drawingml/2006/main">
              <a:ext uri="{FF2B5EF4-FFF2-40B4-BE49-F238E27FC236}">
                <a16:creationId xmlns:a16="http://schemas.microsoft.com/office/drawing/2014/main" id="{FCAED41A-1334-4F05-82CB-9FE6253C1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7048" y="3822192"/>
            <a:ext cx="1691640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20">
                <a:solidFill>
                  <a:srgbClr val="5F7180"/>
                </a:solidFill>
              </a:rPr>
              <a:t>School • Class • Domain</a:t>
            </a:r>
            <a:endParaRPr sz="920"/>
          </a:p>
        </p:txBody>
      </p:sp>
      <p:sp>
        <p:nvSpPr>
          <p:cNvPr id="39" name="Shape 28">
            <a:extLst xmlns:a="http://schemas.openxmlformats.org/drawingml/2006/main">
              <a:ext uri="{FF2B5EF4-FFF2-40B4-BE49-F238E27FC236}">
                <a16:creationId xmlns:a16="http://schemas.microsoft.com/office/drawing/2014/main" id="{A7DDF0D1-EF79-4599-B6C2-F346A009B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9584" y="3767328"/>
            <a:ext cx="5669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ABAC5"/>
            </a:solidFill>
            <a:prstDash val="solid"/>
            <a:headEnd type="none"/>
            <a:tailEnd type="triangle"/>
          </a:ln>
        </p:spPr>
      </p:sp>
      <p:sp>
        <p:nvSpPr>
          <p:cNvPr id="40" name="Shape 29">
            <a:extLst xmlns:a="http://schemas.openxmlformats.org/drawingml/2006/main">
              <a:ext uri="{FF2B5EF4-FFF2-40B4-BE49-F238E27FC236}">
                <a16:creationId xmlns:a16="http://schemas.microsoft.com/office/drawing/2014/main" id="{FF1449FB-2880-4251-A57D-3BFBFFA2D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7720"/>
            <a:ext cx="2834640" cy="96012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4EA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CBD4DA">
                <a:alpha val="14000"/>
              </a:srgbClr>
            </a:outerShdw>
          </a:effectLst>
        </p:spPr>
      </p:sp>
      <p:sp>
        <p:nvSpPr>
          <p:cNvPr id="41" name="Shape 30">
            <a:extLst xmlns:a="http://schemas.openxmlformats.org/drawingml/2006/main">
              <a:ext uri="{FF2B5EF4-FFF2-40B4-BE49-F238E27FC236}">
                <a16:creationId xmlns:a16="http://schemas.microsoft.com/office/drawing/2014/main" id="{127D6AEB-97A6-4039-AC38-34002BA73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4846320"/>
            <a:ext cx="493776" cy="49377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2E7"/>
          </a:solidFill>
          <a:ln xmlns:a="http://schemas.openxmlformats.org/drawingml/2006/main" w="12700">
            <a:solidFill>
              <a:srgbClr val="FFF2E7"/>
            </a:solidFill>
            <a:prstDash val="solid"/>
          </a:ln>
        </p:spPr>
      </p:sp>
      <p:pic>
        <p:nvPicPr>
          <p:cNvPr id="118" name="Imag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f687ddd5de4769">
            <a:extLst>
              <a:ext uri="{96DAC541-7B7A-43D3-8B79-37D633B846F1}">
                <asvg:svgBlip xmlns:asvg="http://schemas.microsoft.com/office/drawing/2016/SVG/main" r:embed="Re5c4c6a6c6734acd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2124" y="4942332"/>
            <a:ext cx="301752" cy="301752"/>
          </a:xfrm>
          <a:prstGeom xmlns:a="http://schemas.openxmlformats.org/drawingml/2006/main" prst="rect">
            <a:avLst/>
          </a:prstGeom>
        </p:spPr>
      </p:pic>
      <p:sp>
        <p:nvSpPr>
          <p:cNvPr id="43" name="Text 31">
            <a:extLst xmlns:a="http://schemas.openxmlformats.org/drawingml/2006/main">
              <a:ext uri="{FF2B5EF4-FFF2-40B4-BE49-F238E27FC236}">
                <a16:creationId xmlns:a16="http://schemas.microsoft.com/office/drawing/2014/main" id="{5E830351-89A5-4180-BD4A-235245BA7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7048" y="4809744"/>
            <a:ext cx="1645920" cy="3017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20" b="1">
                <a:solidFill>
                  <a:srgbClr val="16324F"/>
                </a:solidFill>
              </a:rPr>
              <a:t>Beneficiary Experience</a:t>
            </a:r>
            <a:endParaRPr sz="1320"/>
          </a:p>
        </p:txBody>
      </p:sp>
      <p:sp>
        <p:nvSpPr>
          <p:cNvPr id="44" name="Text 32">
            <a:extLst xmlns:a="http://schemas.openxmlformats.org/drawingml/2006/main">
              <a:ext uri="{FF2B5EF4-FFF2-40B4-BE49-F238E27FC236}">
                <a16:creationId xmlns:a16="http://schemas.microsoft.com/office/drawing/2014/main" id="{8B358381-717D-43B1-AED8-D7B1958FE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7048" y="5148072"/>
            <a:ext cx="1691640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20">
                <a:solidFill>
                  <a:srgbClr val="5F7180"/>
                </a:solidFill>
              </a:rPr>
              <a:t>Feedback • Social audit</a:t>
            </a:r>
            <a:endParaRPr sz="920"/>
          </a:p>
        </p:txBody>
      </p:sp>
      <p:sp>
        <p:nvSpPr>
          <p:cNvPr id="45" name="Shape 33">
            <a:extLst xmlns:a="http://schemas.openxmlformats.org/drawingml/2006/main">
              <a:ext uri="{FF2B5EF4-FFF2-40B4-BE49-F238E27FC236}">
                <a16:creationId xmlns:a16="http://schemas.microsoft.com/office/drawing/2014/main" id="{27DC63BF-229B-4346-A81A-3ADFE4F3E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9584" y="5093208"/>
            <a:ext cx="5669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ABAC5"/>
            </a:solidFill>
            <a:prstDash val="solid"/>
            <a:headEnd type="none"/>
            <a:tailEnd type="triangle"/>
          </a:ln>
        </p:spPr>
      </p:sp>
      <p:sp>
        <p:nvSpPr>
          <p:cNvPr id="46" name="Shape 34">
            <a:extLst xmlns:a="http://schemas.openxmlformats.org/drawingml/2006/main">
              <a:ext uri="{FF2B5EF4-FFF2-40B4-BE49-F238E27FC236}">
                <a16:creationId xmlns:a16="http://schemas.microsoft.com/office/drawing/2014/main" id="{D1D889B3-C383-410B-96C4-7A061D6AA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5008" y="2441448"/>
            <a:ext cx="5486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ABAC5"/>
            </a:solidFill>
            <a:prstDash val="solid"/>
            <a:headEnd type="none"/>
            <a:tailEnd type="triangle"/>
          </a:ln>
        </p:spPr>
      </p:sp>
      <p:sp>
        <p:nvSpPr>
          <p:cNvPr id="47" name="Shape 35">
            <a:extLst xmlns:a="http://schemas.openxmlformats.org/drawingml/2006/main">
              <a:ext uri="{FF2B5EF4-FFF2-40B4-BE49-F238E27FC236}">
                <a16:creationId xmlns:a16="http://schemas.microsoft.com/office/drawing/2014/main" id="{AA82BD55-5AB6-47D9-8DDD-E06FFED41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8512" y="1965960"/>
            <a:ext cx="2788920" cy="96012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4EA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CBD4DA">
                <a:alpha val="14000"/>
              </a:srgbClr>
            </a:outerShdw>
          </a:effectLst>
        </p:spPr>
      </p:sp>
      <p:sp>
        <p:nvSpPr>
          <p:cNvPr id="48" name="Shape 36">
            <a:extLst xmlns:a="http://schemas.openxmlformats.org/drawingml/2006/main">
              <a:ext uri="{FF2B5EF4-FFF2-40B4-BE49-F238E27FC236}">
                <a16:creationId xmlns:a16="http://schemas.microsoft.com/office/drawing/2014/main" id="{A077500A-2009-41C8-AAB2-F089A7526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2194560"/>
            <a:ext cx="493776" cy="49377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5F3"/>
          </a:solidFill>
          <a:ln xmlns:a="http://schemas.openxmlformats.org/drawingml/2006/main" w="12700">
            <a:solidFill>
              <a:srgbClr val="EAF5F3"/>
            </a:solidFill>
            <a:prstDash val="solid"/>
          </a:ln>
        </p:spPr>
      </p:sp>
      <p:pic>
        <p:nvPicPr>
          <p:cNvPr id="125" name="Imag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8beec25a824381">
            <a:extLst>
              <a:ext uri="{96DAC541-7B7A-43D3-8B79-37D633B846F1}">
                <asvg:svgBlip xmlns:asvg="http://schemas.microsoft.com/office/drawing/2016/SVG/main" r:embed="Rbf4728b1270e45da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965692" y="2290572"/>
            <a:ext cx="301752" cy="301752"/>
          </a:xfrm>
          <a:prstGeom xmlns:a="http://schemas.openxmlformats.org/drawingml/2006/main" prst="rect">
            <a:avLst/>
          </a:prstGeom>
        </p:spPr>
      </p:pic>
      <p:sp>
        <p:nvSpPr>
          <p:cNvPr id="50" name="Text 37">
            <a:extLst xmlns:a="http://schemas.openxmlformats.org/drawingml/2006/main">
              <a:ext uri="{FF2B5EF4-FFF2-40B4-BE49-F238E27FC236}">
                <a16:creationId xmlns:a16="http://schemas.microsoft.com/office/drawing/2014/main" id="{0F3600A1-B24E-4BCC-A7ED-09F5F26A9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0616" y="2157984"/>
            <a:ext cx="1627632" cy="3017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6324F"/>
                </a:solidFill>
              </a:rPr>
              <a:t>Framework Pack</a:t>
            </a:r>
            <a:endParaRPr sz="1300"/>
          </a:p>
        </p:txBody>
      </p:sp>
      <p:sp>
        <p:nvSpPr>
          <p:cNvPr id="51" name="Text 38">
            <a:extLst xmlns:a="http://schemas.openxmlformats.org/drawingml/2006/main">
              <a:ext uri="{FF2B5EF4-FFF2-40B4-BE49-F238E27FC236}">
                <a16:creationId xmlns:a16="http://schemas.microsoft.com/office/drawing/2014/main" id="{62B99539-415F-4A6E-A6A8-9B88E403D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0616" y="2496312"/>
            <a:ext cx="1572768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20">
                <a:solidFill>
                  <a:srgbClr val="5F7180"/>
                </a:solidFill>
              </a:rPr>
              <a:t>JSON configuration</a:t>
            </a:r>
            <a:endParaRPr sz="920"/>
          </a:p>
        </p:txBody>
      </p:sp>
      <p:sp>
        <p:nvSpPr>
          <p:cNvPr id="52" name="Shape 39">
            <a:extLst xmlns:a="http://schemas.openxmlformats.org/drawingml/2006/main">
              <a:ext uri="{FF2B5EF4-FFF2-40B4-BE49-F238E27FC236}">
                <a16:creationId xmlns:a16="http://schemas.microsoft.com/office/drawing/2014/main" id="{A1169946-6A06-472D-8948-2854AEB23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5008" y="3767328"/>
            <a:ext cx="5486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ABAC5"/>
            </a:solidFill>
            <a:prstDash val="solid"/>
            <a:headEnd type="none"/>
            <a:tailEnd type="triangle"/>
          </a:ln>
        </p:spPr>
      </p:sp>
      <p:sp>
        <p:nvSpPr>
          <p:cNvPr id="53" name="Shape 40">
            <a:extLst xmlns:a="http://schemas.openxmlformats.org/drawingml/2006/main">
              <a:ext uri="{FF2B5EF4-FFF2-40B4-BE49-F238E27FC236}">
                <a16:creationId xmlns:a16="http://schemas.microsoft.com/office/drawing/2014/main" id="{E301F2AE-D503-41A4-99D3-FCB9F0635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8512" y="3291840"/>
            <a:ext cx="2788920" cy="96012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4EA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CBD4DA">
                <a:alpha val="14000"/>
              </a:srgbClr>
            </a:outerShdw>
          </a:effectLst>
        </p:spPr>
      </p:sp>
      <p:sp>
        <p:nvSpPr>
          <p:cNvPr id="54" name="Shape 41">
            <a:extLst xmlns:a="http://schemas.openxmlformats.org/drawingml/2006/main">
              <a:ext uri="{FF2B5EF4-FFF2-40B4-BE49-F238E27FC236}">
                <a16:creationId xmlns:a16="http://schemas.microsoft.com/office/drawing/2014/main" id="{925AA511-AB38-4E0F-A38C-6E511B854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3520440"/>
            <a:ext cx="493776" cy="49377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EEFF"/>
          </a:solidFill>
          <a:ln xmlns:a="http://schemas.openxmlformats.org/drawingml/2006/main" w="12700">
            <a:solidFill>
              <a:srgbClr val="F2EEFF"/>
            </a:solidFill>
            <a:prstDash val="solid"/>
          </a:ln>
        </p:spPr>
      </p:sp>
      <p:pic>
        <p:nvPicPr>
          <p:cNvPr id="131" name="Imag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34df63a002486d">
            <a:extLst>
              <a:ext uri="{96DAC541-7B7A-43D3-8B79-37D633B846F1}">
                <asvg:svgBlip xmlns:asvg="http://schemas.microsoft.com/office/drawing/2016/SVG/main" r:embed="R75c08fdce1224918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965692" y="3616452"/>
            <a:ext cx="301752" cy="301752"/>
          </a:xfrm>
          <a:prstGeom xmlns:a="http://schemas.openxmlformats.org/drawingml/2006/main" prst="rect">
            <a:avLst/>
          </a:prstGeom>
        </p:spPr>
      </p:pic>
      <p:sp>
        <p:nvSpPr>
          <p:cNvPr id="56" name="Text 42">
            <a:extLst xmlns:a="http://schemas.openxmlformats.org/drawingml/2006/main">
              <a:ext uri="{FF2B5EF4-FFF2-40B4-BE49-F238E27FC236}">
                <a16:creationId xmlns:a16="http://schemas.microsoft.com/office/drawing/2014/main" id="{4BDC33E0-9CC9-4E95-A4DD-5224032EA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0616" y="3483864"/>
            <a:ext cx="1627632" cy="3017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6324F"/>
                </a:solidFill>
              </a:rPr>
              <a:t>Geography &amp; Hierarchy</a:t>
            </a:r>
            <a:endParaRPr sz="1300"/>
          </a:p>
        </p:txBody>
      </p:sp>
      <p:sp>
        <p:nvSpPr>
          <p:cNvPr id="57" name="Text 43">
            <a:extLst xmlns:a="http://schemas.openxmlformats.org/drawingml/2006/main">
              <a:ext uri="{FF2B5EF4-FFF2-40B4-BE49-F238E27FC236}">
                <a16:creationId xmlns:a16="http://schemas.microsoft.com/office/drawing/2014/main" id="{195A29B4-0B5E-455A-AA27-63DA5DFA2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0616" y="3822192"/>
            <a:ext cx="1572768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20">
                <a:solidFill>
                  <a:srgbClr val="5F7180"/>
                </a:solidFill>
              </a:rPr>
              <a:t>State → district → entity</a:t>
            </a:r>
            <a:endParaRPr sz="920"/>
          </a:p>
        </p:txBody>
      </p:sp>
      <p:sp>
        <p:nvSpPr>
          <p:cNvPr id="58" name="Shape 44">
            <a:extLst xmlns:a="http://schemas.openxmlformats.org/drawingml/2006/main">
              <a:ext uri="{FF2B5EF4-FFF2-40B4-BE49-F238E27FC236}">
                <a16:creationId xmlns:a16="http://schemas.microsoft.com/office/drawing/2014/main" id="{7CC1E862-F100-420F-AFFA-A456C28F9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5008" y="5093208"/>
            <a:ext cx="5486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ABAC5"/>
            </a:solidFill>
            <a:prstDash val="solid"/>
            <a:headEnd type="none"/>
            <a:tailEnd type="triangle"/>
          </a:ln>
        </p:spPr>
      </p:sp>
      <p:sp>
        <p:nvSpPr>
          <p:cNvPr id="59" name="Shape 45">
            <a:extLst xmlns:a="http://schemas.openxmlformats.org/drawingml/2006/main">
              <a:ext uri="{FF2B5EF4-FFF2-40B4-BE49-F238E27FC236}">
                <a16:creationId xmlns:a16="http://schemas.microsoft.com/office/drawing/2014/main" id="{FE2DEDB8-9EA6-4BF8-B2E3-5B4AD32D6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8512" y="4617720"/>
            <a:ext cx="2788920" cy="96012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4EA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CBD4DA">
                <a:alpha val="14000"/>
              </a:srgbClr>
            </a:outerShdw>
          </a:effectLst>
        </p:spPr>
      </p:sp>
      <p:sp>
        <p:nvSpPr>
          <p:cNvPr id="60" name="Shape 46">
            <a:extLst xmlns:a="http://schemas.openxmlformats.org/drawingml/2006/main">
              <a:ext uri="{FF2B5EF4-FFF2-40B4-BE49-F238E27FC236}">
                <a16:creationId xmlns:a16="http://schemas.microsoft.com/office/drawing/2014/main" id="{28C1BB7E-CB84-4162-AAA0-9A5EF1459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4846320"/>
            <a:ext cx="493776" cy="49377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DECEF"/>
          </a:solidFill>
          <a:ln xmlns:a="http://schemas.openxmlformats.org/drawingml/2006/main" w="12700">
            <a:solidFill>
              <a:srgbClr val="FDECEF"/>
            </a:solidFill>
            <a:prstDash val="solid"/>
          </a:ln>
        </p:spPr>
      </p:sp>
      <p:pic>
        <p:nvPicPr>
          <p:cNvPr id="137" name="Image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d13a8757744cdc">
            <a:extLst>
              <a:ext uri="{96DAC541-7B7A-43D3-8B79-37D633B846F1}">
                <asvg:svgBlip xmlns:asvg="http://schemas.microsoft.com/office/drawing/2016/SVG/main" r:embed="R16ebca4bd7294fd5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965692" y="4942332"/>
            <a:ext cx="301752" cy="301752"/>
          </a:xfrm>
          <a:prstGeom xmlns:a="http://schemas.openxmlformats.org/drawingml/2006/main" prst="rect">
            <a:avLst/>
          </a:prstGeom>
        </p:spPr>
      </p:pic>
      <p:sp>
        <p:nvSpPr>
          <p:cNvPr id="62" name="Text 47">
            <a:extLst xmlns:a="http://schemas.openxmlformats.org/drawingml/2006/main">
              <a:ext uri="{FF2B5EF4-FFF2-40B4-BE49-F238E27FC236}">
                <a16:creationId xmlns:a16="http://schemas.microsoft.com/office/drawing/2014/main" id="{3B286882-A125-4FA1-9817-DF10014C2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0616" y="4809744"/>
            <a:ext cx="1627632" cy="3017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6324F"/>
                </a:solidFill>
              </a:rPr>
              <a:t>Deployment Profile</a:t>
            </a:r>
            <a:endParaRPr sz="1300"/>
          </a:p>
        </p:txBody>
      </p:sp>
      <p:sp>
        <p:nvSpPr>
          <p:cNvPr id="63" name="Text 48">
            <a:extLst xmlns:a="http://schemas.openxmlformats.org/drawingml/2006/main">
              <a:ext uri="{FF2B5EF4-FFF2-40B4-BE49-F238E27FC236}">
                <a16:creationId xmlns:a16="http://schemas.microsoft.com/office/drawing/2014/main" id="{D019033B-D0B3-4740-BFEB-B448E1F22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0616" y="5148072"/>
            <a:ext cx="1572768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20">
                <a:solidFill>
                  <a:srgbClr val="5F7180"/>
                </a:solidFill>
              </a:rPr>
              <a:t>Cloud / on-prem / tenant</a:t>
            </a:r>
            <a:endParaRPr sz="920"/>
          </a:p>
        </p:txBody>
      </p:sp>
      <p:sp>
        <p:nvSpPr>
          <p:cNvPr id="77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A381415F-BEA2-44A4-9530-5124089305F2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292840" y="6574536"/>
            <a:ext cx="347472" cy="1645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8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6472190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98A758B-E5FF-496D-98F9-053A52FAF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10312"/>
            <a:ext cx="2011680" cy="27432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2F6F6A"/>
          </a:solidFill>
          <a:ln xmlns:a="http://schemas.openxmlformats.org/drawingml/2006/main" w="12700">
            <a:solidFill>
              <a:srgbClr val="2F6F6A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D583C9A-4B35-431C-A955-3CFD4B45E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51460"/>
            <a:ext cx="1865376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60" b="1" spc="80">
                <a:solidFill>
                  <a:srgbClr val="FFFFFF"/>
                </a:solidFill>
              </a:rPr>
              <a:t>CROSS-SECTOR</a:t>
            </a:r>
            <a:endParaRPr sz="76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4EAAB360-1357-4350-BA64-B668CAA9D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11480"/>
            <a:ext cx="1088136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16324F"/>
                </a:solidFill>
                <a:latin typeface="Aptos Display"/>
                <a:ea typeface="Aptos Display"/>
                <a:cs typeface="Aptos Display"/>
              </a:rPr>
              <a:t>Health → Education → any structured quality program</a:t>
            </a:r>
            <a:endParaRPr sz="25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174533F9-9580-45F5-B41C-7A201807E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69264"/>
            <a:ext cx="7315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0">
            <a:solidFill>
              <a:srgbClr val="F18A2A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6E95A366-8D5B-48FC-BB2B-D3326E39D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060704"/>
            <a:ext cx="109728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5F7180"/>
                </a:solidFill>
              </a:rPr>
              <a:t>SaQshi works because the underlying quality-assurance pattern is the same even when the vocabulary changes.</a:t>
            </a:r>
            <a:endParaRPr sz="1150"/>
          </a:p>
        </p:txBody>
      </p:sp>
      <p:pic>
        <p:nvPicPr>
          <p:cNvPr id="8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a7f1fcb2ea451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329184"/>
            <a:ext cx="841248" cy="292608"/>
          </a:xfrm>
          <a:prstGeom xmlns:a="http://schemas.openxmlformats.org/drawingml/2006/main" prst="rect">
            <a:avLst/>
          </a:prstGeom>
        </p:spPr>
      </p:pic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C34B922B-4CAF-433E-BE62-D19DB0953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1737360"/>
            <a:ext cx="2148840" cy="566928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16324F"/>
          </a:solidFill>
          <a:ln xmlns:a="http://schemas.openxmlformats.org/drawingml/2006/main" w="12700">
            <a:solidFill>
              <a:srgbClr val="FFFFFF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278C7745-2D49-4CAF-AB83-F789E307E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11096"/>
            <a:ext cx="2002536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20" b="1">
                <a:solidFill>
                  <a:srgbClr val="FFFFFF"/>
                </a:solidFill>
              </a:rPr>
              <a:t>Quality concept</a:t>
            </a:r>
            <a:endParaRPr sz="920"/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380C62B2-5AE4-4B95-89B2-0F600CA58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7208" y="1737360"/>
            <a:ext cx="2743200" cy="566928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2CB67D"/>
          </a:solidFill>
          <a:ln xmlns:a="http://schemas.openxmlformats.org/drawingml/2006/main" w="12700">
            <a:solidFill>
              <a:srgbClr val="FFFFFF"/>
            </a:solidFill>
            <a:prstDash val="solid"/>
          </a:ln>
        </p:spPr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1AF81BA9-6DD9-4613-A18D-B872A56F3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1911096"/>
            <a:ext cx="2596896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20" b="1">
                <a:solidFill>
                  <a:srgbClr val="FFFFFF"/>
                </a:solidFill>
              </a:rPr>
              <a:t>HEALTH</a:t>
            </a:r>
            <a:endParaRPr sz="92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EB6EFCFC-543C-40DC-9E0F-DD4B40ABC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6128" y="1737360"/>
            <a:ext cx="2743200" cy="566928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2D7FF9"/>
          </a:solidFill>
          <a:ln xmlns:a="http://schemas.openxmlformats.org/drawingml/2006/main" w="12700">
            <a:solidFill>
              <a:srgbClr val="FFFFFF"/>
            </a:solidFill>
            <a:prstDash val="solid"/>
          </a:ln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A8C4B176-1BB1-4FF6-943E-8FEEB5470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1911096"/>
            <a:ext cx="2596896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20" b="1">
                <a:solidFill>
                  <a:srgbClr val="FFFFFF"/>
                </a:solidFill>
              </a:rPr>
              <a:t>EDUCATION</a:t>
            </a:r>
            <a:endParaRPr sz="92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A18036CB-A34E-49D0-B596-9C1416353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1737360"/>
            <a:ext cx="3383280" cy="566928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2F6F6A"/>
          </a:solidFill>
          <a:ln xmlns:a="http://schemas.openxmlformats.org/drawingml/2006/main" w="12700">
            <a:solidFill>
              <a:srgbClr val="FFFFFF"/>
            </a:solidFill>
            <a:prstDash val="solid"/>
          </a:ln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4A8FEDB5-8AA5-4118-9019-0B7C8C4F6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911096"/>
            <a:ext cx="3236976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20" b="1">
                <a:solidFill>
                  <a:srgbClr val="FFFFFF"/>
                </a:solidFill>
              </a:rPr>
              <a:t>SAQSHI CONFIGURATION</a:t>
            </a:r>
            <a:endParaRPr sz="920"/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0D5CACB9-75F7-4F35-80AD-7FBCBB3C3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2395728"/>
            <a:ext cx="2148840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890">
            <a:solidFill>
              <a:srgbClr val="DCE4EA"/>
            </a:solidFill>
            <a:prstDash val="solid"/>
          </a:ln>
        </p:spPr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28827F2C-4B44-4D53-A37A-9E4B39A4E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05456"/>
            <a:ext cx="2002536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60" b="1">
                <a:solidFill>
                  <a:srgbClr val="16324F"/>
                </a:solidFill>
              </a:rPr>
              <a:t>Quality entity</a:t>
            </a:r>
            <a:endParaRPr sz="960"/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23CC9DD1-074B-48C6-9BE3-99058517B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7208" y="2395728"/>
            <a:ext cx="2743200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890">
            <a:solidFill>
              <a:srgbClr val="DCE4EA"/>
            </a:solidFill>
            <a:prstDash val="solid"/>
          </a:ln>
        </p:spPr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E58E256C-5260-4BC2-9B88-ECFE8C0B7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2505456"/>
            <a:ext cx="2596896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60">
                <a:solidFill>
                  <a:srgbClr val="1D2B36"/>
                </a:solidFill>
              </a:rPr>
              <a:t>Health facility</a:t>
            </a:r>
            <a:endParaRPr sz="960"/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70DF5856-5535-4AAC-902D-EA97B8401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6128" y="2395728"/>
            <a:ext cx="2743200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890">
            <a:solidFill>
              <a:srgbClr val="DCE4EA"/>
            </a:solidFill>
            <a:prstDash val="solid"/>
          </a:ln>
        </p:spPr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0A65ABD0-F407-4604-B167-6AF9BC9D7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2505456"/>
            <a:ext cx="2596896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60">
                <a:solidFill>
                  <a:srgbClr val="1D2B36"/>
                </a:solidFill>
              </a:rPr>
              <a:t>School / institution</a:t>
            </a:r>
            <a:endParaRPr sz="960"/>
          </a:p>
        </p:txBody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2247496C-A51F-4A1B-AD9B-7FE9C6FB5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2395728"/>
            <a:ext cx="3383280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890">
            <a:solidFill>
              <a:srgbClr val="DCE4EA"/>
            </a:solidFill>
            <a:prstDash val="solid"/>
          </a:ln>
        </p:spPr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8F92A762-1AD5-49F4-AC4C-7C4DED5FD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505456"/>
            <a:ext cx="3236976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60">
                <a:solidFill>
                  <a:srgbClr val="1D2B36"/>
                </a:solidFill>
              </a:rPr>
              <a:t>Facility types / entity types</a:t>
            </a:r>
            <a:endParaRPr sz="960"/>
          </a:p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75E5AF1B-C306-4575-88E1-C2876BF65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2926080"/>
            <a:ext cx="2148840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7"/>
          </a:solidFill>
          <a:ln xmlns:a="http://schemas.openxmlformats.org/drawingml/2006/main" w="8890">
            <a:solidFill>
              <a:srgbClr val="DCE4EA"/>
            </a:solidFill>
            <a:prstDash val="solid"/>
          </a:ln>
        </p:spPr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FC4F93D8-E3C2-444D-B560-584A1F7BD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35808"/>
            <a:ext cx="2002536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60" b="1">
                <a:solidFill>
                  <a:srgbClr val="16324F"/>
                </a:solidFill>
              </a:rPr>
              <a:t>Operational unit</a:t>
            </a:r>
            <a:endParaRPr sz="960"/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3389DDDB-4380-4B2F-BFCA-8B5A98106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7208" y="2926080"/>
            <a:ext cx="2743200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7"/>
          </a:solidFill>
          <a:ln xmlns:a="http://schemas.openxmlformats.org/drawingml/2006/main" w="8890">
            <a:solidFill>
              <a:srgbClr val="DCE4EA"/>
            </a:solidFill>
            <a:prstDash val="solid"/>
          </a:ln>
        </p:spPr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5E16E50D-40D9-4CB5-B30F-8BF313EBD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3035808"/>
            <a:ext cx="2596896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60">
                <a:solidFill>
                  <a:srgbClr val="1D2B36"/>
                </a:solidFill>
              </a:rPr>
              <a:t>Department</a:t>
            </a:r>
            <a:endParaRPr sz="960"/>
          </a:p>
        </p:txBody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C9CC0101-4354-4FA7-8B1B-E31185A16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6128" y="2926080"/>
            <a:ext cx="2743200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7"/>
          </a:solidFill>
          <a:ln xmlns:a="http://schemas.openxmlformats.org/drawingml/2006/main" w="8890">
            <a:solidFill>
              <a:srgbClr val="DCE4EA"/>
            </a:solidFill>
            <a:prstDash val="solid"/>
          </a:ln>
        </p:spPr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6F4D3C2D-2062-4D16-AF6D-6A17699B1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3035808"/>
            <a:ext cx="2596896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60">
                <a:solidFill>
                  <a:srgbClr val="1D2B36"/>
                </a:solidFill>
              </a:rPr>
              <a:t>Class / grade / unit</a:t>
            </a:r>
            <a:endParaRPr sz="960"/>
          </a:p>
        </p:txBody>
      </p:sp>
      <p:sp>
        <p:nvSpPr>
          <p:cNvPr id="30" name="Shape 27">
            <a:extLst xmlns:a="http://schemas.openxmlformats.org/drawingml/2006/main">
              <a:ext uri="{FF2B5EF4-FFF2-40B4-BE49-F238E27FC236}">
                <a16:creationId xmlns:a16="http://schemas.microsoft.com/office/drawing/2014/main" id="{F2199306-6D11-4C62-A6A9-B8F886294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2926080"/>
            <a:ext cx="3383280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7"/>
          </a:solidFill>
          <a:ln xmlns:a="http://schemas.openxmlformats.org/drawingml/2006/main" w="8890">
            <a:solidFill>
              <a:srgbClr val="DCE4EA"/>
            </a:solidFill>
            <a:prstDash val="solid"/>
          </a:ln>
        </p:spPr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947F19B9-0C94-4424-81C7-A47CB5CEC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035808"/>
            <a:ext cx="3236976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60">
                <a:solidFill>
                  <a:srgbClr val="1D2B36"/>
                </a:solidFill>
              </a:rPr>
              <a:t>Departments / sub-entities</a:t>
            </a:r>
            <a:endParaRPr sz="960"/>
          </a:p>
        </p:txBody>
      </p:sp>
      <p:sp>
        <p:nvSpPr>
          <p:cNvPr id="32" name="Shape 29">
            <a:extLst xmlns:a="http://schemas.openxmlformats.org/drawingml/2006/main">
              <a:ext uri="{FF2B5EF4-FFF2-40B4-BE49-F238E27FC236}">
                <a16:creationId xmlns:a16="http://schemas.microsoft.com/office/drawing/2014/main" id="{BE50795A-44F6-4415-865B-8B6C3E949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3456432"/>
            <a:ext cx="2148840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890">
            <a:solidFill>
              <a:srgbClr val="DCE4EA"/>
            </a:solidFill>
            <a:prstDash val="solid"/>
          </a:ln>
        </p:spPr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62654F49-F8CE-49DE-BBEE-696E051AB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6160"/>
            <a:ext cx="2002536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60" b="1">
                <a:solidFill>
                  <a:srgbClr val="16324F"/>
                </a:solidFill>
              </a:rPr>
              <a:t>Quality dimension</a:t>
            </a:r>
            <a:endParaRPr sz="960"/>
          </a:p>
        </p:txBody>
      </p:sp>
      <p:sp>
        <p:nvSpPr>
          <p:cNvPr id="34" name="Shape 31">
            <a:extLst xmlns:a="http://schemas.openxmlformats.org/drawingml/2006/main">
              <a:ext uri="{FF2B5EF4-FFF2-40B4-BE49-F238E27FC236}">
                <a16:creationId xmlns:a16="http://schemas.microsoft.com/office/drawing/2014/main" id="{B48E44D0-A302-4786-9E5F-4783B5609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7208" y="3456432"/>
            <a:ext cx="2743200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890">
            <a:solidFill>
              <a:srgbClr val="DCE4EA"/>
            </a:solidFill>
            <a:prstDash val="solid"/>
          </a:ln>
        </p:spPr>
      </p:sp>
      <p:sp>
        <p:nvSpPr>
          <p:cNvPr id="35" name="Text 32">
            <a:extLst xmlns:a="http://schemas.openxmlformats.org/drawingml/2006/main">
              <a:ext uri="{FF2B5EF4-FFF2-40B4-BE49-F238E27FC236}">
                <a16:creationId xmlns:a16="http://schemas.microsoft.com/office/drawing/2014/main" id="{8DF396E6-EE5C-4622-BB69-0F05E2BBF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3566160"/>
            <a:ext cx="2596896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60">
                <a:solidFill>
                  <a:srgbClr val="1D2B36"/>
                </a:solidFill>
              </a:rPr>
              <a:t>Area of concern / standard</a:t>
            </a:r>
            <a:endParaRPr sz="960"/>
          </a:p>
        </p:txBody>
      </p:sp>
      <p:sp>
        <p:nvSpPr>
          <p:cNvPr id="36" name="Shape 33">
            <a:extLst xmlns:a="http://schemas.openxmlformats.org/drawingml/2006/main">
              <a:ext uri="{FF2B5EF4-FFF2-40B4-BE49-F238E27FC236}">
                <a16:creationId xmlns:a16="http://schemas.microsoft.com/office/drawing/2014/main" id="{80EB16C5-B638-47C2-A84D-90BE3FEFD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6128" y="3456432"/>
            <a:ext cx="2743200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890">
            <a:solidFill>
              <a:srgbClr val="DCE4EA"/>
            </a:solidFill>
            <a:prstDash val="solid"/>
          </a:ln>
        </p:spPr>
      </p:sp>
      <p:sp>
        <p:nvSpPr>
          <p:cNvPr id="37" name="Text 34">
            <a:extLst xmlns:a="http://schemas.openxmlformats.org/drawingml/2006/main">
              <a:ext uri="{FF2B5EF4-FFF2-40B4-BE49-F238E27FC236}">
                <a16:creationId xmlns:a16="http://schemas.microsoft.com/office/drawing/2014/main" id="{078EEB7C-3897-4690-9A5A-5AF988E3D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3566160"/>
            <a:ext cx="2596896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60">
                <a:solidFill>
                  <a:srgbClr val="1D2B36"/>
                </a:solidFill>
              </a:rPr>
              <a:t>Domain / theme</a:t>
            </a:r>
            <a:endParaRPr sz="960"/>
          </a:p>
        </p:txBody>
      </p:sp>
      <p:sp>
        <p:nvSpPr>
          <p:cNvPr id="38" name="Shape 35">
            <a:extLst xmlns:a="http://schemas.openxmlformats.org/drawingml/2006/main">
              <a:ext uri="{FF2B5EF4-FFF2-40B4-BE49-F238E27FC236}">
                <a16:creationId xmlns:a16="http://schemas.microsoft.com/office/drawing/2014/main" id="{A207FE52-897E-487D-BA30-8D00A7C0B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3456432"/>
            <a:ext cx="3383280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890">
            <a:solidFill>
              <a:srgbClr val="DCE4EA"/>
            </a:solidFill>
            <a:prstDash val="solid"/>
          </a:ln>
        </p:spPr>
      </p:sp>
      <p:sp>
        <p:nvSpPr>
          <p:cNvPr id="39" name="Text 36">
            <a:extLst xmlns:a="http://schemas.openxmlformats.org/drawingml/2006/main">
              <a:ext uri="{FF2B5EF4-FFF2-40B4-BE49-F238E27FC236}">
                <a16:creationId xmlns:a16="http://schemas.microsoft.com/office/drawing/2014/main" id="{4C637A48-A5B2-45D2-9D92-0A668163C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566160"/>
            <a:ext cx="3236976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60">
                <a:solidFill>
                  <a:srgbClr val="1D2B36"/>
                </a:solidFill>
              </a:rPr>
              <a:t>Framework domains</a:t>
            </a:r>
            <a:endParaRPr sz="960"/>
          </a:p>
        </p:txBody>
      </p:sp>
      <p:sp>
        <p:nvSpPr>
          <p:cNvPr id="40" name="Shape 37">
            <a:extLst xmlns:a="http://schemas.openxmlformats.org/drawingml/2006/main">
              <a:ext uri="{FF2B5EF4-FFF2-40B4-BE49-F238E27FC236}">
                <a16:creationId xmlns:a16="http://schemas.microsoft.com/office/drawing/2014/main" id="{22AB3E22-8622-4509-A863-B41D26FAE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3986784"/>
            <a:ext cx="2148840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7"/>
          </a:solidFill>
          <a:ln xmlns:a="http://schemas.openxmlformats.org/drawingml/2006/main" w="8890">
            <a:solidFill>
              <a:srgbClr val="DCE4EA"/>
            </a:solidFill>
            <a:prstDash val="solid"/>
          </a:ln>
        </p:spPr>
      </p:sp>
      <p:sp>
        <p:nvSpPr>
          <p:cNvPr id="41" name="Text 38">
            <a:extLst xmlns:a="http://schemas.openxmlformats.org/drawingml/2006/main">
              <a:ext uri="{FF2B5EF4-FFF2-40B4-BE49-F238E27FC236}">
                <a16:creationId xmlns:a16="http://schemas.microsoft.com/office/drawing/2014/main" id="{63E504EB-B91C-4C24-9308-F1897FC43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6512"/>
            <a:ext cx="2002536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60" b="1">
                <a:solidFill>
                  <a:srgbClr val="16324F"/>
                </a:solidFill>
              </a:rPr>
              <a:t>Assessment item</a:t>
            </a:r>
            <a:endParaRPr sz="960"/>
          </a:p>
        </p:txBody>
      </p:sp>
      <p:sp>
        <p:nvSpPr>
          <p:cNvPr id="42" name="Shape 39">
            <a:extLst xmlns:a="http://schemas.openxmlformats.org/drawingml/2006/main">
              <a:ext uri="{FF2B5EF4-FFF2-40B4-BE49-F238E27FC236}">
                <a16:creationId xmlns:a16="http://schemas.microsoft.com/office/drawing/2014/main" id="{EAC7450B-9166-48E0-81D4-4380B2E50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7208" y="3986784"/>
            <a:ext cx="2743200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7"/>
          </a:solidFill>
          <a:ln xmlns:a="http://schemas.openxmlformats.org/drawingml/2006/main" w="8890">
            <a:solidFill>
              <a:srgbClr val="DCE4EA"/>
            </a:solidFill>
            <a:prstDash val="solid"/>
          </a:ln>
        </p:spPr>
      </p:sp>
      <p:sp>
        <p:nvSpPr>
          <p:cNvPr id="43" name="Text 40">
            <a:extLst xmlns:a="http://schemas.openxmlformats.org/drawingml/2006/main">
              <a:ext uri="{FF2B5EF4-FFF2-40B4-BE49-F238E27FC236}">
                <a16:creationId xmlns:a16="http://schemas.microsoft.com/office/drawing/2014/main" id="{D536BB76-D1D8-4F87-8CAC-59CBDC05C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4096512"/>
            <a:ext cx="2596896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60">
                <a:solidFill>
                  <a:srgbClr val="1D2B36"/>
                </a:solidFill>
              </a:rPr>
              <a:t>Checkpoint</a:t>
            </a:r>
            <a:endParaRPr sz="960"/>
          </a:p>
        </p:txBody>
      </p:sp>
      <p:sp>
        <p:nvSpPr>
          <p:cNvPr id="44" name="Shape 41">
            <a:extLst xmlns:a="http://schemas.openxmlformats.org/drawingml/2006/main">
              <a:ext uri="{FF2B5EF4-FFF2-40B4-BE49-F238E27FC236}">
                <a16:creationId xmlns:a16="http://schemas.microsoft.com/office/drawing/2014/main" id="{9B8F58AE-E9FB-4550-898D-7BE2A4D3F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6128" y="3986784"/>
            <a:ext cx="2743200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7"/>
          </a:solidFill>
          <a:ln xmlns:a="http://schemas.openxmlformats.org/drawingml/2006/main" w="8890">
            <a:solidFill>
              <a:srgbClr val="DCE4EA"/>
            </a:solidFill>
            <a:prstDash val="solid"/>
          </a:ln>
        </p:spPr>
      </p:sp>
      <p:sp>
        <p:nvSpPr>
          <p:cNvPr id="45" name="Text 42">
            <a:extLst xmlns:a="http://schemas.openxmlformats.org/drawingml/2006/main">
              <a:ext uri="{FF2B5EF4-FFF2-40B4-BE49-F238E27FC236}">
                <a16:creationId xmlns:a16="http://schemas.microsoft.com/office/drawing/2014/main" id="{28942AB4-796B-4479-8CEB-2395137B5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4096512"/>
            <a:ext cx="2596896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60">
                <a:solidFill>
                  <a:srgbClr val="1D2B36"/>
                </a:solidFill>
              </a:rPr>
              <a:t>Observation / indicator</a:t>
            </a:r>
            <a:endParaRPr sz="960"/>
          </a:p>
        </p:txBody>
      </p:sp>
      <p:sp>
        <p:nvSpPr>
          <p:cNvPr id="46" name="Shape 43">
            <a:extLst xmlns:a="http://schemas.openxmlformats.org/drawingml/2006/main">
              <a:ext uri="{FF2B5EF4-FFF2-40B4-BE49-F238E27FC236}">
                <a16:creationId xmlns:a16="http://schemas.microsoft.com/office/drawing/2014/main" id="{832D1601-0A3A-4CF9-ABD5-E32E1AE50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3986784"/>
            <a:ext cx="3383280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7"/>
          </a:solidFill>
          <a:ln xmlns:a="http://schemas.openxmlformats.org/drawingml/2006/main" w="8890">
            <a:solidFill>
              <a:srgbClr val="DCE4EA"/>
            </a:solidFill>
            <a:prstDash val="solid"/>
          </a:ln>
        </p:spPr>
      </p:sp>
      <p:sp>
        <p:nvSpPr>
          <p:cNvPr id="47" name="Text 44">
            <a:extLst xmlns:a="http://schemas.openxmlformats.org/drawingml/2006/main">
              <a:ext uri="{FF2B5EF4-FFF2-40B4-BE49-F238E27FC236}">
                <a16:creationId xmlns:a16="http://schemas.microsoft.com/office/drawing/2014/main" id="{62F84FF7-138F-4E05-A580-E2AAB3D9E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096512"/>
            <a:ext cx="3236976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60">
                <a:solidFill>
                  <a:srgbClr val="1D2B36"/>
                </a:solidFill>
              </a:rPr>
              <a:t>Configurable checkpoint</a:t>
            </a:r>
            <a:endParaRPr sz="960"/>
          </a:p>
        </p:txBody>
      </p:sp>
      <p:sp>
        <p:nvSpPr>
          <p:cNvPr id="48" name="Shape 45">
            <a:extLst xmlns:a="http://schemas.openxmlformats.org/drawingml/2006/main">
              <a:ext uri="{FF2B5EF4-FFF2-40B4-BE49-F238E27FC236}">
                <a16:creationId xmlns:a16="http://schemas.microsoft.com/office/drawing/2014/main" id="{C3D8D562-E1F5-4D4E-942A-6A9208CF4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4517136"/>
            <a:ext cx="2148840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890">
            <a:solidFill>
              <a:srgbClr val="DCE4EA"/>
            </a:solidFill>
            <a:prstDash val="solid"/>
          </a:ln>
        </p:spPr>
      </p:sp>
      <p:sp>
        <p:nvSpPr>
          <p:cNvPr id="49" name="Text 46">
            <a:extLst xmlns:a="http://schemas.openxmlformats.org/drawingml/2006/main">
              <a:ext uri="{FF2B5EF4-FFF2-40B4-BE49-F238E27FC236}">
                <a16:creationId xmlns:a16="http://schemas.microsoft.com/office/drawing/2014/main" id="{C452B0F8-84E7-4508-AFC9-1FEEEBCE7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6864"/>
            <a:ext cx="2002536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60" b="1">
                <a:solidFill>
                  <a:srgbClr val="16324F"/>
                </a:solidFill>
              </a:rPr>
              <a:t>Evidence</a:t>
            </a:r>
            <a:endParaRPr sz="960"/>
          </a:p>
        </p:txBody>
      </p:sp>
      <p:sp>
        <p:nvSpPr>
          <p:cNvPr id="50" name="Shape 47">
            <a:extLst xmlns:a="http://schemas.openxmlformats.org/drawingml/2006/main">
              <a:ext uri="{FF2B5EF4-FFF2-40B4-BE49-F238E27FC236}">
                <a16:creationId xmlns:a16="http://schemas.microsoft.com/office/drawing/2014/main" id="{5C9D8069-4196-45CD-8FDB-5183AF113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7208" y="4517136"/>
            <a:ext cx="2743200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890">
            <a:solidFill>
              <a:srgbClr val="DCE4EA"/>
            </a:solidFill>
            <a:prstDash val="solid"/>
          </a:ln>
        </p:spPr>
      </p:sp>
      <p:sp>
        <p:nvSpPr>
          <p:cNvPr id="51" name="Text 48">
            <a:extLst xmlns:a="http://schemas.openxmlformats.org/drawingml/2006/main">
              <a:ext uri="{FF2B5EF4-FFF2-40B4-BE49-F238E27FC236}">
                <a16:creationId xmlns:a16="http://schemas.microsoft.com/office/drawing/2014/main" id="{E3A036C1-27D5-451D-A74F-7DFF6527A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4626864"/>
            <a:ext cx="2596896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60">
                <a:solidFill>
                  <a:srgbClr val="1D2B36"/>
                </a:solidFill>
              </a:rPr>
              <a:t>Document / observation</a:t>
            </a:r>
            <a:endParaRPr sz="960"/>
          </a:p>
        </p:txBody>
      </p:sp>
      <p:sp>
        <p:nvSpPr>
          <p:cNvPr id="52" name="Shape 49">
            <a:extLst xmlns:a="http://schemas.openxmlformats.org/drawingml/2006/main">
              <a:ext uri="{FF2B5EF4-FFF2-40B4-BE49-F238E27FC236}">
                <a16:creationId xmlns:a16="http://schemas.microsoft.com/office/drawing/2014/main" id="{2F036D13-6C7A-466E-9ECD-1366EEE9C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6128" y="4517136"/>
            <a:ext cx="2743200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890">
            <a:solidFill>
              <a:srgbClr val="DCE4EA"/>
            </a:solidFill>
            <a:prstDash val="solid"/>
          </a:ln>
        </p:spPr>
      </p:sp>
      <p:sp>
        <p:nvSpPr>
          <p:cNvPr id="53" name="Text 50">
            <a:extLst xmlns:a="http://schemas.openxmlformats.org/drawingml/2006/main">
              <a:ext uri="{FF2B5EF4-FFF2-40B4-BE49-F238E27FC236}">
                <a16:creationId xmlns:a16="http://schemas.microsoft.com/office/drawing/2014/main" id="{D9B6CB5C-D72C-4544-B3E9-D6C143D1A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4626864"/>
            <a:ext cx="2596896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60">
                <a:solidFill>
                  <a:srgbClr val="1D2B36"/>
                </a:solidFill>
              </a:rPr>
              <a:t>Classroom evidence / records</a:t>
            </a:r>
            <a:endParaRPr sz="960"/>
          </a:p>
        </p:txBody>
      </p:sp>
      <p:sp>
        <p:nvSpPr>
          <p:cNvPr id="54" name="Shape 51">
            <a:extLst xmlns:a="http://schemas.openxmlformats.org/drawingml/2006/main">
              <a:ext uri="{FF2B5EF4-FFF2-40B4-BE49-F238E27FC236}">
                <a16:creationId xmlns:a16="http://schemas.microsoft.com/office/drawing/2014/main" id="{E477BA77-BA72-48E6-BE4D-BE12533FF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4517136"/>
            <a:ext cx="3383280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890">
            <a:solidFill>
              <a:srgbClr val="DCE4EA"/>
            </a:solidFill>
            <a:prstDash val="solid"/>
          </a:ln>
        </p:spPr>
      </p:sp>
      <p:sp>
        <p:nvSpPr>
          <p:cNvPr id="55" name="Text 52">
            <a:extLst xmlns:a="http://schemas.openxmlformats.org/drawingml/2006/main">
              <a:ext uri="{FF2B5EF4-FFF2-40B4-BE49-F238E27FC236}">
                <a16:creationId xmlns:a16="http://schemas.microsoft.com/office/drawing/2014/main" id="{09EB4088-0262-4C36-99CD-F5B176002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626864"/>
            <a:ext cx="3236976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60">
                <a:solidFill>
                  <a:srgbClr val="1D2B36"/>
                </a:solidFill>
              </a:rPr>
              <a:t>File / note / score</a:t>
            </a:r>
            <a:endParaRPr sz="960"/>
          </a:p>
        </p:txBody>
      </p:sp>
      <p:sp>
        <p:nvSpPr>
          <p:cNvPr id="56" name="Shape 53">
            <a:extLst xmlns:a="http://schemas.openxmlformats.org/drawingml/2006/main">
              <a:ext uri="{FF2B5EF4-FFF2-40B4-BE49-F238E27FC236}">
                <a16:creationId xmlns:a16="http://schemas.microsoft.com/office/drawing/2014/main" id="{E0479CE4-FC01-4E88-A075-1A0DB092B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5047488"/>
            <a:ext cx="2148840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7"/>
          </a:solidFill>
          <a:ln xmlns:a="http://schemas.openxmlformats.org/drawingml/2006/main" w="8890">
            <a:solidFill>
              <a:srgbClr val="DCE4EA"/>
            </a:solidFill>
            <a:prstDash val="solid"/>
          </a:ln>
        </p:spPr>
      </p:sp>
      <p:sp>
        <p:nvSpPr>
          <p:cNvPr id="57" name="Text 54">
            <a:extLst xmlns:a="http://schemas.openxmlformats.org/drawingml/2006/main">
              <a:ext uri="{FF2B5EF4-FFF2-40B4-BE49-F238E27FC236}">
                <a16:creationId xmlns:a16="http://schemas.microsoft.com/office/drawing/2014/main" id="{438ED272-9621-45F6-B19D-3D23EBCC5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57216"/>
            <a:ext cx="2002536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60" b="1">
                <a:solidFill>
                  <a:srgbClr val="16324F"/>
                </a:solidFill>
              </a:rPr>
              <a:t>Improvement</a:t>
            </a:r>
            <a:endParaRPr sz="960"/>
          </a:p>
        </p:txBody>
      </p:sp>
      <p:sp>
        <p:nvSpPr>
          <p:cNvPr id="58" name="Shape 55">
            <a:extLst xmlns:a="http://schemas.openxmlformats.org/drawingml/2006/main">
              <a:ext uri="{FF2B5EF4-FFF2-40B4-BE49-F238E27FC236}">
                <a16:creationId xmlns:a16="http://schemas.microsoft.com/office/drawing/2014/main" id="{CCF6C6B1-1E67-40E0-B9C5-DA1055280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7208" y="5047488"/>
            <a:ext cx="2743200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7"/>
          </a:solidFill>
          <a:ln xmlns:a="http://schemas.openxmlformats.org/drawingml/2006/main" w="8890">
            <a:solidFill>
              <a:srgbClr val="DCE4EA"/>
            </a:solidFill>
            <a:prstDash val="solid"/>
          </a:ln>
        </p:spPr>
      </p:sp>
      <p:sp>
        <p:nvSpPr>
          <p:cNvPr id="59" name="Text 56">
            <a:extLst xmlns:a="http://schemas.openxmlformats.org/drawingml/2006/main">
              <a:ext uri="{FF2B5EF4-FFF2-40B4-BE49-F238E27FC236}">
                <a16:creationId xmlns:a16="http://schemas.microsoft.com/office/drawing/2014/main" id="{55F454DF-03AB-4198-8A13-00E628E11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5157216"/>
            <a:ext cx="2596896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60">
                <a:solidFill>
                  <a:srgbClr val="1D2B36"/>
                </a:solidFill>
              </a:rPr>
              <a:t>Gap + action plan</a:t>
            </a:r>
            <a:endParaRPr sz="960"/>
          </a:p>
        </p:txBody>
      </p:sp>
      <p:sp>
        <p:nvSpPr>
          <p:cNvPr id="60" name="Shape 57">
            <a:extLst xmlns:a="http://schemas.openxmlformats.org/drawingml/2006/main">
              <a:ext uri="{FF2B5EF4-FFF2-40B4-BE49-F238E27FC236}">
                <a16:creationId xmlns:a16="http://schemas.microsoft.com/office/drawing/2014/main" id="{ED096F4A-9742-4FF1-91CE-1E3D2469C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6128" y="5047488"/>
            <a:ext cx="2743200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7"/>
          </a:solidFill>
          <a:ln xmlns:a="http://schemas.openxmlformats.org/drawingml/2006/main" w="8890">
            <a:solidFill>
              <a:srgbClr val="DCE4EA"/>
            </a:solidFill>
            <a:prstDash val="solid"/>
          </a:ln>
        </p:spPr>
      </p:sp>
      <p:sp>
        <p:nvSpPr>
          <p:cNvPr id="61" name="Text 58">
            <a:extLst xmlns:a="http://schemas.openxmlformats.org/drawingml/2006/main">
              <a:ext uri="{FF2B5EF4-FFF2-40B4-BE49-F238E27FC236}">
                <a16:creationId xmlns:a16="http://schemas.microsoft.com/office/drawing/2014/main" id="{F9C33DA4-161E-4627-86FB-30418C2BB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5157216"/>
            <a:ext cx="2596896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60">
                <a:solidFill>
                  <a:srgbClr val="1D2B36"/>
                </a:solidFill>
              </a:rPr>
              <a:t>Low domain + improvement action</a:t>
            </a:r>
            <a:endParaRPr sz="960"/>
          </a:p>
        </p:txBody>
      </p:sp>
      <p:sp>
        <p:nvSpPr>
          <p:cNvPr id="62" name="Shape 59">
            <a:extLst xmlns:a="http://schemas.openxmlformats.org/drawingml/2006/main">
              <a:ext uri="{FF2B5EF4-FFF2-40B4-BE49-F238E27FC236}">
                <a16:creationId xmlns:a16="http://schemas.microsoft.com/office/drawing/2014/main" id="{B5CAE8C2-D4A9-4C3F-A16D-E4B99D555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5047488"/>
            <a:ext cx="3383280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7"/>
          </a:solidFill>
          <a:ln xmlns:a="http://schemas.openxmlformats.org/drawingml/2006/main" w="8890">
            <a:solidFill>
              <a:srgbClr val="DCE4EA"/>
            </a:solidFill>
            <a:prstDash val="solid"/>
          </a:ln>
        </p:spPr>
      </p:sp>
      <p:sp>
        <p:nvSpPr>
          <p:cNvPr id="63" name="Text 60">
            <a:extLst xmlns:a="http://schemas.openxmlformats.org/drawingml/2006/main">
              <a:ext uri="{FF2B5EF4-FFF2-40B4-BE49-F238E27FC236}">
                <a16:creationId xmlns:a16="http://schemas.microsoft.com/office/drawing/2014/main" id="{07C2674D-0017-4CD6-B8E0-0AF9E8181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157216"/>
            <a:ext cx="3236976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60">
                <a:solidFill>
                  <a:srgbClr val="1D2B36"/>
                </a:solidFill>
              </a:rPr>
              <a:t>Generic CQI workflow</a:t>
            </a:r>
            <a:endParaRPr sz="960"/>
          </a:p>
        </p:txBody>
      </p:sp>
      <p:sp>
        <p:nvSpPr>
          <p:cNvPr id="64" name="Shape 61">
            <a:extLst xmlns:a="http://schemas.openxmlformats.org/drawingml/2006/main">
              <a:ext uri="{FF2B5EF4-FFF2-40B4-BE49-F238E27FC236}">
                <a16:creationId xmlns:a16="http://schemas.microsoft.com/office/drawing/2014/main" id="{6760FC52-DEA5-472A-84CA-1D69F2AC5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5577840"/>
            <a:ext cx="2148840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890">
            <a:solidFill>
              <a:srgbClr val="DCE4EA"/>
            </a:solidFill>
            <a:prstDash val="solid"/>
          </a:ln>
        </p:spPr>
      </p:sp>
      <p:sp>
        <p:nvSpPr>
          <p:cNvPr id="65" name="Text 62">
            <a:extLst xmlns:a="http://schemas.openxmlformats.org/drawingml/2006/main">
              <a:ext uri="{FF2B5EF4-FFF2-40B4-BE49-F238E27FC236}">
                <a16:creationId xmlns:a16="http://schemas.microsoft.com/office/drawing/2014/main" id="{50948DF5-31BD-456D-ACB2-72F0DCF2A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87568"/>
            <a:ext cx="2002536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60" b="1">
                <a:solidFill>
                  <a:srgbClr val="16324F"/>
                </a:solidFill>
              </a:rPr>
              <a:t>Performance</a:t>
            </a:r>
            <a:endParaRPr sz="960"/>
          </a:p>
        </p:txBody>
      </p:sp>
      <p:sp>
        <p:nvSpPr>
          <p:cNvPr id="66" name="Shape 63">
            <a:extLst xmlns:a="http://schemas.openxmlformats.org/drawingml/2006/main">
              <a:ext uri="{FF2B5EF4-FFF2-40B4-BE49-F238E27FC236}">
                <a16:creationId xmlns:a16="http://schemas.microsoft.com/office/drawing/2014/main" id="{13C349F6-D2A8-4864-B0E9-959D9767F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7208" y="5577840"/>
            <a:ext cx="2743200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890">
            <a:solidFill>
              <a:srgbClr val="DCE4EA"/>
            </a:solidFill>
            <a:prstDash val="solid"/>
          </a:ln>
        </p:spPr>
      </p:sp>
      <p:sp>
        <p:nvSpPr>
          <p:cNvPr id="67" name="Text 64">
            <a:extLst xmlns:a="http://schemas.openxmlformats.org/drawingml/2006/main">
              <a:ext uri="{FF2B5EF4-FFF2-40B4-BE49-F238E27FC236}">
                <a16:creationId xmlns:a16="http://schemas.microsoft.com/office/drawing/2014/main" id="{C0382619-0B11-41BB-BA3D-12F3297B0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5687568"/>
            <a:ext cx="2596896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60">
                <a:solidFill>
                  <a:srgbClr val="1D2B36"/>
                </a:solidFill>
              </a:rPr>
              <a:t>KPI / outcome indicator</a:t>
            </a:r>
            <a:endParaRPr sz="960"/>
          </a:p>
        </p:txBody>
      </p:sp>
      <p:sp>
        <p:nvSpPr>
          <p:cNvPr id="68" name="Shape 65">
            <a:extLst xmlns:a="http://schemas.openxmlformats.org/drawingml/2006/main">
              <a:ext uri="{FF2B5EF4-FFF2-40B4-BE49-F238E27FC236}">
                <a16:creationId xmlns:a16="http://schemas.microsoft.com/office/drawing/2014/main" id="{FACADCA5-7E2E-49E8-9FD3-D0182CCFD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6128" y="5577840"/>
            <a:ext cx="2743200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890">
            <a:solidFill>
              <a:srgbClr val="DCE4EA"/>
            </a:solidFill>
            <a:prstDash val="solid"/>
          </a:ln>
        </p:spPr>
      </p:sp>
      <p:sp>
        <p:nvSpPr>
          <p:cNvPr id="69" name="Text 66">
            <a:extLst xmlns:a="http://schemas.openxmlformats.org/drawingml/2006/main">
              <a:ext uri="{FF2B5EF4-FFF2-40B4-BE49-F238E27FC236}">
                <a16:creationId xmlns:a16="http://schemas.microsoft.com/office/drawing/2014/main" id="{644ED821-34BF-492D-97A7-E4E0031B5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5687568"/>
            <a:ext cx="2596896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60">
                <a:solidFill>
                  <a:srgbClr val="1D2B36"/>
                </a:solidFill>
              </a:rPr>
              <a:t>Class / school performance</a:t>
            </a:r>
            <a:endParaRPr sz="960"/>
          </a:p>
        </p:txBody>
      </p:sp>
      <p:sp>
        <p:nvSpPr>
          <p:cNvPr id="70" name="Shape 67">
            <a:extLst xmlns:a="http://schemas.openxmlformats.org/drawingml/2006/main">
              <a:ext uri="{FF2B5EF4-FFF2-40B4-BE49-F238E27FC236}">
                <a16:creationId xmlns:a16="http://schemas.microsoft.com/office/drawing/2014/main" id="{6A2471BD-EFC4-4424-9BD3-72FCDE66F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5577840"/>
            <a:ext cx="3383280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890">
            <a:solidFill>
              <a:srgbClr val="DCE4EA"/>
            </a:solidFill>
            <a:prstDash val="solid"/>
          </a:ln>
        </p:spPr>
      </p:sp>
      <p:sp>
        <p:nvSpPr>
          <p:cNvPr id="71" name="Text 68">
            <a:extLst xmlns:a="http://schemas.openxmlformats.org/drawingml/2006/main">
              <a:ext uri="{FF2B5EF4-FFF2-40B4-BE49-F238E27FC236}">
                <a16:creationId xmlns:a16="http://schemas.microsoft.com/office/drawing/2014/main" id="{552CF129-0C29-4E92-AABC-6C80B9AB7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687568"/>
            <a:ext cx="3236976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60">
                <a:solidFill>
                  <a:srgbClr val="1D2B36"/>
                </a:solidFill>
              </a:rPr>
              <a:t>Indicator engine + analytics</a:t>
            </a:r>
            <a:endParaRPr sz="960"/>
          </a:p>
        </p:txBody>
      </p:sp>
      <p:sp>
        <p:nvSpPr>
          <p:cNvPr id="72" name="Text 69">
            <a:extLst xmlns:a="http://schemas.openxmlformats.org/drawingml/2006/main">
              <a:ext uri="{FF2B5EF4-FFF2-40B4-BE49-F238E27FC236}">
                <a16:creationId xmlns:a16="http://schemas.microsoft.com/office/drawing/2014/main" id="{6B596CC3-8FE7-4B27-8446-F3D83AEF1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5897880"/>
            <a:ext cx="101498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2F6F6A"/>
                </a:solidFill>
              </a:rPr>
              <a:t>Result: the platform can absorb new frameworks without rebuilding authentication, assessment workflow, CQI, analytics and governance every time.</a:t>
            </a:r>
            <a:endParaRPr sz="1150"/>
          </a:p>
        </p:txBody>
      </p:sp>
      <p:sp>
        <p:nvSpPr>
          <p:cNvPr id="74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0922104A-94E5-4EEF-A2BD-687A4F144148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292840" y="6574536"/>
            <a:ext cx="347472" cy="1645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8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8525200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5D1D2DBF-C0C3-4D5D-9C85-256A7433D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10312"/>
            <a:ext cx="2011680" cy="27432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2F6F6A"/>
          </a:solidFill>
          <a:ln xmlns:a="http://schemas.openxmlformats.org/drawingml/2006/main" w="12700">
            <a:solidFill>
              <a:srgbClr val="2F6F6A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114024D-D9ED-495B-B251-DC2E08C46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51460"/>
            <a:ext cx="1865376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60" b="1" spc="80">
                <a:solidFill>
                  <a:srgbClr val="FFFFFF"/>
                </a:solidFill>
              </a:rPr>
              <a:t>HEALTH</a:t>
            </a:r>
            <a:endParaRPr sz="76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3F0B5BF-D3B3-44DB-B446-22A6E5FD3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11480"/>
            <a:ext cx="1088136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16324F"/>
                </a:solidFill>
                <a:latin typeface="Aptos Display"/>
                <a:ea typeface="Aptos Display"/>
                <a:cs typeface="Aptos Display"/>
              </a:rPr>
              <a:t>Health quality assurance: from facility assessment to certification readiness</a:t>
            </a:r>
            <a:endParaRPr sz="25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A95839E8-9987-4A22-8BF7-73E9C7940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69264"/>
            <a:ext cx="7315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0">
            <a:solidFill>
              <a:srgbClr val="F18A2A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D4CE82CB-D72C-417C-992B-DC7746ADE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060704"/>
            <a:ext cx="109728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5F7180"/>
                </a:solidFill>
              </a:rPr>
              <a:t>Designed around facility types, departments, checkpoints, gaps, indicators and improvement cycles.</a:t>
            </a:r>
            <a:endParaRPr sz="1150"/>
          </a:p>
        </p:txBody>
      </p:sp>
      <p:pic>
        <p:nvPicPr>
          <p:cNvPr id="5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d04b3cf2854c9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329184"/>
            <a:ext cx="841248" cy="292608"/>
          </a:xfrm>
          <a:prstGeom xmlns:a="http://schemas.openxmlformats.org/drawingml/2006/main" prst="rect">
            <a:avLst/>
          </a:prstGeom>
        </p:spPr>
      </p:pic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76400A01-C1D7-4F4F-864D-08CBEDF61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755648"/>
            <a:ext cx="5074920" cy="109728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AF5F3"/>
          </a:solidFill>
          <a:ln xmlns:a="http://schemas.openxmlformats.org/drawingml/2006/main" w="12700">
            <a:solidFill>
              <a:srgbClr val="EAF5F3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CBD4DA">
                <a:alpha val="14000"/>
              </a:srgbClr>
            </a:outerShdw>
          </a:effectLst>
        </p:spPr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90B2CC22-2A78-43DF-9A82-0B23A16E5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057400"/>
            <a:ext cx="502920" cy="502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/>
            </a:solidFill>
            <a:prstDash val="solid"/>
          </a:ln>
        </p:spPr>
      </p:sp>
      <p:pic>
        <p:nvPicPr>
          <p:cNvPr id="5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23afdcf5de4a9d">
            <a:extLst>
              <a:ext uri="{96DAC541-7B7A-43D3-8B79-37D633B846F1}">
                <asvg:svgBlip xmlns:asvg="http://schemas.microsoft.com/office/drawing/2016/SVG/main" r:embed="R33128fb12a564076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56132" y="2153412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E2A6CF3D-D6D1-472B-A7B3-7B303FF9A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7632" y="1938528"/>
            <a:ext cx="1828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20" b="1">
                <a:solidFill>
                  <a:srgbClr val="16324F"/>
                </a:solidFill>
              </a:rPr>
              <a:t>Multiple frameworks</a:t>
            </a:r>
            <a:endParaRPr sz="1320"/>
          </a:p>
        </p:txBody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5B859DA5-A6B7-43D6-8552-2328560E0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920240"/>
            <a:ext cx="210312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30">
                <a:solidFill>
                  <a:srgbClr val="1D2B36"/>
                </a:solidFill>
              </a:rPr>
              <a:t>NQAS, MusQan, LaQshya and future framework packs</a:t>
            </a:r>
            <a:endParaRPr sz="1030"/>
          </a:p>
        </p:txBody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16081EC3-8B55-404D-9BF9-7E3FD0BB7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755648"/>
            <a:ext cx="5074920" cy="109728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AF8F2"/>
          </a:solidFill>
          <a:ln xmlns:a="http://schemas.openxmlformats.org/drawingml/2006/main" w="12700">
            <a:solidFill>
              <a:srgbClr val="EAF8F2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CBD4DA">
                <a:alpha val="14000"/>
              </a:srgbClr>
            </a:outerShdw>
          </a:effectLst>
        </p:spPr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E0BE75E1-32DE-4267-A0CB-BF07BBC2C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2057400"/>
            <a:ext cx="502920" cy="502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/>
            </a:solidFill>
            <a:prstDash val="solid"/>
          </a:ln>
        </p:spPr>
      </p:sp>
      <p:pic>
        <p:nvPicPr>
          <p:cNvPr id="60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28f5cdf7074495">
            <a:extLst>
              <a:ext uri="{96DAC541-7B7A-43D3-8B79-37D633B846F1}">
                <asvg:svgBlip xmlns:asvg="http://schemas.microsoft.com/office/drawing/2016/SVG/main" r:embed="R446f7679340d444b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88252" y="2153412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6" name="Text 11">
            <a:extLst xmlns:a="http://schemas.openxmlformats.org/drawingml/2006/main">
              <a:ext uri="{FF2B5EF4-FFF2-40B4-BE49-F238E27FC236}">
                <a16:creationId xmlns:a16="http://schemas.microsoft.com/office/drawing/2014/main" id="{845BDB7F-2C50-4C5D-8C66-27EF6D991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9752" y="1938528"/>
            <a:ext cx="1828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20" b="1">
                <a:solidFill>
                  <a:srgbClr val="16324F"/>
                </a:solidFill>
              </a:rPr>
              <a:t>Facility hierarchy</a:t>
            </a:r>
            <a:endParaRPr sz="1320"/>
          </a:p>
        </p:txBody>
      </p:sp>
      <p:sp>
        <p:nvSpPr>
          <p:cNvPr id="17" name="Text 12">
            <a:extLst xmlns:a="http://schemas.openxmlformats.org/drawingml/2006/main">
              <a:ext uri="{FF2B5EF4-FFF2-40B4-BE49-F238E27FC236}">
                <a16:creationId xmlns:a16="http://schemas.microsoft.com/office/drawing/2014/main" id="{0572ABC9-392C-4086-ACEA-6E8495161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0" y="1920240"/>
            <a:ext cx="210312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30">
                <a:solidFill>
                  <a:srgbClr val="1D2B36"/>
                </a:solidFill>
              </a:rPr>
              <a:t>DH, SDH, CHC, PHC, APHC, HWC and configurable types</a:t>
            </a:r>
            <a:endParaRPr sz="1030"/>
          </a:p>
        </p:txBody>
      </p:sp>
      <p:sp>
        <p:nvSpPr>
          <p:cNvPr id="18" name="Shape 13">
            <a:extLst xmlns:a="http://schemas.openxmlformats.org/drawingml/2006/main">
              <a:ext uri="{FF2B5EF4-FFF2-40B4-BE49-F238E27FC236}">
                <a16:creationId xmlns:a16="http://schemas.microsoft.com/office/drawing/2014/main" id="{8427C0B4-5088-469B-B6BC-93D6986A0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154680"/>
            <a:ext cx="5074920" cy="109728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2700">
            <a:solidFill>
              <a:srgbClr val="EAF2FF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CBD4DA">
                <a:alpha val="14000"/>
              </a:srgbClr>
            </a:outerShdw>
          </a:effectLst>
        </p:spPr>
      </p:sp>
      <p:sp>
        <p:nvSpPr>
          <p:cNvPr id="19" name="Shape 14">
            <a:extLst xmlns:a="http://schemas.openxmlformats.org/drawingml/2006/main">
              <a:ext uri="{FF2B5EF4-FFF2-40B4-BE49-F238E27FC236}">
                <a16:creationId xmlns:a16="http://schemas.microsoft.com/office/drawing/2014/main" id="{44E37FDD-EF91-431C-89D8-6208C4CF1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456432"/>
            <a:ext cx="502920" cy="502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/>
            </a:solidFill>
            <a:prstDash val="solid"/>
          </a:ln>
        </p:spPr>
      </p:sp>
      <p:pic>
        <p:nvPicPr>
          <p:cNvPr id="65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7f3132cc054a56">
            <a:extLst>
              <a:ext uri="{96DAC541-7B7A-43D3-8B79-37D633B846F1}">
                <asvg:svgBlip xmlns:asvg="http://schemas.microsoft.com/office/drawing/2016/SVG/main" r:embed="R8bb3e06abf52407e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56132" y="3552444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21" name="Text 15">
            <a:extLst xmlns:a="http://schemas.openxmlformats.org/drawingml/2006/main">
              <a:ext uri="{FF2B5EF4-FFF2-40B4-BE49-F238E27FC236}">
                <a16:creationId xmlns:a16="http://schemas.microsoft.com/office/drawing/2014/main" id="{882FAE11-0F6C-4AAD-8E37-D344BAEAB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7632" y="3337560"/>
            <a:ext cx="1828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20" b="1">
                <a:solidFill>
                  <a:srgbClr val="16324F"/>
                </a:solidFill>
              </a:rPr>
              <a:t>Department activation</a:t>
            </a:r>
            <a:endParaRPr sz="1320"/>
          </a:p>
        </p:txBody>
      </p:sp>
      <p:sp>
        <p:nvSpPr>
          <p:cNvPr id="22" name="Text 16">
            <a:extLst xmlns:a="http://schemas.openxmlformats.org/drawingml/2006/main">
              <a:ext uri="{FF2B5EF4-FFF2-40B4-BE49-F238E27FC236}">
                <a16:creationId xmlns:a16="http://schemas.microsoft.com/office/drawing/2014/main" id="{EFF2EB98-4383-457F-BF03-7BE5D3676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319272"/>
            <a:ext cx="210312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30">
                <a:solidFill>
                  <a:srgbClr val="1D2B36"/>
                </a:solidFill>
              </a:rPr>
              <a:t>Enable only the departments relevant to a facility / assessment period</a:t>
            </a:r>
            <a:endParaRPr sz="1030"/>
          </a:p>
        </p:txBody>
      </p:sp>
      <p:sp>
        <p:nvSpPr>
          <p:cNvPr id="23" name="Shape 17">
            <a:extLst xmlns:a="http://schemas.openxmlformats.org/drawingml/2006/main">
              <a:ext uri="{FF2B5EF4-FFF2-40B4-BE49-F238E27FC236}">
                <a16:creationId xmlns:a16="http://schemas.microsoft.com/office/drawing/2014/main" id="{8C3AC291-CC7B-4737-BBB5-AE939DCC9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3154680"/>
            <a:ext cx="5074920" cy="109728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2E7"/>
          </a:solidFill>
          <a:ln xmlns:a="http://schemas.openxmlformats.org/drawingml/2006/main" w="12700">
            <a:solidFill>
              <a:srgbClr val="FFF2E7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CBD4DA">
                <a:alpha val="14000"/>
              </a:srgbClr>
            </a:outerShdw>
          </a:effectLst>
        </p:spPr>
      </p:sp>
      <p:sp>
        <p:nvSpPr>
          <p:cNvPr id="24" name="Shape 18">
            <a:extLst xmlns:a="http://schemas.openxmlformats.org/drawingml/2006/main">
              <a:ext uri="{FF2B5EF4-FFF2-40B4-BE49-F238E27FC236}">
                <a16:creationId xmlns:a16="http://schemas.microsoft.com/office/drawing/2014/main" id="{A8E2F8AD-20F4-4858-A36D-9307AA322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3456432"/>
            <a:ext cx="502920" cy="502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/>
            </a:solidFill>
            <a:prstDash val="solid"/>
          </a:ln>
        </p:spPr>
      </p:sp>
      <p:pic>
        <p:nvPicPr>
          <p:cNvPr id="70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6c3a97550a4539">
            <a:extLst>
              <a:ext uri="{96DAC541-7B7A-43D3-8B79-37D633B846F1}">
                <asvg:svgBlip xmlns:asvg="http://schemas.microsoft.com/office/drawing/2016/SVG/main" r:embed="R3ae352b79cb0496f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88252" y="3552444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26" name="Text 19">
            <a:extLst xmlns:a="http://schemas.openxmlformats.org/drawingml/2006/main">
              <a:ext uri="{FF2B5EF4-FFF2-40B4-BE49-F238E27FC236}">
                <a16:creationId xmlns:a16="http://schemas.microsoft.com/office/drawing/2014/main" id="{F4367A3E-6AF8-4C91-BCF5-A8353B3A6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9752" y="3337560"/>
            <a:ext cx="1828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20" b="1">
                <a:solidFill>
                  <a:srgbClr val="16324F"/>
                </a:solidFill>
              </a:rPr>
              <a:t>Assessment cycles</a:t>
            </a:r>
            <a:endParaRPr sz="1320"/>
          </a:p>
        </p:txBody>
      </p:sp>
      <p:sp>
        <p:nvSpPr>
          <p:cNvPr id="27" name="Text 20">
            <a:extLst xmlns:a="http://schemas.openxmlformats.org/drawingml/2006/main">
              <a:ext uri="{FF2B5EF4-FFF2-40B4-BE49-F238E27FC236}">
                <a16:creationId xmlns:a16="http://schemas.microsoft.com/office/drawing/2014/main" id="{EFFCBC3D-7615-4BC4-90E7-0C5B39C6A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0" y="3319272"/>
            <a:ext cx="210312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30">
                <a:solidFill>
                  <a:srgbClr val="1D2B36"/>
                </a:solidFill>
              </a:rPr>
              <a:t>Baseline, self-assessment, reassessment and multiple cycles</a:t>
            </a:r>
            <a:endParaRPr sz="1030"/>
          </a:p>
        </p:txBody>
      </p:sp>
      <p:sp>
        <p:nvSpPr>
          <p:cNvPr id="28" name="Shape 21">
            <a:extLst xmlns:a="http://schemas.openxmlformats.org/drawingml/2006/main">
              <a:ext uri="{FF2B5EF4-FFF2-40B4-BE49-F238E27FC236}">
                <a16:creationId xmlns:a16="http://schemas.microsoft.com/office/drawing/2014/main" id="{B76ED28A-0C77-4157-8620-C4307175E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553712"/>
            <a:ext cx="5074920" cy="109728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2EEFF"/>
          </a:solidFill>
          <a:ln xmlns:a="http://schemas.openxmlformats.org/drawingml/2006/main" w="12700">
            <a:solidFill>
              <a:srgbClr val="F2EEFF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CBD4DA">
                <a:alpha val="14000"/>
              </a:srgbClr>
            </a:outerShdw>
          </a:effectLst>
        </p:spPr>
      </p:sp>
      <p:sp>
        <p:nvSpPr>
          <p:cNvPr id="29" name="Shape 22">
            <a:extLst xmlns:a="http://schemas.openxmlformats.org/drawingml/2006/main">
              <a:ext uri="{FF2B5EF4-FFF2-40B4-BE49-F238E27FC236}">
                <a16:creationId xmlns:a16="http://schemas.microsoft.com/office/drawing/2014/main" id="{4438D402-CABD-4D5F-9AD5-02699F845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855464"/>
            <a:ext cx="502920" cy="502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/>
            </a:solidFill>
            <a:prstDash val="solid"/>
          </a:ln>
        </p:spPr>
      </p:sp>
      <p:pic>
        <p:nvPicPr>
          <p:cNvPr id="75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77c03566c242e8">
            <a:extLst>
              <a:ext uri="{96DAC541-7B7A-43D3-8B79-37D633B846F1}">
                <asvg:svgBlip xmlns:asvg="http://schemas.microsoft.com/office/drawing/2016/SVG/main" r:embed="Rd4fe35ddd44d45c5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56132" y="4951476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31" name="Text 23">
            <a:extLst xmlns:a="http://schemas.openxmlformats.org/drawingml/2006/main">
              <a:ext uri="{FF2B5EF4-FFF2-40B4-BE49-F238E27FC236}">
                <a16:creationId xmlns:a16="http://schemas.microsoft.com/office/drawing/2014/main" id="{BE1DC74B-7C2F-486C-AA70-7FAF98F1E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7632" y="4736592"/>
            <a:ext cx="1828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20" b="1">
                <a:solidFill>
                  <a:srgbClr val="16324F"/>
                </a:solidFill>
              </a:rPr>
              <a:t>Outcome monitoring</a:t>
            </a:r>
            <a:endParaRPr sz="1320"/>
          </a:p>
        </p:txBody>
      </p:sp>
      <p:sp>
        <p:nvSpPr>
          <p:cNvPr id="32" name="Text 24">
            <a:extLst xmlns:a="http://schemas.openxmlformats.org/drawingml/2006/main">
              <a:ext uri="{FF2B5EF4-FFF2-40B4-BE49-F238E27FC236}">
                <a16:creationId xmlns:a16="http://schemas.microsoft.com/office/drawing/2014/main" id="{A58F0110-45C4-4B87-8C27-F38069DDF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718304"/>
            <a:ext cx="210312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30">
                <a:solidFill>
                  <a:srgbClr val="1D2B36"/>
                </a:solidFill>
              </a:rPr>
              <a:t>Monthly KPI / outcome entry with validation and trend visualization</a:t>
            </a:r>
            <a:endParaRPr sz="1030"/>
          </a:p>
        </p:txBody>
      </p:sp>
      <p:sp>
        <p:nvSpPr>
          <p:cNvPr id="33" name="Shape 25">
            <a:extLst xmlns:a="http://schemas.openxmlformats.org/drawingml/2006/main">
              <a:ext uri="{FF2B5EF4-FFF2-40B4-BE49-F238E27FC236}">
                <a16:creationId xmlns:a16="http://schemas.microsoft.com/office/drawing/2014/main" id="{FED967B4-CE5C-4FE4-BF3C-8588BB5C4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4553712"/>
            <a:ext cx="5074920" cy="109728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DECEF"/>
          </a:solidFill>
          <a:ln xmlns:a="http://schemas.openxmlformats.org/drawingml/2006/main" w="12700">
            <a:solidFill>
              <a:srgbClr val="FDECEF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CBD4DA">
                <a:alpha val="14000"/>
              </a:srgbClr>
            </a:outerShdw>
          </a:effectLst>
        </p:spPr>
      </p:sp>
      <p:sp>
        <p:nvSpPr>
          <p:cNvPr id="34" name="Shape 26">
            <a:extLst xmlns:a="http://schemas.openxmlformats.org/drawingml/2006/main">
              <a:ext uri="{FF2B5EF4-FFF2-40B4-BE49-F238E27FC236}">
                <a16:creationId xmlns:a16="http://schemas.microsoft.com/office/drawing/2014/main" id="{0FE2D6F7-5DF0-4735-A1EC-FB7E75137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4855464"/>
            <a:ext cx="502920" cy="502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/>
            </a:solidFill>
            <a:prstDash val="solid"/>
          </a:ln>
        </p:spPr>
      </p:sp>
      <p:pic>
        <p:nvPicPr>
          <p:cNvPr id="80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bf2c6749054aa5">
            <a:extLst>
              <a:ext uri="{96DAC541-7B7A-43D3-8B79-37D633B846F1}">
                <asvg:svgBlip xmlns:asvg="http://schemas.microsoft.com/office/drawing/2016/SVG/main" r:embed="R4934adcbecfe44e5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88252" y="4951476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36" name="Text 27">
            <a:extLst xmlns:a="http://schemas.openxmlformats.org/drawingml/2006/main">
              <a:ext uri="{FF2B5EF4-FFF2-40B4-BE49-F238E27FC236}">
                <a16:creationId xmlns:a16="http://schemas.microsoft.com/office/drawing/2014/main" id="{F2626A44-AEC3-42FB-825D-D11952CCD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9752" y="4736592"/>
            <a:ext cx="1828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20" b="1">
                <a:solidFill>
                  <a:srgbClr val="16324F"/>
                </a:solidFill>
              </a:rPr>
              <a:t>Certification tracking</a:t>
            </a:r>
            <a:endParaRPr sz="1320"/>
          </a:p>
        </p:txBody>
      </p:sp>
      <p:sp>
        <p:nvSpPr>
          <p:cNvPr id="37" name="Text 28">
            <a:extLst xmlns:a="http://schemas.openxmlformats.org/drawingml/2006/main">
              <a:ext uri="{FF2B5EF4-FFF2-40B4-BE49-F238E27FC236}">
                <a16:creationId xmlns:a16="http://schemas.microsoft.com/office/drawing/2014/main" id="{E2CC3964-1500-40AB-A6EE-90408C631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0" y="4718304"/>
            <a:ext cx="210312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30">
                <a:solidFill>
                  <a:srgbClr val="1D2B36"/>
                </a:solidFill>
              </a:rPr>
              <a:t>State, national, conditional certification, validity and renewal history</a:t>
            </a:r>
            <a:endParaRPr sz="1030"/>
          </a:p>
        </p:txBody>
      </p:sp>
      <p:sp>
        <p:nvSpPr>
          <p:cNvPr id="38" name="Shape 29">
            <a:extLst xmlns:a="http://schemas.openxmlformats.org/drawingml/2006/main">
              <a:ext uri="{FF2B5EF4-FFF2-40B4-BE49-F238E27FC236}">
                <a16:creationId xmlns:a16="http://schemas.microsoft.com/office/drawing/2014/main" id="{76E8290A-7F14-49DC-BBD9-7CEDF5F0B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960" y="5623560"/>
            <a:ext cx="8275320" cy="530352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6324F"/>
          </a:solidFill>
          <a:ln xmlns:a="http://schemas.openxmlformats.org/drawingml/2006/main" w="12700">
            <a:solidFill>
              <a:srgbClr val="16324F"/>
            </a:solidFill>
            <a:prstDash val="solid"/>
          </a:ln>
        </p:spPr>
      </p:sp>
      <p:sp>
        <p:nvSpPr>
          <p:cNvPr id="39" name="Text 30">
            <a:extLst xmlns:a="http://schemas.openxmlformats.org/drawingml/2006/main">
              <a:ext uri="{FF2B5EF4-FFF2-40B4-BE49-F238E27FC236}">
                <a16:creationId xmlns:a16="http://schemas.microsoft.com/office/drawing/2014/main" id="{7162F24A-5CFF-4339-AC3D-D739D7839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4560" y="5797296"/>
            <a:ext cx="78181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60" b="1">
                <a:solidFill>
                  <a:srgbClr val="FFFFFF"/>
                </a:solidFill>
              </a:rPr>
              <a:t>Health workflow: FACILITY → DEPARTMENT → CHECKPOINT → GAP → ACTION PLAN → REASSESSMENT → KPI/OUTCOME → CERTIFICATION</a:t>
            </a:r>
            <a:endParaRPr sz="96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02A0D22A-505C-463D-A246-E1E0166643B2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292840" y="6574536"/>
            <a:ext cx="347472" cy="1645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8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0720793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EC3633D6-E7C1-424D-8C5D-3DB3B1E9E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10312"/>
            <a:ext cx="1508760" cy="27432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2D7FF9"/>
          </a:solidFill>
          <a:ln xmlns:a="http://schemas.openxmlformats.org/drawingml/2006/main" w="12700">
            <a:solidFill>
              <a:srgbClr val="2D7FF9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90725F26-75B3-4B93-80D2-119985715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51460"/>
            <a:ext cx="1362456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60" b="1" spc="80">
                <a:solidFill>
                  <a:srgbClr val="FFFFFF"/>
                </a:solidFill>
              </a:rPr>
              <a:t>EDUCATION</a:t>
            </a:r>
            <a:endParaRPr sz="76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2D7BD297-A1F0-4209-A37E-3360CE51E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11480"/>
            <a:ext cx="1088136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16324F"/>
                </a:solidFill>
                <a:latin typeface="Aptos Display"/>
                <a:ea typeface="Aptos Display"/>
                <a:cs typeface="Aptos Display"/>
              </a:rPr>
              <a:t>Education quality improvement uses the same platform primitives</a:t>
            </a:r>
            <a:endParaRPr sz="25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DB68D231-F0B0-40D0-BFD5-FA62DCCE5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69264"/>
            <a:ext cx="7315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0">
            <a:solidFill>
              <a:srgbClr val="F18A2A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EF92459A-6C22-4C32-A62E-AB1B4C942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060704"/>
            <a:ext cx="109728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5F7180"/>
                </a:solidFill>
              </a:rPr>
              <a:t>Schools, classes and quality domains can be assessed, compared and improved without creating a separate product.</a:t>
            </a:r>
            <a:endParaRPr sz="1150"/>
          </a:p>
        </p:txBody>
      </p:sp>
      <p:pic>
        <p:nvPicPr>
          <p:cNvPr id="6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b8f48fa08e43e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329184"/>
            <a:ext cx="841248" cy="292608"/>
          </a:xfrm>
          <a:prstGeom xmlns:a="http://schemas.openxmlformats.org/drawingml/2006/main" prst="rect">
            <a:avLst/>
          </a:prstGeom>
        </p:spPr>
      </p:pic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C5B8DEDD-800F-4D04-8482-797CF8F5F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74520"/>
            <a:ext cx="1572768" cy="114300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D7FF9"/>
            </a:solidFill>
            <a:prstDash val="solid"/>
          </a:ln>
        </p:spPr>
      </p:sp>
      <p:pic>
        <p:nvPicPr>
          <p:cNvPr id="6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5baa411c1d427f">
            <a:extLst>
              <a:ext uri="{96DAC541-7B7A-43D3-8B79-37D633B846F1}">
                <asvg:svgBlip xmlns:asvg="http://schemas.microsoft.com/office/drawing/2016/SVG/main" r:embed="Rd573be44b7de4499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16152" y="2093976"/>
            <a:ext cx="502920" cy="502920"/>
          </a:xfrm>
          <a:prstGeom xmlns:a="http://schemas.openxmlformats.org/drawingml/2006/main" prst="rect">
            <a:avLst/>
          </a:prstGeom>
        </p:spPr>
      </p:pic>
      <p:sp>
        <p:nvSpPr>
          <p:cNvPr id="10" name="Text 6">
            <a:extLst xmlns:a="http://schemas.openxmlformats.org/drawingml/2006/main">
              <a:ext uri="{FF2B5EF4-FFF2-40B4-BE49-F238E27FC236}">
                <a16:creationId xmlns:a16="http://schemas.microsoft.com/office/drawing/2014/main" id="{FA3D18CA-7898-4CA9-8687-6F99747B9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" y="2679192"/>
            <a:ext cx="1353312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16324F"/>
                </a:solidFill>
              </a:rPr>
              <a:t>School</a:t>
            </a:r>
            <a:endParaRPr sz="1150"/>
          </a:p>
        </p:txBody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C7877594-463A-430D-AFE0-C18839B18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" y="2999232"/>
            <a:ext cx="1353312" cy="1920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90">
                <a:solidFill>
                  <a:srgbClr val="5F7180"/>
                </a:solidFill>
              </a:rPr>
              <a:t>Entity</a:t>
            </a:r>
            <a:endParaRPr sz="790"/>
          </a:p>
        </p:txBody>
      </p:sp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C7AF37A3-46DA-4705-884B-04B12CFBB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423160"/>
            <a:ext cx="5486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AFC0CC"/>
            </a:solidFill>
            <a:prstDash val="solid"/>
            <a:headEnd type="none"/>
            <a:tailEnd type="triangle"/>
          </a:ln>
        </p:spPr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79DCF7B0-4268-40C8-9762-BB17875B2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792" y="1874520"/>
            <a:ext cx="1572768" cy="114300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F6F6A"/>
            </a:solidFill>
            <a:prstDash val="solid"/>
          </a:ln>
        </p:spPr>
      </p:sp>
      <p:pic>
        <p:nvPicPr>
          <p:cNvPr id="70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ce832159d647ab">
            <a:extLst>
              <a:ext uri="{96DAC541-7B7A-43D3-8B79-37D633B846F1}">
                <asvg:svgBlip xmlns:asvg="http://schemas.microsoft.com/office/drawing/2016/SVG/main" r:embed="R3f534b4d70fa45c3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438144" y="2093976"/>
            <a:ext cx="502920" cy="502920"/>
          </a:xfrm>
          <a:prstGeom xmlns:a="http://schemas.openxmlformats.org/drawingml/2006/main" prst="rect">
            <a:avLst/>
          </a:prstGeom>
        </p:spPr>
      </p:pic>
      <p:sp>
        <p:nvSpPr>
          <p:cNvPr id="15" name="Text 10">
            <a:extLst xmlns:a="http://schemas.openxmlformats.org/drawingml/2006/main">
              <a:ext uri="{FF2B5EF4-FFF2-40B4-BE49-F238E27FC236}">
                <a16:creationId xmlns:a16="http://schemas.microsoft.com/office/drawing/2014/main" id="{E1463835-3E0D-4976-BDBF-4A67823B7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2679192"/>
            <a:ext cx="1353312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16324F"/>
                </a:solidFill>
              </a:rPr>
              <a:t>Class / Grade</a:t>
            </a:r>
            <a:endParaRPr sz="1150"/>
          </a:p>
        </p:txBody>
      </p:sp>
      <p:sp>
        <p:nvSpPr>
          <p:cNvPr id="16" name="Text 11">
            <a:extLst xmlns:a="http://schemas.openxmlformats.org/drawingml/2006/main">
              <a:ext uri="{FF2B5EF4-FFF2-40B4-BE49-F238E27FC236}">
                <a16:creationId xmlns:a16="http://schemas.microsoft.com/office/drawing/2014/main" id="{D10F059A-362A-4E1E-AE9E-420266B71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2999232"/>
            <a:ext cx="1353312" cy="1920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90">
                <a:solidFill>
                  <a:srgbClr val="5F7180"/>
                </a:solidFill>
              </a:rPr>
              <a:t>Operational unit</a:t>
            </a:r>
            <a:endParaRPr sz="790"/>
          </a:p>
        </p:txBody>
      </p:sp>
      <p:sp>
        <p:nvSpPr>
          <p:cNvPr id="17" name="Shape 12">
            <a:extLst xmlns:a="http://schemas.openxmlformats.org/drawingml/2006/main">
              <a:ext uri="{FF2B5EF4-FFF2-40B4-BE49-F238E27FC236}">
                <a16:creationId xmlns:a16="http://schemas.microsoft.com/office/drawing/2014/main" id="{0F0E18AC-F28D-4544-BAE6-0FD778925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7992" y="2423160"/>
            <a:ext cx="5486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AFC0CC"/>
            </a:solidFill>
            <a:prstDash val="solid"/>
            <a:headEnd type="none"/>
            <a:tailEnd type="triangle"/>
          </a:ln>
        </p:spPr>
      </p:sp>
      <p:sp>
        <p:nvSpPr>
          <p:cNvPr id="18" name="Shape 13">
            <a:extLst xmlns:a="http://schemas.openxmlformats.org/drawingml/2006/main">
              <a:ext uri="{FF2B5EF4-FFF2-40B4-BE49-F238E27FC236}">
                <a16:creationId xmlns:a16="http://schemas.microsoft.com/office/drawing/2014/main" id="{51837B49-7746-4AFD-BC0A-58FD92FCB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9784" y="1874520"/>
            <a:ext cx="1572768" cy="114300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B61FF"/>
            </a:solidFill>
            <a:prstDash val="solid"/>
          </a:ln>
        </p:spPr>
      </p:sp>
      <p:pic>
        <p:nvPicPr>
          <p:cNvPr id="75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4557340e7c4883">
            <a:extLst>
              <a:ext uri="{96DAC541-7B7A-43D3-8B79-37D633B846F1}">
                <asvg:svgBlip xmlns:asvg="http://schemas.microsoft.com/office/drawing/2016/SVG/main" r:embed="Rcdd9f6079afc4dee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0136" y="2093976"/>
            <a:ext cx="502920" cy="502920"/>
          </a:xfrm>
          <a:prstGeom xmlns:a="http://schemas.openxmlformats.org/drawingml/2006/main" prst="rect">
            <a:avLst/>
          </a:prstGeom>
        </p:spPr>
      </p:pic>
      <p:sp>
        <p:nvSpPr>
          <p:cNvPr id="20" name="Text 14">
            <a:extLst xmlns:a="http://schemas.openxmlformats.org/drawingml/2006/main">
              <a:ext uri="{FF2B5EF4-FFF2-40B4-BE49-F238E27FC236}">
                <a16:creationId xmlns:a16="http://schemas.microsoft.com/office/drawing/2014/main" id="{296AAE2D-592A-4A12-8117-A489D3AC0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9512" y="2679192"/>
            <a:ext cx="1353312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16324F"/>
                </a:solidFill>
              </a:rPr>
              <a:t>Domain</a:t>
            </a:r>
            <a:endParaRPr sz="1150"/>
          </a:p>
        </p:txBody>
      </p:sp>
      <p:sp>
        <p:nvSpPr>
          <p:cNvPr id="21" name="Text 15">
            <a:extLst xmlns:a="http://schemas.openxmlformats.org/drawingml/2006/main">
              <a:ext uri="{FF2B5EF4-FFF2-40B4-BE49-F238E27FC236}">
                <a16:creationId xmlns:a16="http://schemas.microsoft.com/office/drawing/2014/main" id="{4D39E466-EB50-4BBE-95B8-48845E3C0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9512" y="2999232"/>
            <a:ext cx="1353312" cy="1920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90">
                <a:solidFill>
                  <a:srgbClr val="5F7180"/>
                </a:solidFill>
              </a:rPr>
              <a:t>Quality dimension</a:t>
            </a:r>
            <a:endParaRPr sz="790"/>
          </a:p>
        </p:txBody>
      </p:sp>
      <p:sp>
        <p:nvSpPr>
          <p:cNvPr id="22" name="Shape 16">
            <a:extLst xmlns:a="http://schemas.openxmlformats.org/drawingml/2006/main">
              <a:ext uri="{FF2B5EF4-FFF2-40B4-BE49-F238E27FC236}">
                <a16:creationId xmlns:a16="http://schemas.microsoft.com/office/drawing/2014/main" id="{1BBA545B-FCA1-45BB-A05C-FB7CA8684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9984" y="2423160"/>
            <a:ext cx="5486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AFC0CC"/>
            </a:solidFill>
            <a:prstDash val="solid"/>
            <a:headEnd type="none"/>
            <a:tailEnd type="triangle"/>
          </a:ln>
        </p:spPr>
      </p:sp>
      <p:sp>
        <p:nvSpPr>
          <p:cNvPr id="23" name="Shape 17">
            <a:extLst xmlns:a="http://schemas.openxmlformats.org/drawingml/2006/main">
              <a:ext uri="{FF2B5EF4-FFF2-40B4-BE49-F238E27FC236}">
                <a16:creationId xmlns:a16="http://schemas.microsoft.com/office/drawing/2014/main" id="{1AA88910-F91F-4A2A-A2D8-B9B8C8FD1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1776" y="1874520"/>
            <a:ext cx="1572768" cy="114300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18A2A"/>
            </a:solidFill>
            <a:prstDash val="solid"/>
          </a:ln>
        </p:spPr>
      </p:sp>
      <p:pic>
        <p:nvPicPr>
          <p:cNvPr id="80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3c7f550e1f4251">
            <a:extLst>
              <a:ext uri="{96DAC541-7B7A-43D3-8B79-37D633B846F1}">
                <asvg:svgBlip xmlns:asvg="http://schemas.microsoft.com/office/drawing/2016/SVG/main" r:embed="Rb13400096d864da6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82128" y="2093976"/>
            <a:ext cx="502920" cy="502920"/>
          </a:xfrm>
          <a:prstGeom xmlns:a="http://schemas.openxmlformats.org/drawingml/2006/main" prst="rect">
            <a:avLst/>
          </a:prstGeom>
        </p:spPr>
      </p:pic>
      <p:sp>
        <p:nvSpPr>
          <p:cNvPr id="25" name="Text 18">
            <a:extLst xmlns:a="http://schemas.openxmlformats.org/drawingml/2006/main">
              <a:ext uri="{FF2B5EF4-FFF2-40B4-BE49-F238E27FC236}">
                <a16:creationId xmlns:a16="http://schemas.microsoft.com/office/drawing/2014/main" id="{C50BDEE2-3B99-4198-9E35-9801B7BB9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1504" y="2679192"/>
            <a:ext cx="1353312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16324F"/>
                </a:solidFill>
              </a:rPr>
              <a:t>Assessment</a:t>
            </a:r>
            <a:endParaRPr sz="1150"/>
          </a:p>
        </p:txBody>
      </p:sp>
      <p:sp>
        <p:nvSpPr>
          <p:cNvPr id="26" name="Text 19">
            <a:extLst xmlns:a="http://schemas.openxmlformats.org/drawingml/2006/main">
              <a:ext uri="{FF2B5EF4-FFF2-40B4-BE49-F238E27FC236}">
                <a16:creationId xmlns:a16="http://schemas.microsoft.com/office/drawing/2014/main" id="{FF8CA78F-ECC2-48D9-9FF1-FBBF25114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1504" y="2999232"/>
            <a:ext cx="1353312" cy="1920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90">
                <a:solidFill>
                  <a:srgbClr val="5F7180"/>
                </a:solidFill>
              </a:rPr>
              <a:t>Latest per class</a:t>
            </a:r>
            <a:endParaRPr sz="790"/>
          </a:p>
        </p:txBody>
      </p:sp>
      <p:sp>
        <p:nvSpPr>
          <p:cNvPr id="27" name="Shape 20">
            <a:extLst xmlns:a="http://schemas.openxmlformats.org/drawingml/2006/main">
              <a:ext uri="{FF2B5EF4-FFF2-40B4-BE49-F238E27FC236}">
                <a16:creationId xmlns:a16="http://schemas.microsoft.com/office/drawing/2014/main" id="{20ACE041-35FB-4482-B4F9-4440F3CB1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1976" y="2423160"/>
            <a:ext cx="5486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AFC0CC"/>
            </a:solidFill>
            <a:prstDash val="solid"/>
            <a:headEnd type="none"/>
            <a:tailEnd type="triangle"/>
          </a:ln>
        </p:spPr>
      </p:sp>
      <p:sp>
        <p:nvSpPr>
          <p:cNvPr id="28" name="Shape 21">
            <a:extLst xmlns:a="http://schemas.openxmlformats.org/drawingml/2006/main">
              <a:ext uri="{FF2B5EF4-FFF2-40B4-BE49-F238E27FC236}">
                <a16:creationId xmlns:a16="http://schemas.microsoft.com/office/drawing/2014/main" id="{9C60228D-ADE1-495D-BF07-D564A9CEF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3768" y="1874520"/>
            <a:ext cx="1572768" cy="114300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CB67D"/>
            </a:solidFill>
            <a:prstDash val="solid"/>
          </a:ln>
        </p:spPr>
      </p:sp>
      <p:pic>
        <p:nvPicPr>
          <p:cNvPr id="85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6730030f7942db">
            <a:extLst>
              <a:ext uri="{96DAC541-7B7A-43D3-8B79-37D633B846F1}">
                <asvg:svgBlip xmlns:asvg="http://schemas.microsoft.com/office/drawing/2016/SVG/main" r:embed="Rfb61d7335a6f44f2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104120" y="2093976"/>
            <a:ext cx="502920" cy="502920"/>
          </a:xfrm>
          <a:prstGeom xmlns:a="http://schemas.openxmlformats.org/drawingml/2006/main" prst="rect">
            <a:avLst/>
          </a:prstGeom>
        </p:spPr>
      </p:pic>
      <p:sp>
        <p:nvSpPr>
          <p:cNvPr id="30" name="Text 22">
            <a:extLst xmlns:a="http://schemas.openxmlformats.org/drawingml/2006/main">
              <a:ext uri="{FF2B5EF4-FFF2-40B4-BE49-F238E27FC236}">
                <a16:creationId xmlns:a16="http://schemas.microsoft.com/office/drawing/2014/main" id="{14F44738-7113-4C50-B131-7A70608C6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3496" y="2679192"/>
            <a:ext cx="1353312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16324F"/>
                </a:solidFill>
              </a:rPr>
              <a:t>Improvement</a:t>
            </a:r>
            <a:endParaRPr sz="1150"/>
          </a:p>
        </p:txBody>
      </p:sp>
      <p:sp>
        <p:nvSpPr>
          <p:cNvPr id="31" name="Text 23">
            <a:extLst xmlns:a="http://schemas.openxmlformats.org/drawingml/2006/main">
              <a:ext uri="{FF2B5EF4-FFF2-40B4-BE49-F238E27FC236}">
                <a16:creationId xmlns:a16="http://schemas.microsoft.com/office/drawing/2014/main" id="{9590AC20-11B1-471B-B05E-F85631DA2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3496" y="2999232"/>
            <a:ext cx="1353312" cy="1920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90">
                <a:solidFill>
                  <a:srgbClr val="5F7180"/>
                </a:solidFill>
              </a:rPr>
              <a:t>Lowest-domain action</a:t>
            </a:r>
            <a:endParaRPr sz="790"/>
          </a:p>
        </p:txBody>
      </p:sp>
      <p:sp>
        <p:nvSpPr>
          <p:cNvPr id="32" name="Shape 24">
            <a:extLst xmlns:a="http://schemas.openxmlformats.org/drawingml/2006/main">
              <a:ext uri="{FF2B5EF4-FFF2-40B4-BE49-F238E27FC236}">
                <a16:creationId xmlns:a16="http://schemas.microsoft.com/office/drawing/2014/main" id="{7CE465D0-1D36-4BF9-8DFF-5DA99542A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886200"/>
            <a:ext cx="3017520" cy="1490472"/>
          </a:xfrm>
          <a:prstGeom xmlns:a="http://schemas.openxmlformats.org/drawingml/2006/main" prst="roundRect">
            <a:avLst>
              <a:gd name="adj" fmla="val 4908"/>
            </a:avLst>
          </a:prstGeom>
          <a:solidFill xmlns:a="http://schemas.openxmlformats.org/drawingml/2006/main">
            <a:srgbClr val="EAF5F3"/>
          </a:solidFill>
          <a:ln xmlns:a="http://schemas.openxmlformats.org/drawingml/2006/main" w="12700">
            <a:solidFill>
              <a:srgbClr val="EAF5F3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CBD4DA">
                <a:alpha val="14000"/>
              </a:srgbClr>
            </a:outerShdw>
          </a:effectLst>
        </p:spPr>
      </p:sp>
      <p:sp>
        <p:nvSpPr>
          <p:cNvPr id="33" name="Shape 25">
            <a:extLst xmlns:a="http://schemas.openxmlformats.org/drawingml/2006/main">
              <a:ext uri="{FF2B5EF4-FFF2-40B4-BE49-F238E27FC236}">
                <a16:creationId xmlns:a16="http://schemas.microsoft.com/office/drawing/2014/main" id="{AB6C635B-3EF7-451C-8622-131C767A7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4133088"/>
            <a:ext cx="438912" cy="4389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/>
            </a:solidFill>
            <a:prstDash val="solid"/>
          </a:ln>
        </p:spPr>
      </p:sp>
      <p:pic>
        <p:nvPicPr>
          <p:cNvPr id="90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d2fab8b487466b">
            <a:extLst>
              <a:ext uri="{96DAC541-7B7A-43D3-8B79-37D633B846F1}">
                <asvg:svgBlip xmlns:asvg="http://schemas.microsoft.com/office/drawing/2016/SVG/main" r:embed="Rfe01e538aa864998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20140" y="4229100"/>
            <a:ext cx="246888" cy="246888"/>
          </a:xfrm>
          <a:prstGeom xmlns:a="http://schemas.openxmlformats.org/drawingml/2006/main" prst="rect">
            <a:avLst/>
          </a:prstGeom>
        </p:spPr>
      </p:pic>
      <p:sp>
        <p:nvSpPr>
          <p:cNvPr id="35" name="Text 26">
            <a:extLst xmlns:a="http://schemas.openxmlformats.org/drawingml/2006/main">
              <a:ext uri="{FF2B5EF4-FFF2-40B4-BE49-F238E27FC236}">
                <a16:creationId xmlns:a16="http://schemas.microsoft.com/office/drawing/2014/main" id="{B9235CD1-FF0E-4842-B63D-2718B1D85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2768" y="4069080"/>
            <a:ext cx="19659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6324F"/>
                </a:solidFill>
              </a:rPr>
              <a:t>Latest-assessment logic</a:t>
            </a:r>
            <a:endParaRPr sz="1250"/>
          </a:p>
        </p:txBody>
      </p:sp>
      <p:sp>
        <p:nvSpPr>
          <p:cNvPr id="36" name="Text 27">
            <a:extLst xmlns:a="http://schemas.openxmlformats.org/drawingml/2006/main">
              <a:ext uri="{FF2B5EF4-FFF2-40B4-BE49-F238E27FC236}">
                <a16:creationId xmlns:a16="http://schemas.microsoft.com/office/drawing/2014/main" id="{492C4E0D-0BDE-4E50-8597-EB80972B8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4599432"/>
            <a:ext cx="26060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70">
                <a:solidFill>
                  <a:srgbClr val="1D2B36"/>
                </a:solidFill>
              </a:rPr>
              <a:t>When a class is assessed multiple times, analytics can use only the latest completed assessment.</a:t>
            </a:r>
            <a:endParaRPr sz="970"/>
          </a:p>
        </p:txBody>
      </p:sp>
      <p:sp>
        <p:nvSpPr>
          <p:cNvPr id="37" name="Shape 28">
            <a:extLst xmlns:a="http://schemas.openxmlformats.org/drawingml/2006/main">
              <a:ext uri="{FF2B5EF4-FFF2-40B4-BE49-F238E27FC236}">
                <a16:creationId xmlns:a16="http://schemas.microsoft.com/office/drawing/2014/main" id="{ECD568B6-629A-4196-BC60-453FB6B29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4528" y="3886200"/>
            <a:ext cx="3017520" cy="1490472"/>
          </a:xfrm>
          <a:prstGeom xmlns:a="http://schemas.openxmlformats.org/drawingml/2006/main" prst="roundRect">
            <a:avLst>
              <a:gd name="adj" fmla="val 4908"/>
            </a:avLst>
          </a:prstGeom>
          <a:solidFill xmlns:a="http://schemas.openxmlformats.org/drawingml/2006/main">
            <a:srgbClr val="FFF2E7"/>
          </a:solidFill>
          <a:ln xmlns:a="http://schemas.openxmlformats.org/drawingml/2006/main" w="12700">
            <a:solidFill>
              <a:srgbClr val="FFF2E7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CBD4DA">
                <a:alpha val="14000"/>
              </a:srgbClr>
            </a:outerShdw>
          </a:effectLst>
        </p:spPr>
      </p:sp>
      <p:sp>
        <p:nvSpPr>
          <p:cNvPr id="38" name="Shape 29">
            <a:extLst xmlns:a="http://schemas.openxmlformats.org/drawingml/2006/main">
              <a:ext uri="{FF2B5EF4-FFF2-40B4-BE49-F238E27FC236}">
                <a16:creationId xmlns:a16="http://schemas.microsoft.com/office/drawing/2014/main" id="{BD6AE91D-A4F8-4426-B5EE-216B20610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5696" y="4133088"/>
            <a:ext cx="438912" cy="4389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/>
            </a:solidFill>
            <a:prstDash val="solid"/>
          </a:ln>
        </p:spPr>
      </p:sp>
      <p:pic>
        <p:nvPicPr>
          <p:cNvPr id="95" name="Imag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3adcc36c984332">
            <a:extLst>
              <a:ext uri="{96DAC541-7B7A-43D3-8B79-37D633B846F1}">
                <asvg:svgBlip xmlns:asvg="http://schemas.microsoft.com/office/drawing/2016/SVG/main" r:embed="R78a35c677bde436f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21708" y="4229100"/>
            <a:ext cx="246888" cy="246888"/>
          </a:xfrm>
          <a:prstGeom xmlns:a="http://schemas.openxmlformats.org/drawingml/2006/main" prst="rect">
            <a:avLst/>
          </a:prstGeom>
        </p:spPr>
      </p:pic>
      <p:sp>
        <p:nvSpPr>
          <p:cNvPr id="40" name="Text 30">
            <a:extLst xmlns:a="http://schemas.openxmlformats.org/drawingml/2006/main">
              <a:ext uri="{FF2B5EF4-FFF2-40B4-BE49-F238E27FC236}">
                <a16:creationId xmlns:a16="http://schemas.microsoft.com/office/drawing/2014/main" id="{133D1934-F751-4DEF-90E9-8C7689C89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4336" y="4069080"/>
            <a:ext cx="19659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6324F"/>
                </a:solidFill>
              </a:rPr>
              <a:t>Domain diagnostics</a:t>
            </a:r>
            <a:endParaRPr sz="1250"/>
          </a:p>
        </p:txBody>
      </p:sp>
      <p:sp>
        <p:nvSpPr>
          <p:cNvPr id="41" name="Text 31">
            <a:extLst xmlns:a="http://schemas.openxmlformats.org/drawingml/2006/main">
              <a:ext uri="{FF2B5EF4-FFF2-40B4-BE49-F238E27FC236}">
                <a16:creationId xmlns:a16="http://schemas.microsoft.com/office/drawing/2014/main" id="{0DF5490A-69C1-4F9B-AF0D-B61D679DE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5696" y="4599432"/>
            <a:ext cx="26060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70">
                <a:solidFill>
                  <a:srgbClr val="1D2B36"/>
                </a:solidFill>
              </a:rPr>
              <a:t>Identify the lowest-performing domain for each class and focus the improvement conversation.</a:t>
            </a:r>
            <a:endParaRPr sz="970"/>
          </a:p>
        </p:txBody>
      </p:sp>
      <p:sp>
        <p:nvSpPr>
          <p:cNvPr id="42" name="Shape 32">
            <a:extLst xmlns:a="http://schemas.openxmlformats.org/drawingml/2006/main">
              <a:ext uri="{FF2B5EF4-FFF2-40B4-BE49-F238E27FC236}">
                <a16:creationId xmlns:a16="http://schemas.microsoft.com/office/drawing/2014/main" id="{EFD3F28E-7267-468C-90CD-5C89EB261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6096" y="3886200"/>
            <a:ext cx="3017520" cy="1490472"/>
          </a:xfrm>
          <a:prstGeom xmlns:a="http://schemas.openxmlformats.org/drawingml/2006/main" prst="roundRect">
            <a:avLst>
              <a:gd name="adj" fmla="val 4908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2700">
            <a:solidFill>
              <a:srgbClr val="EAF2FF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CBD4DA">
                <a:alpha val="14000"/>
              </a:srgbClr>
            </a:outerShdw>
          </a:effectLst>
        </p:spPr>
      </p:sp>
      <p:sp>
        <p:nvSpPr>
          <p:cNvPr id="43" name="Shape 33">
            <a:extLst xmlns:a="http://schemas.openxmlformats.org/drawingml/2006/main">
              <a:ext uri="{FF2B5EF4-FFF2-40B4-BE49-F238E27FC236}">
                <a16:creationId xmlns:a16="http://schemas.microsoft.com/office/drawing/2014/main" id="{5E672939-A286-4321-A5C0-D6A5BCA46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7264" y="4133088"/>
            <a:ext cx="438912" cy="4389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/>
            </a:solidFill>
            <a:prstDash val="solid"/>
          </a:ln>
        </p:spPr>
      </p:sp>
      <p:pic>
        <p:nvPicPr>
          <p:cNvPr id="100" name="Imag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a78def53ba4798">
            <a:extLst>
              <a:ext uri="{96DAC541-7B7A-43D3-8B79-37D633B846F1}">
                <asvg:svgBlip xmlns:asvg="http://schemas.microsoft.com/office/drawing/2016/SVG/main" r:embed="R1cdbcd3e1de842c7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23276" y="4229100"/>
            <a:ext cx="246888" cy="246888"/>
          </a:xfrm>
          <a:prstGeom xmlns:a="http://schemas.openxmlformats.org/drawingml/2006/main" prst="rect">
            <a:avLst/>
          </a:prstGeom>
        </p:spPr>
      </p:pic>
      <p:sp>
        <p:nvSpPr>
          <p:cNvPr id="45" name="Text 34">
            <a:extLst xmlns:a="http://schemas.openxmlformats.org/drawingml/2006/main">
              <a:ext uri="{FF2B5EF4-FFF2-40B4-BE49-F238E27FC236}">
                <a16:creationId xmlns:a16="http://schemas.microsoft.com/office/drawing/2014/main" id="{1BA30730-EC3C-495F-B9BF-78AC22297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5904" y="4069080"/>
            <a:ext cx="19659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6324F"/>
                </a:solidFill>
              </a:rPr>
              <a:t>District / state view</a:t>
            </a:r>
            <a:endParaRPr sz="1250"/>
          </a:p>
        </p:txBody>
      </p:sp>
      <p:sp>
        <p:nvSpPr>
          <p:cNvPr id="46" name="Text 35">
            <a:extLst xmlns:a="http://schemas.openxmlformats.org/drawingml/2006/main">
              <a:ext uri="{FF2B5EF4-FFF2-40B4-BE49-F238E27FC236}">
                <a16:creationId xmlns:a16="http://schemas.microsoft.com/office/drawing/2014/main" id="{46C01E58-FE88-4248-986F-B2013A6D2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7264" y="4599432"/>
            <a:ext cx="26060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70">
                <a:solidFill>
                  <a:srgbClr val="1D2B36"/>
                </a:solidFill>
              </a:rPr>
              <a:t>Class-wise completion, top/low schools, district comparisons and trend reporting.</a:t>
            </a:r>
            <a:endParaRPr sz="970"/>
          </a:p>
        </p:txBody>
      </p:sp>
      <p:sp>
        <p:nvSpPr>
          <p:cNvPr id="47" name="Text 36">
            <a:extLst xmlns:a="http://schemas.openxmlformats.org/drawingml/2006/main">
              <a:ext uri="{FF2B5EF4-FFF2-40B4-BE49-F238E27FC236}">
                <a16:creationId xmlns:a16="http://schemas.microsoft.com/office/drawing/2014/main" id="{CD095715-C361-4755-B836-5045C1E28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705856"/>
            <a:ext cx="5760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2D7FF9"/>
                </a:solidFill>
              </a:rPr>
              <a:t>The sector changes. The platform workflow does not.</a:t>
            </a:r>
            <a:endParaRPr sz="1400"/>
          </a:p>
        </p:txBody>
      </p:sp>
      <p:sp>
        <p:nvSpPr>
          <p:cNvPr id="57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590B5592-4439-48F0-8B3F-6BC684C76828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292840" y="6574536"/>
            <a:ext cx="347472" cy="1645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8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5605069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EA1C30F7-8C91-45A6-BF16-67F70B474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10312"/>
            <a:ext cx="2011680" cy="27432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2F6F6A"/>
          </a:solidFill>
          <a:ln xmlns:a="http://schemas.openxmlformats.org/drawingml/2006/main" w="12700">
            <a:solidFill>
              <a:srgbClr val="2F6F6A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163D382-922A-4789-B8F5-7BF452670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51460"/>
            <a:ext cx="1865376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60" b="1" spc="80">
                <a:solidFill>
                  <a:srgbClr val="FFFFFF"/>
                </a:solidFill>
              </a:rPr>
              <a:t>WORKFLOW</a:t>
            </a:r>
            <a:endParaRPr sz="76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F44DBDD0-AA2D-4F45-A220-69EDA358B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11480"/>
            <a:ext cx="1088136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16324F"/>
                </a:solidFill>
                <a:latin typeface="Aptos Display"/>
                <a:ea typeface="Aptos Display"/>
                <a:cs typeface="Aptos Display"/>
              </a:rPr>
              <a:t>End-to-end functional workflow</a:t>
            </a:r>
            <a:endParaRPr sz="25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B90A334C-98A7-4D32-BDFD-F3984CE8B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69264"/>
            <a:ext cx="7315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0">
            <a:solidFill>
              <a:srgbClr val="F18A2A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A3941DF4-2AFA-4C50-BC37-A904F9373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060704"/>
            <a:ext cx="109728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5F7180"/>
                </a:solidFill>
              </a:rPr>
              <a:t>A single transaction chain connects configuration, assessment, improvement, performance and governance.</a:t>
            </a:r>
            <a:endParaRPr sz="1150"/>
          </a:p>
        </p:txBody>
      </p:sp>
      <p:pic>
        <p:nvPicPr>
          <p:cNvPr id="7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5c60a31d724a4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329184"/>
            <a:ext cx="841248" cy="292608"/>
          </a:xfrm>
          <a:prstGeom xmlns:a="http://schemas.openxmlformats.org/drawingml/2006/main" prst="rect">
            <a:avLst/>
          </a:prstGeom>
        </p:spPr>
      </p:pic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804A1C06-57B3-4DD7-8D83-BADE47DCB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737360"/>
            <a:ext cx="2487168" cy="1691640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4EA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CBD4DA">
                <a:alpha val="14000"/>
              </a:srgbClr>
            </a:outerShdw>
          </a:effectLst>
        </p:spPr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BEBBA356-B9D3-4D36-99D1-C230557F4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1920240"/>
            <a:ext cx="502920" cy="502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6A"/>
          </a:solidFill>
          <a:ln xmlns:a="http://schemas.openxmlformats.org/drawingml/2006/main" w="12700">
            <a:solidFill>
              <a:srgbClr val="2F6F6A"/>
            </a:solidFill>
            <a:prstDash val="solid"/>
          </a:ln>
        </p:spPr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4AE56DC5-F989-4F00-BF51-FFC7CBF7D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2048256"/>
            <a:ext cx="50292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FFFFF"/>
                </a:solidFill>
              </a:rPr>
              <a:t>1</a:t>
            </a:r>
            <a:endParaRPr sz="950"/>
          </a:p>
        </p:txBody>
      </p:sp>
      <p:pic>
        <p:nvPicPr>
          <p:cNvPr id="81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06e8d9c3ee4d61">
            <a:extLst>
              <a:ext uri="{96DAC541-7B7A-43D3-8B79-37D633B846F1}">
                <asvg:svgBlip xmlns:asvg="http://schemas.microsoft.com/office/drawing/2016/SVG/main" r:embed="Rbad6faf1f553445b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441448" y="1911096"/>
            <a:ext cx="393192" cy="393192"/>
          </a:xfrm>
          <a:prstGeom xmlns:a="http://schemas.openxmlformats.org/drawingml/2006/main" prst="rect">
            <a:avLst/>
          </a:prstGeom>
        </p:spPr>
      </p:pic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0593A9A5-A583-4C31-AC68-AE9CF4675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2578608"/>
            <a:ext cx="19659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30" b="1">
                <a:solidFill>
                  <a:srgbClr val="16324F"/>
                </a:solidFill>
              </a:rPr>
              <a:t>Onboard</a:t>
            </a:r>
            <a:endParaRPr sz="1430"/>
          </a:p>
        </p:txBody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586B0788-3F04-4031-881D-0960937BF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2962656"/>
            <a:ext cx="1993392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40">
                <a:solidFill>
                  <a:srgbClr val="5F7180"/>
                </a:solidFill>
              </a:rPr>
              <a:t>Users • roles • hierarchy</a:t>
            </a:r>
            <a:endParaRPr sz="940"/>
          </a:p>
        </p:txBody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762BCCD5-3F02-4DD4-963C-BD92243D5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2384" y="2606040"/>
            <a:ext cx="23774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B4C2CC"/>
            </a:solidFill>
            <a:prstDash val="solid"/>
            <a:headEnd type="none"/>
            <a:tailEnd type="triangle"/>
          </a:ln>
        </p:spPr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76E1C521-973A-4AAD-ABE0-270FE5AC2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1737360"/>
            <a:ext cx="2487168" cy="1691640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4EA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CBD4DA">
                <a:alpha val="14000"/>
              </a:srgbClr>
            </a:outerShdw>
          </a:effectLst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9BE07A01-06D4-456D-A767-F5B655005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1920240"/>
            <a:ext cx="502920" cy="502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7FF9"/>
          </a:solidFill>
          <a:ln xmlns:a="http://schemas.openxmlformats.org/drawingml/2006/main" w="12700">
            <a:solidFill>
              <a:srgbClr val="2D7FF9"/>
            </a:solidFill>
            <a:prstDash val="solid"/>
          </a:ln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16668173-2EF6-479B-BDBE-D6E7A07E2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2048256"/>
            <a:ext cx="50292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FFFFF"/>
                </a:solidFill>
              </a:rPr>
              <a:t>2</a:t>
            </a:r>
            <a:endParaRPr sz="950"/>
          </a:p>
        </p:txBody>
      </p:sp>
      <p:pic>
        <p:nvPicPr>
          <p:cNvPr id="88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c8ab558341486f">
            <a:extLst>
              <a:ext uri="{96DAC541-7B7A-43D3-8B79-37D633B846F1}">
                <asvg:svgBlip xmlns:asvg="http://schemas.microsoft.com/office/drawing/2016/SVG/main" r:embed="R871018b5dc1b4f7a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57800" y="1911096"/>
            <a:ext cx="393192" cy="393192"/>
          </a:xfrm>
          <a:prstGeom xmlns:a="http://schemas.openxmlformats.org/drawingml/2006/main" prst="rect">
            <a:avLst/>
          </a:prstGeom>
        </p:spPr>
      </p:pic>
      <p:sp>
        <p:nvSpPr>
          <p:cNvPr id="19" name="Text 14">
            <a:extLst xmlns:a="http://schemas.openxmlformats.org/drawingml/2006/main">
              <a:ext uri="{FF2B5EF4-FFF2-40B4-BE49-F238E27FC236}">
                <a16:creationId xmlns:a16="http://schemas.microsoft.com/office/drawing/2014/main" id="{70638A92-E35D-4C3E-95FA-2CE5C0EB3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4448" y="2578608"/>
            <a:ext cx="19659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30" b="1">
                <a:solidFill>
                  <a:srgbClr val="16324F"/>
                </a:solidFill>
              </a:rPr>
              <a:t>Activate</a:t>
            </a:r>
            <a:endParaRPr sz="1430"/>
          </a:p>
        </p:txBody>
      </p:sp>
      <p:sp>
        <p:nvSpPr>
          <p:cNvPr id="20" name="Text 15">
            <a:extLst xmlns:a="http://schemas.openxmlformats.org/drawingml/2006/main">
              <a:ext uri="{FF2B5EF4-FFF2-40B4-BE49-F238E27FC236}">
                <a16:creationId xmlns:a16="http://schemas.microsoft.com/office/drawing/2014/main" id="{B7E40A3B-0B69-410D-A6AC-3B212C675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4448" y="2962656"/>
            <a:ext cx="1993392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40">
                <a:solidFill>
                  <a:srgbClr val="5F7180"/>
                </a:solidFill>
              </a:rPr>
              <a:t>Framework • entity • department</a:t>
            </a:r>
            <a:endParaRPr sz="940"/>
          </a:p>
        </p:txBody>
      </p:sp>
      <p:sp>
        <p:nvSpPr>
          <p:cNvPr id="21" name="Shape 16">
            <a:extLst xmlns:a="http://schemas.openxmlformats.org/drawingml/2006/main">
              <a:ext uri="{FF2B5EF4-FFF2-40B4-BE49-F238E27FC236}">
                <a16:creationId xmlns:a16="http://schemas.microsoft.com/office/drawing/2014/main" id="{575A3FD2-2CA8-47D8-9977-2BD78CC9B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8736" y="2606040"/>
            <a:ext cx="23774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B4C2CC"/>
            </a:solidFill>
            <a:prstDash val="solid"/>
            <a:headEnd type="none"/>
            <a:tailEnd type="triangle"/>
          </a:ln>
        </p:spPr>
      </p:sp>
      <p:sp>
        <p:nvSpPr>
          <p:cNvPr id="22" name="Shape 17">
            <a:extLst xmlns:a="http://schemas.openxmlformats.org/drawingml/2006/main">
              <a:ext uri="{FF2B5EF4-FFF2-40B4-BE49-F238E27FC236}">
                <a16:creationId xmlns:a16="http://schemas.microsoft.com/office/drawing/2014/main" id="{BC4546DC-A51E-417B-93A4-FFA45BE4F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9632" y="1737360"/>
            <a:ext cx="2487168" cy="1691640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4EA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CBD4DA">
                <a:alpha val="14000"/>
              </a:srgbClr>
            </a:outerShdw>
          </a:effectLst>
        </p:spPr>
      </p:sp>
      <p:sp>
        <p:nvSpPr>
          <p:cNvPr id="23" name="Shape 18">
            <a:extLst xmlns:a="http://schemas.openxmlformats.org/drawingml/2006/main">
              <a:ext uri="{FF2B5EF4-FFF2-40B4-BE49-F238E27FC236}">
                <a16:creationId xmlns:a16="http://schemas.microsoft.com/office/drawing/2014/main" id="{9E45E3CA-12E4-4E7F-8223-C5CB2415B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512" y="1920240"/>
            <a:ext cx="502920" cy="502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8A2A"/>
          </a:solidFill>
          <a:ln xmlns:a="http://schemas.openxmlformats.org/drawingml/2006/main" w="12700">
            <a:solidFill>
              <a:srgbClr val="F18A2A"/>
            </a:solidFill>
            <a:prstDash val="solid"/>
          </a:ln>
        </p:spPr>
      </p:sp>
      <p:sp>
        <p:nvSpPr>
          <p:cNvPr id="24" name="Text 19">
            <a:extLst xmlns:a="http://schemas.openxmlformats.org/drawingml/2006/main">
              <a:ext uri="{FF2B5EF4-FFF2-40B4-BE49-F238E27FC236}">
                <a16:creationId xmlns:a16="http://schemas.microsoft.com/office/drawing/2014/main" id="{C03E2C63-207C-4ACC-B904-B9823A4CD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512" y="2048256"/>
            <a:ext cx="50292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FFFFF"/>
                </a:solidFill>
              </a:rPr>
              <a:t>3</a:t>
            </a:r>
            <a:endParaRPr sz="950"/>
          </a:p>
        </p:txBody>
      </p:sp>
      <p:pic>
        <p:nvPicPr>
          <p:cNvPr id="95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f402e60d244db9">
            <a:extLst>
              <a:ext uri="{96DAC541-7B7A-43D3-8B79-37D633B846F1}">
                <asvg:svgBlip xmlns:asvg="http://schemas.microsoft.com/office/drawing/2016/SVG/main" r:embed="R1c0f190044e9408b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74152" y="1911096"/>
            <a:ext cx="393192" cy="393192"/>
          </a:xfrm>
          <a:prstGeom xmlns:a="http://schemas.openxmlformats.org/drawingml/2006/main" prst="rect">
            <a:avLst/>
          </a:prstGeom>
        </p:spPr>
      </p:pic>
      <p:sp>
        <p:nvSpPr>
          <p:cNvPr id="26" name="Text 20">
            <a:extLst xmlns:a="http://schemas.openxmlformats.org/drawingml/2006/main">
              <a:ext uri="{FF2B5EF4-FFF2-40B4-BE49-F238E27FC236}">
                <a16:creationId xmlns:a16="http://schemas.microsoft.com/office/drawing/2014/main" id="{9884F269-9018-497A-AB9F-61603D2AE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578608"/>
            <a:ext cx="19659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30" b="1">
                <a:solidFill>
                  <a:srgbClr val="16324F"/>
                </a:solidFill>
              </a:rPr>
              <a:t>Assess</a:t>
            </a:r>
            <a:endParaRPr sz="1430"/>
          </a:p>
        </p:txBody>
      </p:sp>
      <p:sp>
        <p:nvSpPr>
          <p:cNvPr id="27" name="Text 21">
            <a:extLst xmlns:a="http://schemas.openxmlformats.org/drawingml/2006/main">
              <a:ext uri="{FF2B5EF4-FFF2-40B4-BE49-F238E27FC236}">
                <a16:creationId xmlns:a16="http://schemas.microsoft.com/office/drawing/2014/main" id="{D36A8691-EAD1-46D3-AA27-9F10ABC7F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62656"/>
            <a:ext cx="1993392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40">
                <a:solidFill>
                  <a:srgbClr val="5F7180"/>
                </a:solidFill>
              </a:rPr>
              <a:t>Checkpoint response • evidence</a:t>
            </a:r>
            <a:endParaRPr sz="940"/>
          </a:p>
        </p:txBody>
      </p:sp>
      <p:sp>
        <p:nvSpPr>
          <p:cNvPr id="28" name="Shape 22">
            <a:extLst xmlns:a="http://schemas.openxmlformats.org/drawingml/2006/main">
              <a:ext uri="{FF2B5EF4-FFF2-40B4-BE49-F238E27FC236}">
                <a16:creationId xmlns:a16="http://schemas.microsoft.com/office/drawing/2014/main" id="{575BC668-2B80-4757-8815-F61A280BD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088" y="2606040"/>
            <a:ext cx="23774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B4C2CC"/>
            </a:solidFill>
            <a:prstDash val="solid"/>
            <a:headEnd type="none"/>
            <a:tailEnd type="triangle"/>
          </a:ln>
        </p:spPr>
      </p:sp>
      <p:sp>
        <p:nvSpPr>
          <p:cNvPr id="29" name="Shape 23">
            <a:extLst xmlns:a="http://schemas.openxmlformats.org/drawingml/2006/main">
              <a:ext uri="{FF2B5EF4-FFF2-40B4-BE49-F238E27FC236}">
                <a16:creationId xmlns:a16="http://schemas.microsoft.com/office/drawing/2014/main" id="{7EBEBE7B-2C9F-47B5-A058-57D7088DC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5984" y="1737360"/>
            <a:ext cx="2487168" cy="1691640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4EA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CBD4DA">
                <a:alpha val="14000"/>
              </a:srgbClr>
            </a:outerShdw>
          </a:effectLst>
        </p:spPr>
      </p:sp>
      <p:sp>
        <p:nvSpPr>
          <p:cNvPr id="30" name="Shape 24">
            <a:extLst xmlns:a="http://schemas.openxmlformats.org/drawingml/2006/main">
              <a:ext uri="{FF2B5EF4-FFF2-40B4-BE49-F238E27FC236}">
                <a16:creationId xmlns:a16="http://schemas.microsoft.com/office/drawing/2014/main" id="{1663173F-0AE4-4AD3-966A-5B8EBC973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8864" y="1920240"/>
            <a:ext cx="502920" cy="502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B61FF"/>
          </a:solidFill>
          <a:ln xmlns:a="http://schemas.openxmlformats.org/drawingml/2006/main" w="12700">
            <a:solidFill>
              <a:srgbClr val="7B61FF"/>
            </a:solidFill>
            <a:prstDash val="solid"/>
          </a:ln>
        </p:spPr>
      </p:sp>
      <p:sp>
        <p:nvSpPr>
          <p:cNvPr id="31" name="Text 25">
            <a:extLst xmlns:a="http://schemas.openxmlformats.org/drawingml/2006/main">
              <a:ext uri="{FF2B5EF4-FFF2-40B4-BE49-F238E27FC236}">
                <a16:creationId xmlns:a16="http://schemas.microsoft.com/office/drawing/2014/main" id="{FBA4726B-6864-4326-949D-917A71762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8864" y="2048256"/>
            <a:ext cx="50292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FFFFF"/>
                </a:solidFill>
              </a:rPr>
              <a:t>4</a:t>
            </a:r>
            <a:endParaRPr sz="950"/>
          </a:p>
        </p:txBody>
      </p:sp>
      <p:pic>
        <p:nvPicPr>
          <p:cNvPr id="102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c9f824f4174c5a">
            <a:extLst>
              <a:ext uri="{96DAC541-7B7A-43D3-8B79-37D633B846F1}">
                <asvg:svgBlip xmlns:asvg="http://schemas.microsoft.com/office/drawing/2016/SVG/main" r:embed="R62e7f926c5774341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90504" y="1911096"/>
            <a:ext cx="393192" cy="393192"/>
          </a:xfrm>
          <a:prstGeom xmlns:a="http://schemas.openxmlformats.org/drawingml/2006/main" prst="rect">
            <a:avLst/>
          </a:prstGeom>
        </p:spPr>
      </p:pic>
      <p:sp>
        <p:nvSpPr>
          <p:cNvPr id="33" name="Text 26">
            <a:extLst xmlns:a="http://schemas.openxmlformats.org/drawingml/2006/main">
              <a:ext uri="{FF2B5EF4-FFF2-40B4-BE49-F238E27FC236}">
                <a16:creationId xmlns:a16="http://schemas.microsoft.com/office/drawing/2014/main" id="{25FE4DE5-6BE5-4154-82EA-AC2C8402B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7152" y="2578608"/>
            <a:ext cx="19659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30" b="1">
                <a:solidFill>
                  <a:srgbClr val="16324F"/>
                </a:solidFill>
              </a:rPr>
              <a:t>Score</a:t>
            </a:r>
            <a:endParaRPr sz="1430"/>
          </a:p>
        </p:txBody>
      </p:sp>
      <p:sp>
        <p:nvSpPr>
          <p:cNvPr id="34" name="Text 27">
            <a:extLst xmlns:a="http://schemas.openxmlformats.org/drawingml/2006/main">
              <a:ext uri="{FF2B5EF4-FFF2-40B4-BE49-F238E27FC236}">
                <a16:creationId xmlns:a16="http://schemas.microsoft.com/office/drawing/2014/main" id="{E91E9B5E-720A-4A69-BB27-6C878F8BB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7152" y="2962656"/>
            <a:ext cx="1993392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40">
                <a:solidFill>
                  <a:srgbClr val="5F7180"/>
                </a:solidFill>
              </a:rPr>
              <a:t>Auto score • compliance • gaps</a:t>
            </a:r>
            <a:endParaRPr sz="940"/>
          </a:p>
        </p:txBody>
      </p:sp>
      <p:sp>
        <p:nvSpPr>
          <p:cNvPr id="35" name="Shape 28">
            <a:extLst xmlns:a="http://schemas.openxmlformats.org/drawingml/2006/main">
              <a:ext uri="{FF2B5EF4-FFF2-40B4-BE49-F238E27FC236}">
                <a16:creationId xmlns:a16="http://schemas.microsoft.com/office/drawing/2014/main" id="{90E47ADF-8B88-402B-A84F-309AFE19C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995928"/>
            <a:ext cx="2487168" cy="1691640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4EA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CBD4DA">
                <a:alpha val="14000"/>
              </a:srgbClr>
            </a:outerShdw>
          </a:effectLst>
        </p:spPr>
      </p:sp>
      <p:sp>
        <p:nvSpPr>
          <p:cNvPr id="36" name="Shape 29">
            <a:extLst xmlns:a="http://schemas.openxmlformats.org/drawingml/2006/main">
              <a:ext uri="{FF2B5EF4-FFF2-40B4-BE49-F238E27FC236}">
                <a16:creationId xmlns:a16="http://schemas.microsoft.com/office/drawing/2014/main" id="{87979661-C6ED-4094-A26C-0EF983D38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4178808"/>
            <a:ext cx="502920" cy="502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4A5F"/>
          </a:solidFill>
          <a:ln xmlns:a="http://schemas.openxmlformats.org/drawingml/2006/main" w="12700">
            <a:solidFill>
              <a:srgbClr val="E84A5F"/>
            </a:solidFill>
            <a:prstDash val="solid"/>
          </a:ln>
        </p:spPr>
      </p:sp>
      <p:sp>
        <p:nvSpPr>
          <p:cNvPr id="37" name="Text 30">
            <a:extLst xmlns:a="http://schemas.openxmlformats.org/drawingml/2006/main">
              <a:ext uri="{FF2B5EF4-FFF2-40B4-BE49-F238E27FC236}">
                <a16:creationId xmlns:a16="http://schemas.microsoft.com/office/drawing/2014/main" id="{319B3F25-AD8D-4DCE-A90D-3DC1D647C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4306824"/>
            <a:ext cx="50292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FFFFF"/>
                </a:solidFill>
              </a:rPr>
              <a:t>5</a:t>
            </a:r>
            <a:endParaRPr sz="950"/>
          </a:p>
        </p:txBody>
      </p:sp>
      <p:pic>
        <p:nvPicPr>
          <p:cNvPr id="108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a3c4490634435f">
            <a:extLst>
              <a:ext uri="{96DAC541-7B7A-43D3-8B79-37D633B846F1}">
                <asvg:svgBlip xmlns:asvg="http://schemas.microsoft.com/office/drawing/2016/SVG/main" r:embed="Ra85532019fad4750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441448" y="4169664"/>
            <a:ext cx="393192" cy="393192"/>
          </a:xfrm>
          <a:prstGeom xmlns:a="http://schemas.openxmlformats.org/drawingml/2006/main" prst="rect">
            <a:avLst/>
          </a:prstGeom>
        </p:spPr>
      </p:pic>
      <p:sp>
        <p:nvSpPr>
          <p:cNvPr id="39" name="Text 31">
            <a:extLst xmlns:a="http://schemas.openxmlformats.org/drawingml/2006/main">
              <a:ext uri="{FF2B5EF4-FFF2-40B4-BE49-F238E27FC236}">
                <a16:creationId xmlns:a16="http://schemas.microsoft.com/office/drawing/2014/main" id="{B158A1C6-8C63-48A0-A32D-127819F1A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4837176"/>
            <a:ext cx="19659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30" b="1">
                <a:solidFill>
                  <a:srgbClr val="16324F"/>
                </a:solidFill>
              </a:rPr>
              <a:t>Act</a:t>
            </a:r>
            <a:endParaRPr sz="1430"/>
          </a:p>
        </p:txBody>
      </p:sp>
      <p:sp>
        <p:nvSpPr>
          <p:cNvPr id="40" name="Text 32">
            <a:extLst xmlns:a="http://schemas.openxmlformats.org/drawingml/2006/main">
              <a:ext uri="{FF2B5EF4-FFF2-40B4-BE49-F238E27FC236}">
                <a16:creationId xmlns:a16="http://schemas.microsoft.com/office/drawing/2014/main" id="{0B9EAE24-9BB6-45E2-B56A-BA348B42A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5221224"/>
            <a:ext cx="1993392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40">
                <a:solidFill>
                  <a:srgbClr val="5F7180"/>
                </a:solidFill>
              </a:rPr>
              <a:t>Owner • target • action plan</a:t>
            </a:r>
            <a:endParaRPr sz="940"/>
          </a:p>
        </p:txBody>
      </p:sp>
      <p:sp>
        <p:nvSpPr>
          <p:cNvPr id="41" name="Shape 33">
            <a:extLst xmlns:a="http://schemas.openxmlformats.org/drawingml/2006/main">
              <a:ext uri="{FF2B5EF4-FFF2-40B4-BE49-F238E27FC236}">
                <a16:creationId xmlns:a16="http://schemas.microsoft.com/office/drawing/2014/main" id="{111C2C5B-F4D5-4E87-AA49-FBDBE5451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2384" y="4864608"/>
            <a:ext cx="23774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B4C2CC"/>
            </a:solidFill>
            <a:prstDash val="solid"/>
            <a:headEnd type="none"/>
            <a:tailEnd type="triangle"/>
          </a:ln>
        </p:spPr>
      </p:sp>
      <p:sp>
        <p:nvSpPr>
          <p:cNvPr id="42" name="Shape 34">
            <a:extLst xmlns:a="http://schemas.openxmlformats.org/drawingml/2006/main">
              <a:ext uri="{FF2B5EF4-FFF2-40B4-BE49-F238E27FC236}">
                <a16:creationId xmlns:a16="http://schemas.microsoft.com/office/drawing/2014/main" id="{7F612A7A-6209-4F63-9417-2FA58A17A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3995928"/>
            <a:ext cx="2487168" cy="1691640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4EA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CBD4DA">
                <a:alpha val="14000"/>
              </a:srgbClr>
            </a:outerShdw>
          </a:effectLst>
        </p:spPr>
      </p:sp>
      <p:sp>
        <p:nvSpPr>
          <p:cNvPr id="43" name="Shape 35">
            <a:extLst xmlns:a="http://schemas.openxmlformats.org/drawingml/2006/main">
              <a:ext uri="{FF2B5EF4-FFF2-40B4-BE49-F238E27FC236}">
                <a16:creationId xmlns:a16="http://schemas.microsoft.com/office/drawing/2014/main" id="{693B1BA4-A7B5-495A-81B4-84722F555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4178808"/>
            <a:ext cx="502920" cy="502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B67D"/>
          </a:solidFill>
          <a:ln xmlns:a="http://schemas.openxmlformats.org/drawingml/2006/main" w="12700">
            <a:solidFill>
              <a:srgbClr val="2CB67D"/>
            </a:solidFill>
            <a:prstDash val="solid"/>
          </a:ln>
        </p:spPr>
      </p:sp>
      <p:sp>
        <p:nvSpPr>
          <p:cNvPr id="44" name="Text 36">
            <a:extLst xmlns:a="http://schemas.openxmlformats.org/drawingml/2006/main">
              <a:ext uri="{FF2B5EF4-FFF2-40B4-BE49-F238E27FC236}">
                <a16:creationId xmlns:a16="http://schemas.microsoft.com/office/drawing/2014/main" id="{1F5BBB8F-00CE-4E59-9897-A970E9473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4306824"/>
            <a:ext cx="50292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FFFFF"/>
                </a:solidFill>
              </a:rPr>
              <a:t>6</a:t>
            </a:r>
            <a:endParaRPr sz="950"/>
          </a:p>
        </p:txBody>
      </p:sp>
      <p:pic>
        <p:nvPicPr>
          <p:cNvPr id="115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f9c2986c4b4ec9">
            <a:extLst>
              <a:ext uri="{96DAC541-7B7A-43D3-8B79-37D633B846F1}">
                <asvg:svgBlip xmlns:asvg="http://schemas.microsoft.com/office/drawing/2016/SVG/main" r:embed="Rf94476b064884f0d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57800" y="4169664"/>
            <a:ext cx="393192" cy="393192"/>
          </a:xfrm>
          <a:prstGeom xmlns:a="http://schemas.openxmlformats.org/drawingml/2006/main" prst="rect">
            <a:avLst/>
          </a:prstGeom>
        </p:spPr>
      </p:pic>
      <p:sp>
        <p:nvSpPr>
          <p:cNvPr id="46" name="Text 37">
            <a:extLst xmlns:a="http://schemas.openxmlformats.org/drawingml/2006/main">
              <a:ext uri="{FF2B5EF4-FFF2-40B4-BE49-F238E27FC236}">
                <a16:creationId xmlns:a16="http://schemas.microsoft.com/office/drawing/2014/main" id="{13FDE56C-3BA3-40A4-ABE3-4D8DBF31D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4448" y="4837176"/>
            <a:ext cx="19659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30" b="1">
                <a:solidFill>
                  <a:srgbClr val="16324F"/>
                </a:solidFill>
              </a:rPr>
              <a:t>Close</a:t>
            </a:r>
            <a:endParaRPr sz="1430"/>
          </a:p>
        </p:txBody>
      </p:sp>
      <p:sp>
        <p:nvSpPr>
          <p:cNvPr id="47" name="Text 38">
            <a:extLst xmlns:a="http://schemas.openxmlformats.org/drawingml/2006/main">
              <a:ext uri="{FF2B5EF4-FFF2-40B4-BE49-F238E27FC236}">
                <a16:creationId xmlns:a16="http://schemas.microsoft.com/office/drawing/2014/main" id="{30DF32F0-D9F5-42AC-8DD4-9AE801FAD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4448" y="5221224"/>
            <a:ext cx="1993392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40">
                <a:solidFill>
                  <a:srgbClr val="5F7180"/>
                </a:solidFill>
              </a:rPr>
              <a:t>Evidence • status • revised score</a:t>
            </a:r>
            <a:endParaRPr sz="940"/>
          </a:p>
        </p:txBody>
      </p:sp>
      <p:sp>
        <p:nvSpPr>
          <p:cNvPr id="48" name="Shape 39">
            <a:extLst xmlns:a="http://schemas.openxmlformats.org/drawingml/2006/main">
              <a:ext uri="{FF2B5EF4-FFF2-40B4-BE49-F238E27FC236}">
                <a16:creationId xmlns:a16="http://schemas.microsoft.com/office/drawing/2014/main" id="{288EC418-8C68-41DF-BE34-28CCCB9D6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8736" y="4864608"/>
            <a:ext cx="23774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B4C2CC"/>
            </a:solidFill>
            <a:prstDash val="solid"/>
            <a:headEnd type="none"/>
            <a:tailEnd type="triangle"/>
          </a:ln>
        </p:spPr>
      </p:sp>
      <p:sp>
        <p:nvSpPr>
          <p:cNvPr id="49" name="Shape 40">
            <a:extLst xmlns:a="http://schemas.openxmlformats.org/drawingml/2006/main">
              <a:ext uri="{FF2B5EF4-FFF2-40B4-BE49-F238E27FC236}">
                <a16:creationId xmlns:a16="http://schemas.microsoft.com/office/drawing/2014/main" id="{31276D0C-83D0-4FA2-B757-682BF74D8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9632" y="3995928"/>
            <a:ext cx="2487168" cy="1691640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4EA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CBD4DA">
                <a:alpha val="14000"/>
              </a:srgbClr>
            </a:outerShdw>
          </a:effectLst>
        </p:spPr>
      </p:sp>
      <p:sp>
        <p:nvSpPr>
          <p:cNvPr id="50" name="Shape 41">
            <a:extLst xmlns:a="http://schemas.openxmlformats.org/drawingml/2006/main">
              <a:ext uri="{FF2B5EF4-FFF2-40B4-BE49-F238E27FC236}">
                <a16:creationId xmlns:a16="http://schemas.microsoft.com/office/drawing/2014/main" id="{EE8486FF-08D4-4C86-B1EA-3608D73FC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512" y="4178808"/>
            <a:ext cx="502920" cy="502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7FF9"/>
          </a:solidFill>
          <a:ln xmlns:a="http://schemas.openxmlformats.org/drawingml/2006/main" w="12700">
            <a:solidFill>
              <a:srgbClr val="2D7FF9"/>
            </a:solidFill>
            <a:prstDash val="solid"/>
          </a:ln>
        </p:spPr>
      </p:sp>
      <p:sp>
        <p:nvSpPr>
          <p:cNvPr id="51" name="Text 42">
            <a:extLst xmlns:a="http://schemas.openxmlformats.org/drawingml/2006/main">
              <a:ext uri="{FF2B5EF4-FFF2-40B4-BE49-F238E27FC236}">
                <a16:creationId xmlns:a16="http://schemas.microsoft.com/office/drawing/2014/main" id="{DA5E6280-2124-414B-973B-6DEE78845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512" y="4306824"/>
            <a:ext cx="50292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FFFFF"/>
                </a:solidFill>
              </a:rPr>
              <a:t>7</a:t>
            </a:r>
            <a:endParaRPr sz="950"/>
          </a:p>
        </p:txBody>
      </p:sp>
      <p:pic>
        <p:nvPicPr>
          <p:cNvPr id="122" name="Imag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25df853b2b4bb4">
            <a:extLst>
              <a:ext uri="{96DAC541-7B7A-43D3-8B79-37D633B846F1}">
                <asvg:svgBlip xmlns:asvg="http://schemas.microsoft.com/office/drawing/2016/SVG/main" r:embed="Rdd518e0c25974d76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74152" y="4169664"/>
            <a:ext cx="393192" cy="393192"/>
          </a:xfrm>
          <a:prstGeom xmlns:a="http://schemas.openxmlformats.org/drawingml/2006/main" prst="rect">
            <a:avLst/>
          </a:prstGeom>
        </p:spPr>
      </p:pic>
      <p:sp>
        <p:nvSpPr>
          <p:cNvPr id="53" name="Text 43">
            <a:extLst xmlns:a="http://schemas.openxmlformats.org/drawingml/2006/main">
              <a:ext uri="{FF2B5EF4-FFF2-40B4-BE49-F238E27FC236}">
                <a16:creationId xmlns:a16="http://schemas.microsoft.com/office/drawing/2014/main" id="{14BDEF83-E8CA-4710-83D5-129A0A8F8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837176"/>
            <a:ext cx="19659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30" b="1">
                <a:solidFill>
                  <a:srgbClr val="16324F"/>
                </a:solidFill>
              </a:rPr>
              <a:t>Monitor</a:t>
            </a:r>
            <a:endParaRPr sz="1430"/>
          </a:p>
        </p:txBody>
      </p:sp>
      <p:sp>
        <p:nvSpPr>
          <p:cNvPr id="54" name="Text 44">
            <a:extLst xmlns:a="http://schemas.openxmlformats.org/drawingml/2006/main">
              <a:ext uri="{FF2B5EF4-FFF2-40B4-BE49-F238E27FC236}">
                <a16:creationId xmlns:a16="http://schemas.microsoft.com/office/drawing/2014/main" id="{DE2DDCF9-BE2D-4AE6-BF1B-925060202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221224"/>
            <a:ext cx="1993392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40">
                <a:solidFill>
                  <a:srgbClr val="5F7180"/>
                </a:solidFill>
              </a:rPr>
              <a:t>KPI • outcomes • trend</a:t>
            </a:r>
            <a:endParaRPr sz="940"/>
          </a:p>
        </p:txBody>
      </p:sp>
      <p:sp>
        <p:nvSpPr>
          <p:cNvPr id="55" name="Shape 45">
            <a:extLst xmlns:a="http://schemas.openxmlformats.org/drawingml/2006/main">
              <a:ext uri="{FF2B5EF4-FFF2-40B4-BE49-F238E27FC236}">
                <a16:creationId xmlns:a16="http://schemas.microsoft.com/office/drawing/2014/main" id="{EA369547-1BC6-479A-B408-6C37715B9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088" y="4864608"/>
            <a:ext cx="23774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B4C2CC"/>
            </a:solidFill>
            <a:prstDash val="solid"/>
            <a:headEnd type="none"/>
            <a:tailEnd type="triangle"/>
          </a:ln>
        </p:spPr>
      </p:sp>
      <p:sp>
        <p:nvSpPr>
          <p:cNvPr id="56" name="Shape 46">
            <a:extLst xmlns:a="http://schemas.openxmlformats.org/drawingml/2006/main">
              <a:ext uri="{FF2B5EF4-FFF2-40B4-BE49-F238E27FC236}">
                <a16:creationId xmlns:a16="http://schemas.microsoft.com/office/drawing/2014/main" id="{7DA42793-CF96-4FC9-97C5-709EFB9C8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5984" y="3995928"/>
            <a:ext cx="2487168" cy="1691640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4EA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CBD4DA">
                <a:alpha val="14000"/>
              </a:srgbClr>
            </a:outerShdw>
          </a:effectLst>
        </p:spPr>
      </p:sp>
      <p:sp>
        <p:nvSpPr>
          <p:cNvPr id="57" name="Shape 47">
            <a:extLst xmlns:a="http://schemas.openxmlformats.org/drawingml/2006/main">
              <a:ext uri="{FF2B5EF4-FFF2-40B4-BE49-F238E27FC236}">
                <a16:creationId xmlns:a16="http://schemas.microsoft.com/office/drawing/2014/main" id="{A790BF57-CBAB-49AD-897D-D28199DAC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8864" y="4178808"/>
            <a:ext cx="502920" cy="502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6A"/>
          </a:solidFill>
          <a:ln xmlns:a="http://schemas.openxmlformats.org/drawingml/2006/main" w="12700">
            <a:solidFill>
              <a:srgbClr val="2F6F6A"/>
            </a:solidFill>
            <a:prstDash val="solid"/>
          </a:ln>
        </p:spPr>
      </p:sp>
      <p:sp>
        <p:nvSpPr>
          <p:cNvPr id="58" name="Text 48">
            <a:extLst xmlns:a="http://schemas.openxmlformats.org/drawingml/2006/main">
              <a:ext uri="{FF2B5EF4-FFF2-40B4-BE49-F238E27FC236}">
                <a16:creationId xmlns:a16="http://schemas.microsoft.com/office/drawing/2014/main" id="{7F9F2002-7D13-416E-85CD-507BF17E2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8864" y="4306824"/>
            <a:ext cx="50292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FFFFF"/>
                </a:solidFill>
              </a:rPr>
              <a:t>8</a:t>
            </a:r>
            <a:endParaRPr sz="950"/>
          </a:p>
        </p:txBody>
      </p:sp>
      <p:pic>
        <p:nvPicPr>
          <p:cNvPr id="129" name="Imag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d46d9a804b4df1">
            <a:extLst>
              <a:ext uri="{96DAC541-7B7A-43D3-8B79-37D633B846F1}">
                <asvg:svgBlip xmlns:asvg="http://schemas.microsoft.com/office/drawing/2016/SVG/main" r:embed="R27e48f3c9f8d49ba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90504" y="4169664"/>
            <a:ext cx="393192" cy="393192"/>
          </a:xfrm>
          <a:prstGeom xmlns:a="http://schemas.openxmlformats.org/drawingml/2006/main" prst="rect">
            <a:avLst/>
          </a:prstGeom>
        </p:spPr>
      </p:pic>
      <p:sp>
        <p:nvSpPr>
          <p:cNvPr id="60" name="Text 49">
            <a:extLst xmlns:a="http://schemas.openxmlformats.org/drawingml/2006/main">
              <a:ext uri="{FF2B5EF4-FFF2-40B4-BE49-F238E27FC236}">
                <a16:creationId xmlns:a16="http://schemas.microsoft.com/office/drawing/2014/main" id="{8DD9BBBB-1DEC-4944-9EFE-AA3FAF3E9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7152" y="4837176"/>
            <a:ext cx="19659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30" b="1">
                <a:solidFill>
                  <a:srgbClr val="16324F"/>
                </a:solidFill>
              </a:rPr>
              <a:t>Govern</a:t>
            </a:r>
            <a:endParaRPr sz="1430"/>
          </a:p>
        </p:txBody>
      </p:sp>
      <p:sp>
        <p:nvSpPr>
          <p:cNvPr id="61" name="Text 50">
            <a:extLst xmlns:a="http://schemas.openxmlformats.org/drawingml/2006/main">
              <a:ext uri="{FF2B5EF4-FFF2-40B4-BE49-F238E27FC236}">
                <a16:creationId xmlns:a16="http://schemas.microsoft.com/office/drawing/2014/main" id="{4F937BC6-0940-433F-A4FA-A330AEAEA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7152" y="5221224"/>
            <a:ext cx="1993392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40">
                <a:solidFill>
                  <a:srgbClr val="5F7180"/>
                </a:solidFill>
              </a:rPr>
              <a:t>Certification • dashboard • export</a:t>
            </a:r>
            <a:endParaRPr sz="940"/>
          </a:p>
        </p:txBody>
      </p:sp>
      <p:sp>
        <p:nvSpPr>
          <p:cNvPr id="62" name="Text 51">
            <a:extLst xmlns:a="http://schemas.openxmlformats.org/drawingml/2006/main">
              <a:ext uri="{FF2B5EF4-FFF2-40B4-BE49-F238E27FC236}">
                <a16:creationId xmlns:a16="http://schemas.microsoft.com/office/drawing/2014/main" id="{B80382B2-CFD3-42BE-8E1F-CE2216B7C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25312"/>
            <a:ext cx="102412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2F6F6A"/>
                </a:solidFill>
              </a:rPr>
              <a:t>Every step writes to a traceable digital record — making the improvement story visible, auditable and reportable.</a:t>
            </a:r>
            <a:endParaRPr sz="115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993860E7-5A26-4A05-9A63-3E38CE953A86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292840" y="6574536"/>
            <a:ext cx="347472" cy="1645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8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2538291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A87CC642-C23D-464C-BF33-E8243194A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10312"/>
            <a:ext cx="2011680" cy="27432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2F6F6A"/>
          </a:solidFill>
          <a:ln xmlns:a="http://schemas.openxmlformats.org/drawingml/2006/main" w="12700">
            <a:solidFill>
              <a:srgbClr val="2F6F6A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AE3780E-9144-40CD-9AA7-399A1BCF2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51460"/>
            <a:ext cx="1865376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60" b="1" spc="80">
                <a:solidFill>
                  <a:srgbClr val="FFFFFF"/>
                </a:solidFill>
              </a:rPr>
              <a:t>ASSESSMENT ENGINE</a:t>
            </a:r>
            <a:endParaRPr sz="76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144C14F0-64A2-4905-B1D8-A70045FFB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11480"/>
            <a:ext cx="1088136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16324F"/>
                </a:solidFill>
                <a:latin typeface="Aptos Display"/>
                <a:ea typeface="Aptos Display"/>
                <a:cs typeface="Aptos Display"/>
              </a:rPr>
              <a:t>Digital assessment designed for real field conditions</a:t>
            </a:r>
            <a:endParaRPr sz="25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862DF381-A8D7-41F8-B722-EEFDE118C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69264"/>
            <a:ext cx="7315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0">
            <a:solidFill>
              <a:srgbClr val="F18A2A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F08008E2-C5A8-429E-9851-F1640F60B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060704"/>
            <a:ext cx="109728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5F7180"/>
                </a:solidFill>
              </a:rPr>
              <a:t>The objective is not only paper elimination; it is better adoption, continuity and data quality.</a:t>
            </a:r>
            <a:endParaRPr sz="1150"/>
          </a:p>
        </p:txBody>
      </p:sp>
      <p:pic>
        <p:nvPicPr>
          <p:cNvPr id="6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43cd7b9dbb4bd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329184"/>
            <a:ext cx="841248" cy="292608"/>
          </a:xfrm>
          <a:prstGeom xmlns:a="http://schemas.openxmlformats.org/drawingml/2006/main" prst="rect">
            <a:avLst/>
          </a:prstGeom>
        </p:spPr>
      </p:pic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906BD733-811C-4ABE-8B2E-CA1AAF91C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83080"/>
            <a:ext cx="2697480" cy="1078992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4EA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CBD4DA">
                <a:alpha val="14000"/>
              </a:srgbClr>
            </a:outerShdw>
          </a:effectLst>
        </p:spPr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C0100DA0-978D-4968-8D95-960F12A55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1993392"/>
            <a:ext cx="438912" cy="4389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5F3"/>
          </a:solidFill>
          <a:ln xmlns:a="http://schemas.openxmlformats.org/drawingml/2006/main" w="12700">
            <a:solidFill>
              <a:srgbClr val="EAF5F3"/>
            </a:solidFill>
            <a:prstDash val="solid"/>
          </a:ln>
        </p:spPr>
      </p:sp>
      <p:pic>
        <p:nvPicPr>
          <p:cNvPr id="71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25ef9b30a04e14">
            <a:extLst>
              <a:ext uri="{96DAC541-7B7A-43D3-8B79-37D633B846F1}">
                <asvg:svgBlip xmlns:asvg="http://schemas.microsoft.com/office/drawing/2016/SVG/main" r:embed="R6356770fd3c34853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46404" y="2089404"/>
            <a:ext cx="246888" cy="246888"/>
          </a:xfrm>
          <a:prstGeom xmlns:a="http://schemas.openxmlformats.org/drawingml/2006/main" prst="rect">
            <a:avLst/>
          </a:prstGeom>
        </p:spPr>
      </p:pic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037B537B-4E40-4747-BDAC-442D34D74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9032" y="1929384"/>
            <a:ext cx="17373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80" b="1">
                <a:solidFill>
                  <a:srgbClr val="16324F"/>
                </a:solidFill>
              </a:rPr>
              <a:t>Pause &amp; resume</a:t>
            </a:r>
            <a:endParaRPr sz="1180"/>
          </a:p>
        </p:txBody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4C7AC2F3-8784-45C0-9C74-7CC0C421A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9032" y="2276856"/>
            <a:ext cx="1719072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90">
                <a:solidFill>
                  <a:srgbClr val="5F7180"/>
                </a:solidFill>
              </a:rPr>
              <a:t>Stagger long assessments without losing progress.</a:t>
            </a:r>
            <a:endParaRPr sz="890"/>
          </a:p>
        </p:txBody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D33ED8C0-549C-4873-BDB8-094BEB50C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783080"/>
            <a:ext cx="2697480" cy="1078992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4EA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CBD4DA">
                <a:alpha val="14000"/>
              </a:srgbClr>
            </a:outerShdw>
          </a:effectLst>
        </p:spPr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58C6D007-E506-497C-AD27-F54C7CB8F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2192" y="1993392"/>
            <a:ext cx="438912" cy="4389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2700">
            <a:solidFill>
              <a:srgbClr val="EAF2FF"/>
            </a:solidFill>
            <a:prstDash val="solid"/>
          </a:ln>
        </p:spPr>
      </p:sp>
      <p:pic>
        <p:nvPicPr>
          <p:cNvPr id="76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6ec353bb1a4d8a">
            <a:extLst>
              <a:ext uri="{96DAC541-7B7A-43D3-8B79-37D633B846F1}">
                <asvg:svgBlip xmlns:asvg="http://schemas.microsoft.com/office/drawing/2016/SVG/main" r:embed="R4cb412499b0e4404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18204" y="2089404"/>
            <a:ext cx="246888" cy="246888"/>
          </a:xfrm>
          <a:prstGeom xmlns:a="http://schemas.openxmlformats.org/drawingml/2006/main" prst="rect">
            <a:avLst/>
          </a:prstGeom>
        </p:spPr>
      </p:pic>
      <p:sp>
        <p:nvSpPr>
          <p:cNvPr id="16" name="Text 11">
            <a:extLst xmlns:a="http://schemas.openxmlformats.org/drawingml/2006/main">
              <a:ext uri="{FF2B5EF4-FFF2-40B4-BE49-F238E27FC236}">
                <a16:creationId xmlns:a16="http://schemas.microsoft.com/office/drawing/2014/main" id="{88C0587C-3ACB-43BB-8E3E-33EB6DF89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0832" y="1929384"/>
            <a:ext cx="17373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80" b="1">
                <a:solidFill>
                  <a:srgbClr val="16324F"/>
                </a:solidFill>
              </a:rPr>
              <a:t>Evidence-ready</a:t>
            </a:r>
            <a:endParaRPr sz="1180"/>
          </a:p>
        </p:txBody>
      </p:sp>
      <p:sp>
        <p:nvSpPr>
          <p:cNvPr id="17" name="Text 12">
            <a:extLst xmlns:a="http://schemas.openxmlformats.org/drawingml/2006/main">
              <a:ext uri="{FF2B5EF4-FFF2-40B4-BE49-F238E27FC236}">
                <a16:creationId xmlns:a16="http://schemas.microsoft.com/office/drawing/2014/main" id="{2AD170B5-8C9E-4D86-B096-4CCF180ED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0832" y="2276856"/>
            <a:ext cx="1719072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90">
                <a:solidFill>
                  <a:srgbClr val="5F7180"/>
                </a:solidFill>
              </a:rPr>
              <a:t>Attach documents / notes and keep them with the checkpoint.</a:t>
            </a:r>
            <a:endParaRPr sz="890"/>
          </a:p>
        </p:txBody>
      </p:sp>
      <p:sp>
        <p:nvSpPr>
          <p:cNvPr id="18" name="Shape 13">
            <a:extLst xmlns:a="http://schemas.openxmlformats.org/drawingml/2006/main">
              <a:ext uri="{FF2B5EF4-FFF2-40B4-BE49-F238E27FC236}">
                <a16:creationId xmlns:a16="http://schemas.microsoft.com/office/drawing/2014/main" id="{DA8A0B3F-E943-4A94-97D7-7D877853C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36392"/>
            <a:ext cx="2697480" cy="1078992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4EA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CBD4DA">
                <a:alpha val="14000"/>
              </a:srgbClr>
            </a:outerShdw>
          </a:effectLst>
        </p:spPr>
      </p:sp>
      <p:sp>
        <p:nvSpPr>
          <p:cNvPr id="19" name="Shape 14">
            <a:extLst xmlns:a="http://schemas.openxmlformats.org/drawingml/2006/main">
              <a:ext uri="{FF2B5EF4-FFF2-40B4-BE49-F238E27FC236}">
                <a16:creationId xmlns:a16="http://schemas.microsoft.com/office/drawing/2014/main" id="{1D1C8FF3-B98C-4C0A-B654-BF524A6D4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3346704"/>
            <a:ext cx="438912" cy="4389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2E7"/>
          </a:solidFill>
          <a:ln xmlns:a="http://schemas.openxmlformats.org/drawingml/2006/main" w="12700">
            <a:solidFill>
              <a:srgbClr val="FFF2E7"/>
            </a:solidFill>
            <a:prstDash val="solid"/>
          </a:ln>
        </p:spPr>
      </p:sp>
      <p:pic>
        <p:nvPicPr>
          <p:cNvPr id="81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d6e29bc669471a">
            <a:extLst>
              <a:ext uri="{96DAC541-7B7A-43D3-8B79-37D633B846F1}">
                <asvg:svgBlip xmlns:asvg="http://schemas.microsoft.com/office/drawing/2016/SVG/main" r:embed="Rd16759ff7fdc47eb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46404" y="3442716"/>
            <a:ext cx="246888" cy="246888"/>
          </a:xfrm>
          <a:prstGeom xmlns:a="http://schemas.openxmlformats.org/drawingml/2006/main" prst="rect">
            <a:avLst/>
          </a:prstGeom>
        </p:spPr>
      </p:pic>
      <p:sp>
        <p:nvSpPr>
          <p:cNvPr id="21" name="Text 15">
            <a:extLst xmlns:a="http://schemas.openxmlformats.org/drawingml/2006/main">
              <a:ext uri="{FF2B5EF4-FFF2-40B4-BE49-F238E27FC236}">
                <a16:creationId xmlns:a16="http://schemas.microsoft.com/office/drawing/2014/main" id="{85AD0B45-0687-4F31-9B64-71416D5FC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9032" y="3282696"/>
            <a:ext cx="17373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80" b="1">
                <a:solidFill>
                  <a:srgbClr val="16324F"/>
                </a:solidFill>
              </a:rPr>
              <a:t>Multiple cycles</a:t>
            </a:r>
            <a:endParaRPr sz="1180"/>
          </a:p>
        </p:txBody>
      </p:sp>
      <p:sp>
        <p:nvSpPr>
          <p:cNvPr id="22" name="Text 16">
            <a:extLst xmlns:a="http://schemas.openxmlformats.org/drawingml/2006/main">
              <a:ext uri="{FF2B5EF4-FFF2-40B4-BE49-F238E27FC236}">
                <a16:creationId xmlns:a16="http://schemas.microsoft.com/office/drawing/2014/main" id="{25658A59-AA78-4862-A63E-566CB3103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9032" y="3630168"/>
            <a:ext cx="1719072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90">
                <a:solidFill>
                  <a:srgbClr val="5F7180"/>
                </a:solidFill>
              </a:rPr>
              <a:t>Baseline, reassessment and repeated improvement cycles.</a:t>
            </a:r>
            <a:endParaRPr sz="890"/>
          </a:p>
        </p:txBody>
      </p:sp>
      <p:sp>
        <p:nvSpPr>
          <p:cNvPr id="23" name="Shape 17">
            <a:extLst xmlns:a="http://schemas.openxmlformats.org/drawingml/2006/main">
              <a:ext uri="{FF2B5EF4-FFF2-40B4-BE49-F238E27FC236}">
                <a16:creationId xmlns:a16="http://schemas.microsoft.com/office/drawing/2014/main" id="{1638B7E2-EF59-4EBB-BD49-F881F090D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136392"/>
            <a:ext cx="2697480" cy="1078992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4EA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CBD4DA">
                <a:alpha val="14000"/>
              </a:srgbClr>
            </a:outerShdw>
          </a:effectLst>
        </p:spPr>
      </p:sp>
      <p:sp>
        <p:nvSpPr>
          <p:cNvPr id="24" name="Shape 18">
            <a:extLst xmlns:a="http://schemas.openxmlformats.org/drawingml/2006/main">
              <a:ext uri="{FF2B5EF4-FFF2-40B4-BE49-F238E27FC236}">
                <a16:creationId xmlns:a16="http://schemas.microsoft.com/office/drawing/2014/main" id="{FB609568-C17A-41F7-B6E2-DFB54D959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2192" y="3346704"/>
            <a:ext cx="438912" cy="4389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EEFF"/>
          </a:solidFill>
          <a:ln xmlns:a="http://schemas.openxmlformats.org/drawingml/2006/main" w="12700">
            <a:solidFill>
              <a:srgbClr val="F2EEFF"/>
            </a:solidFill>
            <a:prstDash val="solid"/>
          </a:ln>
        </p:spPr>
      </p:sp>
      <p:pic>
        <p:nvPicPr>
          <p:cNvPr id="86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0db81e5d7349ef">
            <a:extLst>
              <a:ext uri="{96DAC541-7B7A-43D3-8B79-37D633B846F1}">
                <asvg:svgBlip xmlns:asvg="http://schemas.microsoft.com/office/drawing/2016/SVG/main" r:embed="R29833e28f1a94ee6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18204" y="3442716"/>
            <a:ext cx="246888" cy="246888"/>
          </a:xfrm>
          <a:prstGeom xmlns:a="http://schemas.openxmlformats.org/drawingml/2006/main" prst="rect">
            <a:avLst/>
          </a:prstGeom>
        </p:spPr>
      </p:pic>
      <p:sp>
        <p:nvSpPr>
          <p:cNvPr id="26" name="Text 19">
            <a:extLst xmlns:a="http://schemas.openxmlformats.org/drawingml/2006/main">
              <a:ext uri="{FF2B5EF4-FFF2-40B4-BE49-F238E27FC236}">
                <a16:creationId xmlns:a16="http://schemas.microsoft.com/office/drawing/2014/main" id="{B3FBFDFF-E89C-4390-97D5-3D56C9D4A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0832" y="3282696"/>
            <a:ext cx="17373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80" b="1">
                <a:solidFill>
                  <a:srgbClr val="16324F"/>
                </a:solidFill>
              </a:rPr>
              <a:t>Contextual scoring</a:t>
            </a:r>
            <a:endParaRPr sz="1180"/>
          </a:p>
        </p:txBody>
      </p:sp>
      <p:sp>
        <p:nvSpPr>
          <p:cNvPr id="27" name="Text 20">
            <a:extLst xmlns:a="http://schemas.openxmlformats.org/drawingml/2006/main">
              <a:ext uri="{FF2B5EF4-FFF2-40B4-BE49-F238E27FC236}">
                <a16:creationId xmlns:a16="http://schemas.microsoft.com/office/drawing/2014/main" id="{F90874DC-932C-4895-B95A-DC02823FD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0832" y="3630168"/>
            <a:ext cx="1719072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90">
                <a:solidFill>
                  <a:srgbClr val="5F7180"/>
                </a:solidFill>
              </a:rPr>
              <a:t>Configurable scoring and completion rules by framework.</a:t>
            </a:r>
            <a:endParaRPr sz="890"/>
          </a:p>
        </p:txBody>
      </p:sp>
      <p:sp>
        <p:nvSpPr>
          <p:cNvPr id="28" name="Shape 21">
            <a:extLst xmlns:a="http://schemas.openxmlformats.org/drawingml/2006/main">
              <a:ext uri="{FF2B5EF4-FFF2-40B4-BE49-F238E27FC236}">
                <a16:creationId xmlns:a16="http://schemas.microsoft.com/office/drawing/2014/main" id="{46C226F5-BA58-4407-8F07-F22B9E5A1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89704"/>
            <a:ext cx="2697480" cy="1078992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4EA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CBD4DA">
                <a:alpha val="14000"/>
              </a:srgbClr>
            </a:outerShdw>
          </a:effectLst>
        </p:spPr>
      </p:sp>
      <p:sp>
        <p:nvSpPr>
          <p:cNvPr id="29" name="Shape 22">
            <a:extLst xmlns:a="http://schemas.openxmlformats.org/drawingml/2006/main">
              <a:ext uri="{FF2B5EF4-FFF2-40B4-BE49-F238E27FC236}">
                <a16:creationId xmlns:a16="http://schemas.microsoft.com/office/drawing/2014/main" id="{553F1D3C-72B9-4F50-AC78-DFC6D5552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4700016"/>
            <a:ext cx="438912" cy="4389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F2"/>
          </a:solidFill>
          <a:ln xmlns:a="http://schemas.openxmlformats.org/drawingml/2006/main" w="12700">
            <a:solidFill>
              <a:srgbClr val="EAF8F2"/>
            </a:solidFill>
            <a:prstDash val="solid"/>
          </a:ln>
        </p:spPr>
      </p:sp>
      <p:pic>
        <p:nvPicPr>
          <p:cNvPr id="91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a402e719fa4075">
            <a:extLst>
              <a:ext uri="{96DAC541-7B7A-43D3-8B79-37D633B846F1}">
                <asvg:svgBlip xmlns:asvg="http://schemas.microsoft.com/office/drawing/2016/SVG/main" r:embed="Re77d2d2c66974511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46404" y="4796028"/>
            <a:ext cx="246888" cy="246888"/>
          </a:xfrm>
          <a:prstGeom xmlns:a="http://schemas.openxmlformats.org/drawingml/2006/main" prst="rect">
            <a:avLst/>
          </a:prstGeom>
        </p:spPr>
      </p:pic>
      <p:sp>
        <p:nvSpPr>
          <p:cNvPr id="31" name="Text 23">
            <a:extLst xmlns:a="http://schemas.openxmlformats.org/drawingml/2006/main">
              <a:ext uri="{FF2B5EF4-FFF2-40B4-BE49-F238E27FC236}">
                <a16:creationId xmlns:a16="http://schemas.microsoft.com/office/drawing/2014/main" id="{E6374DF8-E95F-4324-ACC8-FB6A89F16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9032" y="4636008"/>
            <a:ext cx="17373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80" b="1">
                <a:solidFill>
                  <a:srgbClr val="16324F"/>
                </a:solidFill>
              </a:rPr>
              <a:t>Progress tracking</a:t>
            </a:r>
            <a:endParaRPr sz="1180"/>
          </a:p>
        </p:txBody>
      </p:sp>
      <p:sp>
        <p:nvSpPr>
          <p:cNvPr id="32" name="Text 24">
            <a:extLst xmlns:a="http://schemas.openxmlformats.org/drawingml/2006/main">
              <a:ext uri="{FF2B5EF4-FFF2-40B4-BE49-F238E27FC236}">
                <a16:creationId xmlns:a16="http://schemas.microsoft.com/office/drawing/2014/main" id="{65664E35-D5E4-4A0E-AF25-1CF8FA379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9032" y="4983480"/>
            <a:ext cx="1719072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90">
                <a:solidFill>
                  <a:srgbClr val="5F7180"/>
                </a:solidFill>
              </a:rPr>
              <a:t>Department / class / entity completion status in real time.</a:t>
            </a:r>
            <a:endParaRPr sz="890"/>
          </a:p>
        </p:txBody>
      </p:sp>
      <p:sp>
        <p:nvSpPr>
          <p:cNvPr id="33" name="Shape 25">
            <a:extLst xmlns:a="http://schemas.openxmlformats.org/drawingml/2006/main">
              <a:ext uri="{FF2B5EF4-FFF2-40B4-BE49-F238E27FC236}">
                <a16:creationId xmlns:a16="http://schemas.microsoft.com/office/drawing/2014/main" id="{E9F2D2E6-B0C3-4221-A2F8-76FA9B575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489704"/>
            <a:ext cx="2697480" cy="1078992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4EA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CBD4DA">
                <a:alpha val="14000"/>
              </a:srgbClr>
            </a:outerShdw>
          </a:effectLst>
        </p:spPr>
      </p:sp>
      <p:sp>
        <p:nvSpPr>
          <p:cNvPr id="34" name="Shape 26">
            <a:extLst xmlns:a="http://schemas.openxmlformats.org/drawingml/2006/main">
              <a:ext uri="{FF2B5EF4-FFF2-40B4-BE49-F238E27FC236}">
                <a16:creationId xmlns:a16="http://schemas.microsoft.com/office/drawing/2014/main" id="{F96CD4E5-70CC-4925-AA3F-B70A6E61D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2192" y="4700016"/>
            <a:ext cx="438912" cy="4389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DECEF"/>
          </a:solidFill>
          <a:ln xmlns:a="http://schemas.openxmlformats.org/drawingml/2006/main" w="12700">
            <a:solidFill>
              <a:srgbClr val="FDECEF"/>
            </a:solidFill>
            <a:prstDash val="solid"/>
          </a:ln>
        </p:spPr>
      </p:sp>
      <p:pic>
        <p:nvPicPr>
          <p:cNvPr id="96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92dc532c36472a">
            <a:extLst>
              <a:ext uri="{96DAC541-7B7A-43D3-8B79-37D633B846F1}">
                <asvg:svgBlip xmlns:asvg="http://schemas.microsoft.com/office/drawing/2016/SVG/main" r:embed="R0f89850120624896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18204" y="4796028"/>
            <a:ext cx="246888" cy="246888"/>
          </a:xfrm>
          <a:prstGeom xmlns:a="http://schemas.openxmlformats.org/drawingml/2006/main" prst="rect">
            <a:avLst/>
          </a:prstGeom>
        </p:spPr>
      </p:pic>
      <p:sp>
        <p:nvSpPr>
          <p:cNvPr id="36" name="Text 27">
            <a:extLst xmlns:a="http://schemas.openxmlformats.org/drawingml/2006/main">
              <a:ext uri="{FF2B5EF4-FFF2-40B4-BE49-F238E27FC236}">
                <a16:creationId xmlns:a16="http://schemas.microsoft.com/office/drawing/2014/main" id="{C967CE8B-6B76-4D25-AF8C-599F8DAB6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0832" y="4636008"/>
            <a:ext cx="17373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80" b="1">
                <a:solidFill>
                  <a:srgbClr val="16324F"/>
                </a:solidFill>
              </a:rPr>
              <a:t>Validation</a:t>
            </a:r>
            <a:endParaRPr sz="1180"/>
          </a:p>
        </p:txBody>
      </p:sp>
      <p:sp>
        <p:nvSpPr>
          <p:cNvPr id="37" name="Text 28">
            <a:extLst xmlns:a="http://schemas.openxmlformats.org/drawingml/2006/main">
              <a:ext uri="{FF2B5EF4-FFF2-40B4-BE49-F238E27FC236}">
                <a16:creationId xmlns:a16="http://schemas.microsoft.com/office/drawing/2014/main" id="{B4922F26-01E7-46EB-A65A-8F0451159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0832" y="4983480"/>
            <a:ext cx="1719072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90">
                <a:solidFill>
                  <a:srgbClr val="5F7180"/>
                </a:solidFill>
              </a:rPr>
              <a:t>Prevent duplicate or invalid entries using workflow rules.</a:t>
            </a:r>
            <a:endParaRPr sz="890"/>
          </a:p>
        </p:txBody>
      </p:sp>
      <p:sp>
        <p:nvSpPr>
          <p:cNvPr id="38" name="Shape 29">
            <a:extLst xmlns:a="http://schemas.openxmlformats.org/drawingml/2006/main">
              <a:ext uri="{FF2B5EF4-FFF2-40B4-BE49-F238E27FC236}">
                <a16:creationId xmlns:a16="http://schemas.microsoft.com/office/drawing/2014/main" id="{52F9F0B2-2A19-4DE9-81A0-19961BDA3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6288" y="1783080"/>
            <a:ext cx="4572000" cy="3986784"/>
          </a:xfrm>
          <a:prstGeom xmlns:a="http://schemas.openxmlformats.org/drawingml/2006/main" prst="roundRect">
            <a:avLst>
              <a:gd name="adj" fmla="val 1835"/>
            </a:avLst>
          </a:prstGeom>
          <a:solidFill xmlns:a="http://schemas.openxmlformats.org/drawingml/2006/main">
            <a:srgbClr val="16324F"/>
          </a:solidFill>
          <a:ln xmlns:a="http://schemas.openxmlformats.org/drawingml/2006/main" w="12700">
            <a:solidFill>
              <a:srgbClr val="16324F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CBD4DA">
                <a:alpha val="14000"/>
              </a:srgbClr>
            </a:outerShdw>
          </a:effectLst>
        </p:spPr>
      </p:sp>
      <p:sp>
        <p:nvSpPr>
          <p:cNvPr id="39" name="Text 30">
            <a:extLst xmlns:a="http://schemas.openxmlformats.org/drawingml/2006/main">
              <a:ext uri="{FF2B5EF4-FFF2-40B4-BE49-F238E27FC236}">
                <a16:creationId xmlns:a16="http://schemas.microsoft.com/office/drawing/2014/main" id="{6028B587-117E-430A-AC4E-CEFD57063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2048" y="2084832"/>
            <a:ext cx="25603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FFFFFF"/>
                </a:solidFill>
              </a:rPr>
              <a:t>Assessment Workspace</a:t>
            </a:r>
            <a:endParaRPr sz="1700"/>
          </a:p>
        </p:txBody>
      </p:sp>
      <p:sp>
        <p:nvSpPr>
          <p:cNvPr id="40" name="Text 31">
            <a:extLst xmlns:a="http://schemas.openxmlformats.org/drawingml/2006/main">
              <a:ext uri="{FF2B5EF4-FFF2-40B4-BE49-F238E27FC236}">
                <a16:creationId xmlns:a16="http://schemas.microsoft.com/office/drawing/2014/main" id="{185202B3-CF42-4CB8-A2AC-37938DBF0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2048" y="2496312"/>
            <a:ext cx="3246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20">
                <a:solidFill>
                  <a:srgbClr val="B8D0DB"/>
                </a:solidFill>
              </a:rPr>
              <a:t>Department: Patient Rights  •  Cycle 2</a:t>
            </a:r>
            <a:endParaRPr sz="920"/>
          </a:p>
        </p:txBody>
      </p:sp>
      <p:sp>
        <p:nvSpPr>
          <p:cNvPr id="41" name="Shape 32">
            <a:extLst xmlns:a="http://schemas.openxmlformats.org/drawingml/2006/main">
              <a:ext uri="{FF2B5EF4-FFF2-40B4-BE49-F238E27FC236}">
                <a16:creationId xmlns:a16="http://schemas.microsoft.com/office/drawing/2014/main" id="{C3F58588-DEE5-47BF-BAD3-7BC944FE5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2048" y="2926080"/>
            <a:ext cx="3639312" cy="749808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24415B"/>
          </a:solidFill>
          <a:ln xmlns:a="http://schemas.openxmlformats.org/drawingml/2006/main" w="12700">
            <a:solidFill>
              <a:srgbClr val="38566F"/>
            </a:solidFill>
            <a:prstDash val="solid"/>
          </a:ln>
        </p:spPr>
      </p:sp>
      <p:sp>
        <p:nvSpPr>
          <p:cNvPr id="42" name="Text 33">
            <a:extLst xmlns:a="http://schemas.openxmlformats.org/drawingml/2006/main">
              <a:ext uri="{FF2B5EF4-FFF2-40B4-BE49-F238E27FC236}">
                <a16:creationId xmlns:a16="http://schemas.microsoft.com/office/drawing/2014/main" id="{C40C0A9A-D28E-410A-B579-63F15813B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3127248"/>
            <a:ext cx="315468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30" b="1">
                <a:solidFill>
                  <a:srgbClr val="FFFFFF"/>
                </a:solidFill>
              </a:rPr>
              <a:t>Checkpoint 4.2  |  Is informed consent documented?</a:t>
            </a:r>
            <a:endParaRPr sz="1030"/>
          </a:p>
        </p:txBody>
      </p:sp>
      <p:sp>
        <p:nvSpPr>
          <p:cNvPr id="43" name="Shape 34">
            <a:extLst xmlns:a="http://schemas.openxmlformats.org/drawingml/2006/main">
              <a:ext uri="{FF2B5EF4-FFF2-40B4-BE49-F238E27FC236}">
                <a16:creationId xmlns:a16="http://schemas.microsoft.com/office/drawing/2014/main" id="{789BB2A6-3AF4-4753-8369-E0AB3CDB0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950208"/>
            <a:ext cx="960120" cy="41148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2CB67D"/>
          </a:solidFill>
          <a:ln xmlns:a="http://schemas.openxmlformats.org/drawingml/2006/main" w="12700">
            <a:solidFill>
              <a:srgbClr val="2CB67D"/>
            </a:solidFill>
            <a:prstDash val="solid"/>
          </a:ln>
        </p:spPr>
      </p:sp>
      <p:sp>
        <p:nvSpPr>
          <p:cNvPr id="44" name="Text 35">
            <a:extLst xmlns:a="http://schemas.openxmlformats.org/drawingml/2006/main">
              <a:ext uri="{FF2B5EF4-FFF2-40B4-BE49-F238E27FC236}">
                <a16:creationId xmlns:a16="http://schemas.microsoft.com/office/drawing/2014/main" id="{F1EAAF4B-4290-4D53-B019-15702DC64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0920" y="4087368"/>
            <a:ext cx="8686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80" b="1">
                <a:solidFill>
                  <a:srgbClr val="FFFFFF"/>
                </a:solidFill>
              </a:rPr>
              <a:t>Fully</a:t>
            </a:r>
            <a:endParaRPr sz="780"/>
          </a:p>
        </p:txBody>
      </p:sp>
      <p:sp>
        <p:nvSpPr>
          <p:cNvPr id="45" name="Shape 36">
            <a:extLst xmlns:a="http://schemas.openxmlformats.org/drawingml/2006/main">
              <a:ext uri="{FF2B5EF4-FFF2-40B4-BE49-F238E27FC236}">
                <a16:creationId xmlns:a16="http://schemas.microsoft.com/office/drawing/2014/main" id="{7541A5C9-8C47-4513-A18D-1D6E89589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0768" y="3950208"/>
            <a:ext cx="960120" cy="41148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18A2A">
              <a:alpha val="25000"/>
            </a:srgbClr>
          </a:solidFill>
          <a:ln xmlns:a="http://schemas.openxmlformats.org/drawingml/2006/main" w="12700">
            <a:solidFill>
              <a:srgbClr val="F18A2A"/>
            </a:solidFill>
            <a:prstDash val="solid"/>
          </a:ln>
        </p:spPr>
      </p:sp>
      <p:sp>
        <p:nvSpPr>
          <p:cNvPr id="46" name="Text 37">
            <a:extLst xmlns:a="http://schemas.openxmlformats.org/drawingml/2006/main">
              <a:ext uri="{FF2B5EF4-FFF2-40B4-BE49-F238E27FC236}">
                <a16:creationId xmlns:a16="http://schemas.microsoft.com/office/drawing/2014/main" id="{6CD10926-2C6D-4145-BA1A-B0F526EFC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6488" y="4087368"/>
            <a:ext cx="8686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80" b="1">
                <a:solidFill>
                  <a:srgbClr val="F18A2A"/>
                </a:solidFill>
              </a:rPr>
              <a:t>Partially</a:t>
            </a:r>
            <a:endParaRPr sz="780"/>
          </a:p>
        </p:txBody>
      </p:sp>
      <p:sp>
        <p:nvSpPr>
          <p:cNvPr id="47" name="Shape 38">
            <a:extLst xmlns:a="http://schemas.openxmlformats.org/drawingml/2006/main">
              <a:ext uri="{FF2B5EF4-FFF2-40B4-BE49-F238E27FC236}">
                <a16:creationId xmlns:a16="http://schemas.microsoft.com/office/drawing/2014/main" id="{0B491F07-CA1D-401A-8828-DBE053727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6336" y="3950208"/>
            <a:ext cx="960120" cy="41148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84A5F">
              <a:alpha val="25000"/>
            </a:srgbClr>
          </a:solidFill>
          <a:ln xmlns:a="http://schemas.openxmlformats.org/drawingml/2006/main" w="12700">
            <a:solidFill>
              <a:srgbClr val="E84A5F"/>
            </a:solidFill>
            <a:prstDash val="solid"/>
          </a:ln>
        </p:spPr>
      </p:sp>
      <p:sp>
        <p:nvSpPr>
          <p:cNvPr id="48" name="Text 39">
            <a:extLst xmlns:a="http://schemas.openxmlformats.org/drawingml/2006/main">
              <a:ext uri="{FF2B5EF4-FFF2-40B4-BE49-F238E27FC236}">
                <a16:creationId xmlns:a16="http://schemas.microsoft.com/office/drawing/2014/main" id="{F2F70CE5-0100-4536-8DDB-9BFC215F0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2056" y="4087368"/>
            <a:ext cx="8686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80" b="1">
                <a:solidFill>
                  <a:srgbClr val="E84A5F"/>
                </a:solidFill>
              </a:rPr>
              <a:t>Non-compliant</a:t>
            </a:r>
            <a:endParaRPr sz="780"/>
          </a:p>
        </p:txBody>
      </p:sp>
      <p:sp>
        <p:nvSpPr>
          <p:cNvPr id="49" name="Shape 40">
            <a:extLst xmlns:a="http://schemas.openxmlformats.org/drawingml/2006/main">
              <a:ext uri="{FF2B5EF4-FFF2-40B4-BE49-F238E27FC236}">
                <a16:creationId xmlns:a16="http://schemas.microsoft.com/office/drawing/2014/main" id="{F57003DC-9DC7-4F64-9066-C667E651B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4681728"/>
            <a:ext cx="3584448" cy="438912"/>
          </a:xfrm>
          <a:prstGeom xmlns:a="http://schemas.openxmlformats.org/drawingml/2006/main" prst="roundRect">
            <a:avLst>
              <a:gd name="adj" fmla="val 10417"/>
            </a:avLst>
          </a:prstGeom>
          <a:solidFill xmlns:a="http://schemas.openxmlformats.org/drawingml/2006/main">
            <a:srgbClr val="1C3449"/>
          </a:solidFill>
          <a:ln xmlns:a="http://schemas.openxmlformats.org/drawingml/2006/main" w="12700">
            <a:solidFill>
              <a:srgbClr val="38566F"/>
            </a:solidFill>
            <a:prstDash val="solid"/>
          </a:ln>
        </p:spPr>
      </p:sp>
      <p:sp>
        <p:nvSpPr>
          <p:cNvPr id="50" name="Text 41">
            <a:extLst xmlns:a="http://schemas.openxmlformats.org/drawingml/2006/main">
              <a:ext uri="{FF2B5EF4-FFF2-40B4-BE49-F238E27FC236}">
                <a16:creationId xmlns:a16="http://schemas.microsoft.com/office/drawing/2014/main" id="{B8BDD4B0-1773-4F32-A2CE-4E5EEBD11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4928" y="4828032"/>
            <a:ext cx="251460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60">
                <a:solidFill>
                  <a:srgbClr val="BED1DB"/>
                </a:solidFill>
              </a:rPr>
              <a:t>Evidence / notes / attachment</a:t>
            </a:r>
            <a:endParaRPr sz="860"/>
          </a:p>
        </p:txBody>
      </p:sp>
      <p:pic>
        <p:nvPicPr>
          <p:cNvPr id="112" name="Imag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8fdd6bb96a49a0">
            <a:extLst>
              <a:ext uri="{96DAC541-7B7A-43D3-8B79-37D633B846F1}">
                <asvg:svgBlip xmlns:asvg="http://schemas.microsoft.com/office/drawing/2016/SVG/main" r:embed="R5ecdf275d0bb4ba2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378440" y="4791456"/>
            <a:ext cx="210312" cy="210312"/>
          </a:xfrm>
          <a:prstGeom xmlns:a="http://schemas.openxmlformats.org/drawingml/2006/main" prst="rect">
            <a:avLst/>
          </a:prstGeom>
        </p:spPr>
      </p:pic>
      <p:sp>
        <p:nvSpPr>
          <p:cNvPr id="52" name="Shape 42">
            <a:extLst xmlns:a="http://schemas.openxmlformats.org/drawingml/2006/main">
              <a:ext uri="{FF2B5EF4-FFF2-40B4-BE49-F238E27FC236}">
                <a16:creationId xmlns:a16="http://schemas.microsoft.com/office/drawing/2014/main" id="{2292096F-C694-4F0D-9388-4A5524803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330952"/>
            <a:ext cx="1280160" cy="329184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2F6F6A"/>
          </a:solidFill>
          <a:ln xmlns:a="http://schemas.openxmlformats.org/drawingml/2006/main" w="12700">
            <a:solidFill>
              <a:srgbClr val="2F6F6A"/>
            </a:solidFill>
            <a:prstDash val="solid"/>
          </a:ln>
        </p:spPr>
      </p:sp>
      <p:sp>
        <p:nvSpPr>
          <p:cNvPr id="53" name="Text 43">
            <a:extLst xmlns:a="http://schemas.openxmlformats.org/drawingml/2006/main">
              <a:ext uri="{FF2B5EF4-FFF2-40B4-BE49-F238E27FC236}">
                <a16:creationId xmlns:a16="http://schemas.microsoft.com/office/drawing/2014/main" id="{DE11E328-6CFA-44A8-8F7D-A24E8B547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4928" y="5440680"/>
            <a:ext cx="1051560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60" b="1">
                <a:solidFill>
                  <a:srgbClr val="FFFFFF"/>
                </a:solidFill>
              </a:rPr>
              <a:t>SAVE &amp; NEXT</a:t>
            </a:r>
            <a:endParaRPr sz="760"/>
          </a:p>
        </p:txBody>
      </p:sp>
      <p:sp>
        <p:nvSpPr>
          <p:cNvPr id="54" name="Text 44">
            <a:extLst xmlns:a="http://schemas.openxmlformats.org/drawingml/2006/main">
              <a:ext uri="{FF2B5EF4-FFF2-40B4-BE49-F238E27FC236}">
                <a16:creationId xmlns:a16="http://schemas.microsoft.com/office/drawing/2014/main" id="{29DD7811-F10B-430A-8BD3-82083E7C3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920" y="5413248"/>
            <a:ext cx="1005840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20" b="1">
                <a:solidFill>
                  <a:srgbClr val="9ED6CF"/>
                </a:solidFill>
              </a:rPr>
              <a:t>68% complete</a:t>
            </a:r>
            <a:endParaRPr sz="82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9188AA98-156F-44F1-A16D-FF06934EEB21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292840" y="6574536"/>
            <a:ext cx="347472" cy="1645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8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50828271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A0B48B23-9532-4BC1-B126-44087AD8A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10312"/>
            <a:ext cx="2011680" cy="27432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2F6F6A"/>
          </a:solidFill>
          <a:ln xmlns:a="http://schemas.openxmlformats.org/drawingml/2006/main" w="12700">
            <a:solidFill>
              <a:srgbClr val="2F6F6A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918E54DF-77C4-4938-A9C1-2F9B73C24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51460"/>
            <a:ext cx="1865376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60" b="1" spc="80">
                <a:solidFill>
                  <a:srgbClr val="FFFFFF"/>
                </a:solidFill>
              </a:rPr>
              <a:t>CQI</a:t>
            </a:r>
            <a:endParaRPr sz="76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F4485F4-A601-488A-A2F0-F60262291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11480"/>
            <a:ext cx="1088136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16324F"/>
                </a:solidFill>
                <a:latin typeface="Aptos Display"/>
                <a:ea typeface="Aptos Display"/>
                <a:cs typeface="Aptos Display"/>
              </a:rPr>
              <a:t>Gap closure is a workflow, not a spreadsheet column</a:t>
            </a:r>
            <a:endParaRPr sz="25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4D1F6636-4FAE-41D3-9842-21B769704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69264"/>
            <a:ext cx="7315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0">
            <a:solidFill>
              <a:srgbClr val="F18A2A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68C03352-0D7A-4D0C-A1CD-B4F313617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060704"/>
            <a:ext cx="109728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5F7180"/>
                </a:solidFill>
              </a:rPr>
              <a:t>SaQshi carries each non-compliance from identification to accountable closure and reassessment.</a:t>
            </a:r>
            <a:endParaRPr sz="1150"/>
          </a:p>
        </p:txBody>
      </p:sp>
      <p:pic>
        <p:nvPicPr>
          <p:cNvPr id="7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bd197d352f48b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329184"/>
            <a:ext cx="841248" cy="292608"/>
          </a:xfrm>
          <a:prstGeom xmlns:a="http://schemas.openxmlformats.org/drawingml/2006/main" prst="rect">
            <a:avLst/>
          </a:prstGeom>
        </p:spPr>
      </p:pic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AE64E130-D471-4C4C-9B8A-9090AA020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1865376"/>
            <a:ext cx="1600200" cy="2487168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DECEF"/>
          </a:solidFill>
          <a:ln xmlns:a="http://schemas.openxmlformats.org/drawingml/2006/main" w="12700">
            <a:solidFill>
              <a:srgbClr val="FDECEF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CBD4DA">
                <a:alpha val="14000"/>
              </a:srgbClr>
            </a:outerShdw>
          </a:effectLst>
        </p:spPr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99017D8D-47FC-4368-83AD-73BFA4076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56" y="2103120"/>
            <a:ext cx="530352" cy="5303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/>
            </a:solidFill>
            <a:prstDash val="solid"/>
          </a:ln>
        </p:spPr>
      </p:sp>
      <p:pic>
        <p:nvPicPr>
          <p:cNvPr id="76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b33961579243ba">
            <a:extLst>
              <a:ext uri="{96DAC541-7B7A-43D3-8B79-37D633B846F1}">
                <asvg:svgBlip xmlns:asvg="http://schemas.microsoft.com/office/drawing/2016/SVG/main" r:embed="Rbc914baa0a2542ea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29868" y="2199132"/>
            <a:ext cx="338328" cy="338328"/>
          </a:xfrm>
          <a:prstGeom xmlns:a="http://schemas.openxmlformats.org/drawingml/2006/main" prst="rect">
            <a:avLst/>
          </a:prstGeom>
        </p:spPr>
      </p:pic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4B6D0DA8-B4B3-40F2-93B2-74CC15206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2798064"/>
            <a:ext cx="1307592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20" b="1">
                <a:solidFill>
                  <a:srgbClr val="16324F"/>
                </a:solidFill>
              </a:rPr>
              <a:t>Gap detected</a:t>
            </a:r>
            <a:endParaRPr sz="1220"/>
          </a:p>
        </p:txBody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AB56D616-51E9-4786-8A51-DE0A65B23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364992"/>
            <a:ext cx="1280160" cy="713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10">
                <a:solidFill>
                  <a:srgbClr val="1D2B36"/>
                </a:solidFill>
              </a:rPr>
              <a:t>Checkpoint is partially / non-compliant</a:t>
            </a:r>
            <a:endParaRPr sz="910"/>
          </a:p>
        </p:txBody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66D8450A-ED80-4F45-BF59-9D53B1F2E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1136" y="3063240"/>
            <a:ext cx="22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590">
            <a:solidFill>
              <a:srgbClr val="AABAC5"/>
            </a:solidFill>
            <a:prstDash val="solid"/>
            <a:headEnd type="none"/>
            <a:tailEnd type="triangle"/>
          </a:ln>
        </p:spPr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C8830632-78A3-4666-A0ED-43123B9F8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2888" y="1865376"/>
            <a:ext cx="1600200" cy="2487168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FF2E7"/>
          </a:solidFill>
          <a:ln xmlns:a="http://schemas.openxmlformats.org/drawingml/2006/main" w="12700">
            <a:solidFill>
              <a:srgbClr val="FFF2E7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CBD4DA">
                <a:alpha val="14000"/>
              </a:srgbClr>
            </a:outerShdw>
          </a:effectLst>
        </p:spPr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DD102C2D-4019-4BB5-9CBE-5B50D593B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4096" y="2103120"/>
            <a:ext cx="530352" cy="5303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/>
            </a:solidFill>
            <a:prstDash val="solid"/>
          </a:ln>
        </p:spPr>
      </p:sp>
      <p:pic>
        <p:nvPicPr>
          <p:cNvPr id="82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eef68d6ff74de9">
            <a:extLst>
              <a:ext uri="{96DAC541-7B7A-43D3-8B79-37D633B846F1}">
                <asvg:svgBlip xmlns:asvg="http://schemas.microsoft.com/office/drawing/2016/SVG/main" r:embed="Ra18344501fe6420f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50108" y="2199132"/>
            <a:ext cx="338328" cy="338328"/>
          </a:xfrm>
          <a:prstGeom xmlns:a="http://schemas.openxmlformats.org/drawingml/2006/main" prst="rect">
            <a:avLst/>
          </a:prstGeom>
        </p:spPr>
      </p:pic>
      <p:sp>
        <p:nvSpPr>
          <p:cNvPr id="17" name="Text 12">
            <a:extLst xmlns:a="http://schemas.openxmlformats.org/drawingml/2006/main">
              <a:ext uri="{FF2B5EF4-FFF2-40B4-BE49-F238E27FC236}">
                <a16:creationId xmlns:a16="http://schemas.microsoft.com/office/drawing/2014/main" id="{44D94D74-2B99-45FD-914F-DBC14CA51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9192" y="2798064"/>
            <a:ext cx="1307592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20" b="1">
                <a:solidFill>
                  <a:srgbClr val="16324F"/>
                </a:solidFill>
              </a:rPr>
              <a:t>Action created</a:t>
            </a:r>
            <a:endParaRPr sz="1220"/>
          </a:p>
        </p:txBody>
      </p:sp>
      <p:sp>
        <p:nvSpPr>
          <p:cNvPr id="18" name="Text 13">
            <a:extLst xmlns:a="http://schemas.openxmlformats.org/drawingml/2006/main">
              <a:ext uri="{FF2B5EF4-FFF2-40B4-BE49-F238E27FC236}">
                <a16:creationId xmlns:a16="http://schemas.microsoft.com/office/drawing/2014/main" id="{87B48CB9-D3FC-4A0F-BFF4-41BD9EC60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80" y="3364992"/>
            <a:ext cx="1280160" cy="713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10">
                <a:solidFill>
                  <a:srgbClr val="1D2B36"/>
                </a:solidFill>
              </a:rPr>
              <a:t>Corrective / preventive action recorded</a:t>
            </a:r>
            <a:endParaRPr sz="910"/>
          </a:p>
        </p:txBody>
      </p:sp>
      <p:sp>
        <p:nvSpPr>
          <p:cNvPr id="19" name="Shape 14">
            <a:extLst xmlns:a="http://schemas.openxmlformats.org/drawingml/2006/main">
              <a:ext uri="{FF2B5EF4-FFF2-40B4-BE49-F238E27FC236}">
                <a16:creationId xmlns:a16="http://schemas.microsoft.com/office/drawing/2014/main" id="{09AFCC5D-9D39-42B6-B5BB-922011A8B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1376" y="3063240"/>
            <a:ext cx="22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590">
            <a:solidFill>
              <a:srgbClr val="AABAC5"/>
            </a:solidFill>
            <a:prstDash val="solid"/>
            <a:headEnd type="none"/>
            <a:tailEnd type="triangle"/>
          </a:ln>
        </p:spPr>
      </p:sp>
      <p:sp>
        <p:nvSpPr>
          <p:cNvPr id="20" name="Shape 15">
            <a:extLst xmlns:a="http://schemas.openxmlformats.org/drawingml/2006/main">
              <a:ext uri="{FF2B5EF4-FFF2-40B4-BE49-F238E27FC236}">
                <a16:creationId xmlns:a16="http://schemas.microsoft.com/office/drawing/2014/main" id="{BE5D115A-C63B-4CD5-918D-EA6A8B817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3128" y="1865376"/>
            <a:ext cx="1600200" cy="2487168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2700">
            <a:solidFill>
              <a:srgbClr val="EAF2FF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CBD4DA">
                <a:alpha val="14000"/>
              </a:srgbClr>
            </a:outerShdw>
          </a:effectLst>
        </p:spPr>
      </p:sp>
      <p:sp>
        <p:nvSpPr>
          <p:cNvPr id="21" name="Shape 16">
            <a:extLst xmlns:a="http://schemas.openxmlformats.org/drawingml/2006/main">
              <a:ext uri="{FF2B5EF4-FFF2-40B4-BE49-F238E27FC236}">
                <a16:creationId xmlns:a16="http://schemas.microsoft.com/office/drawing/2014/main" id="{8B47B5E6-FCAC-47DC-8C04-ECBF59D41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4336" y="2103120"/>
            <a:ext cx="530352" cy="5303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/>
            </a:solidFill>
            <a:prstDash val="solid"/>
          </a:ln>
        </p:spPr>
      </p:sp>
      <p:pic>
        <p:nvPicPr>
          <p:cNvPr id="88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dbf37ef1fc4a8c">
            <a:extLst>
              <a:ext uri="{96DAC541-7B7A-43D3-8B79-37D633B846F1}">
                <asvg:svgBlip xmlns:asvg="http://schemas.microsoft.com/office/drawing/2016/SVG/main" r:embed="R369cf75ec5754417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70348" y="2199132"/>
            <a:ext cx="338328" cy="338328"/>
          </a:xfrm>
          <a:prstGeom xmlns:a="http://schemas.openxmlformats.org/drawingml/2006/main" prst="rect">
            <a:avLst/>
          </a:prstGeom>
        </p:spPr>
      </p:pic>
      <p:sp>
        <p:nvSpPr>
          <p:cNvPr id="23" name="Text 17">
            <a:extLst xmlns:a="http://schemas.openxmlformats.org/drawingml/2006/main">
              <a:ext uri="{FF2B5EF4-FFF2-40B4-BE49-F238E27FC236}">
                <a16:creationId xmlns:a16="http://schemas.microsoft.com/office/drawing/2014/main" id="{8B184440-FA58-457A-B604-769E20774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9432" y="2798064"/>
            <a:ext cx="1307592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20" b="1">
                <a:solidFill>
                  <a:srgbClr val="16324F"/>
                </a:solidFill>
              </a:rPr>
              <a:t>Responsibility</a:t>
            </a:r>
            <a:endParaRPr sz="1220"/>
          </a:p>
        </p:txBody>
      </p:sp>
      <p:sp>
        <p:nvSpPr>
          <p:cNvPr id="24" name="Text 18">
            <a:extLst xmlns:a="http://schemas.openxmlformats.org/drawingml/2006/main">
              <a:ext uri="{FF2B5EF4-FFF2-40B4-BE49-F238E27FC236}">
                <a16:creationId xmlns:a16="http://schemas.microsoft.com/office/drawing/2014/main" id="{9FF4515B-C3F7-4ACA-972E-FA3168FA1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3364992"/>
            <a:ext cx="1280160" cy="713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10">
                <a:solidFill>
                  <a:srgbClr val="1D2B36"/>
                </a:solidFill>
              </a:rPr>
              <a:t>Owner and team assigned</a:t>
            </a:r>
            <a:endParaRPr sz="910"/>
          </a:p>
        </p:txBody>
      </p:sp>
      <p:sp>
        <p:nvSpPr>
          <p:cNvPr id="25" name="Shape 19">
            <a:extLst xmlns:a="http://schemas.openxmlformats.org/drawingml/2006/main">
              <a:ext uri="{FF2B5EF4-FFF2-40B4-BE49-F238E27FC236}">
                <a16:creationId xmlns:a16="http://schemas.microsoft.com/office/drawing/2014/main" id="{50883EC9-828A-4DBE-99CE-CFF6A3B23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1616" y="3063240"/>
            <a:ext cx="22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590">
            <a:solidFill>
              <a:srgbClr val="AABAC5"/>
            </a:solidFill>
            <a:prstDash val="solid"/>
            <a:headEnd type="none"/>
            <a:tailEnd type="triangle"/>
          </a:ln>
        </p:spPr>
      </p:sp>
      <p:sp>
        <p:nvSpPr>
          <p:cNvPr id="26" name="Shape 20">
            <a:extLst xmlns:a="http://schemas.openxmlformats.org/drawingml/2006/main">
              <a:ext uri="{FF2B5EF4-FFF2-40B4-BE49-F238E27FC236}">
                <a16:creationId xmlns:a16="http://schemas.microsoft.com/office/drawing/2014/main" id="{0F0B1290-1417-49B9-83DE-814768128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3368" y="1865376"/>
            <a:ext cx="1600200" cy="2487168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2EEFF"/>
          </a:solidFill>
          <a:ln xmlns:a="http://schemas.openxmlformats.org/drawingml/2006/main" w="12700">
            <a:solidFill>
              <a:srgbClr val="F2EEFF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CBD4DA">
                <a:alpha val="14000"/>
              </a:srgbClr>
            </a:outerShdw>
          </a:effectLst>
        </p:spPr>
      </p:sp>
      <p:sp>
        <p:nvSpPr>
          <p:cNvPr id="27" name="Shape 21">
            <a:extLst xmlns:a="http://schemas.openxmlformats.org/drawingml/2006/main">
              <a:ext uri="{FF2B5EF4-FFF2-40B4-BE49-F238E27FC236}">
                <a16:creationId xmlns:a16="http://schemas.microsoft.com/office/drawing/2014/main" id="{D27EED5A-2389-4CB4-AE22-6EBBBBC67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4576" y="2103120"/>
            <a:ext cx="530352" cy="5303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/>
            </a:solidFill>
            <a:prstDash val="solid"/>
          </a:ln>
        </p:spPr>
      </p:sp>
      <p:pic>
        <p:nvPicPr>
          <p:cNvPr id="94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1189d721ed49b6">
            <a:extLst>
              <a:ext uri="{96DAC541-7B7A-43D3-8B79-37D633B846F1}">
                <asvg:svgBlip xmlns:asvg="http://schemas.microsoft.com/office/drawing/2016/SVG/main" r:embed="Rc9578d1bf6374cb2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90588" y="2199132"/>
            <a:ext cx="338328" cy="338328"/>
          </a:xfrm>
          <a:prstGeom xmlns:a="http://schemas.openxmlformats.org/drawingml/2006/main" prst="rect">
            <a:avLst/>
          </a:prstGeom>
        </p:spPr>
      </p:pic>
      <p:sp>
        <p:nvSpPr>
          <p:cNvPr id="29" name="Text 22">
            <a:extLst xmlns:a="http://schemas.openxmlformats.org/drawingml/2006/main">
              <a:ext uri="{FF2B5EF4-FFF2-40B4-BE49-F238E27FC236}">
                <a16:creationId xmlns:a16="http://schemas.microsoft.com/office/drawing/2014/main" id="{02922CC2-21A3-4C03-9518-6DDDA4795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9672" y="2798064"/>
            <a:ext cx="1307592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20" b="1">
                <a:solidFill>
                  <a:srgbClr val="16324F"/>
                </a:solidFill>
              </a:rPr>
              <a:t>Target date</a:t>
            </a:r>
            <a:endParaRPr sz="1220"/>
          </a:p>
        </p:txBody>
      </p:sp>
      <p:sp>
        <p:nvSpPr>
          <p:cNvPr id="30" name="Text 23">
            <a:extLst xmlns:a="http://schemas.openxmlformats.org/drawingml/2006/main">
              <a:ext uri="{FF2B5EF4-FFF2-40B4-BE49-F238E27FC236}">
                <a16:creationId xmlns:a16="http://schemas.microsoft.com/office/drawing/2014/main" id="{49156B50-C3FF-4050-8AAF-4587BEF26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364992"/>
            <a:ext cx="1280160" cy="713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10">
                <a:solidFill>
                  <a:srgbClr val="1D2B36"/>
                </a:solidFill>
              </a:rPr>
              <a:t>Due date &amp; status become visible</a:t>
            </a:r>
            <a:endParaRPr sz="910"/>
          </a:p>
        </p:txBody>
      </p:sp>
      <p:sp>
        <p:nvSpPr>
          <p:cNvPr id="31" name="Shape 24">
            <a:extLst xmlns:a="http://schemas.openxmlformats.org/drawingml/2006/main">
              <a:ext uri="{FF2B5EF4-FFF2-40B4-BE49-F238E27FC236}">
                <a16:creationId xmlns:a16="http://schemas.microsoft.com/office/drawing/2014/main" id="{263B1491-D402-4E54-9E1C-3B206A309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856" y="3063240"/>
            <a:ext cx="22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590">
            <a:solidFill>
              <a:srgbClr val="AABAC5"/>
            </a:solidFill>
            <a:prstDash val="solid"/>
            <a:headEnd type="none"/>
            <a:tailEnd type="triangle"/>
          </a:ln>
        </p:spPr>
      </p:sp>
      <p:sp>
        <p:nvSpPr>
          <p:cNvPr id="32" name="Shape 25">
            <a:extLst xmlns:a="http://schemas.openxmlformats.org/drawingml/2006/main">
              <a:ext uri="{FF2B5EF4-FFF2-40B4-BE49-F238E27FC236}">
                <a16:creationId xmlns:a16="http://schemas.microsoft.com/office/drawing/2014/main" id="{09167DF5-D534-4FB3-931A-8CD4AF818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608" y="1865376"/>
            <a:ext cx="1600200" cy="2487168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EAF5F3"/>
          </a:solidFill>
          <a:ln xmlns:a="http://schemas.openxmlformats.org/drawingml/2006/main" w="12700">
            <a:solidFill>
              <a:srgbClr val="EAF5F3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CBD4DA">
                <a:alpha val="14000"/>
              </a:srgbClr>
            </a:outerShdw>
          </a:effectLst>
        </p:spPr>
      </p:sp>
      <p:sp>
        <p:nvSpPr>
          <p:cNvPr id="33" name="Shape 26">
            <a:extLst xmlns:a="http://schemas.openxmlformats.org/drawingml/2006/main">
              <a:ext uri="{FF2B5EF4-FFF2-40B4-BE49-F238E27FC236}">
                <a16:creationId xmlns:a16="http://schemas.microsoft.com/office/drawing/2014/main" id="{9DC4266E-7B5B-45E7-B2E9-4EB5B8DB7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4816" y="2103120"/>
            <a:ext cx="530352" cy="5303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/>
            </a:solidFill>
            <a:prstDash val="solid"/>
          </a:ln>
        </p:spPr>
      </p:sp>
      <p:pic>
        <p:nvPicPr>
          <p:cNvPr id="100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18169bea1a4b39">
            <a:extLst>
              <a:ext uri="{96DAC541-7B7A-43D3-8B79-37D633B846F1}">
                <asvg:svgBlip xmlns:asvg="http://schemas.microsoft.com/office/drawing/2016/SVG/main" r:embed="Rc354e06419444c10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910828" y="2199132"/>
            <a:ext cx="338328" cy="338328"/>
          </a:xfrm>
          <a:prstGeom xmlns:a="http://schemas.openxmlformats.org/drawingml/2006/main" prst="rect">
            <a:avLst/>
          </a:prstGeom>
        </p:spPr>
      </p:pic>
      <p:sp>
        <p:nvSpPr>
          <p:cNvPr id="35" name="Text 27">
            <a:extLst xmlns:a="http://schemas.openxmlformats.org/drawingml/2006/main">
              <a:ext uri="{FF2B5EF4-FFF2-40B4-BE49-F238E27FC236}">
                <a16:creationId xmlns:a16="http://schemas.microsoft.com/office/drawing/2014/main" id="{60C57DA0-AEBB-4FCA-AF94-6E276CB61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912" y="2798064"/>
            <a:ext cx="1307592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20" b="1">
                <a:solidFill>
                  <a:srgbClr val="16324F"/>
                </a:solidFill>
              </a:rPr>
              <a:t>Closure evidence</a:t>
            </a:r>
            <a:endParaRPr sz="1220"/>
          </a:p>
        </p:txBody>
      </p:sp>
      <p:sp>
        <p:nvSpPr>
          <p:cNvPr id="36" name="Text 28">
            <a:extLst xmlns:a="http://schemas.openxmlformats.org/drawingml/2006/main">
              <a:ext uri="{FF2B5EF4-FFF2-40B4-BE49-F238E27FC236}">
                <a16:creationId xmlns:a16="http://schemas.microsoft.com/office/drawing/2014/main" id="{1363271C-E6A6-489D-A74B-CBF18102F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364992"/>
            <a:ext cx="1280160" cy="713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10">
                <a:solidFill>
                  <a:srgbClr val="1D2B36"/>
                </a:solidFill>
              </a:rPr>
              <a:t>Proof and comments attached</a:t>
            </a:r>
            <a:endParaRPr sz="910"/>
          </a:p>
        </p:txBody>
      </p:sp>
      <p:sp>
        <p:nvSpPr>
          <p:cNvPr id="37" name="Shape 29">
            <a:extLst xmlns:a="http://schemas.openxmlformats.org/drawingml/2006/main">
              <a:ext uri="{FF2B5EF4-FFF2-40B4-BE49-F238E27FC236}">
                <a16:creationId xmlns:a16="http://schemas.microsoft.com/office/drawing/2014/main" id="{99F0871E-061C-422C-AB1F-CFF4D26DA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2096" y="3063240"/>
            <a:ext cx="22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590">
            <a:solidFill>
              <a:srgbClr val="AABAC5"/>
            </a:solidFill>
            <a:prstDash val="solid"/>
            <a:headEnd type="none"/>
            <a:tailEnd type="triangle"/>
          </a:ln>
        </p:spPr>
      </p:sp>
      <p:sp>
        <p:nvSpPr>
          <p:cNvPr id="38" name="Shape 30">
            <a:extLst xmlns:a="http://schemas.openxmlformats.org/drawingml/2006/main">
              <a:ext uri="{FF2B5EF4-FFF2-40B4-BE49-F238E27FC236}">
                <a16:creationId xmlns:a16="http://schemas.microsoft.com/office/drawing/2014/main" id="{5A9FF122-8EA0-4F9B-956A-ABA2EB585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3848" y="1865376"/>
            <a:ext cx="1600200" cy="2487168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EAF8F2"/>
          </a:solidFill>
          <a:ln xmlns:a="http://schemas.openxmlformats.org/drawingml/2006/main" w="12700">
            <a:solidFill>
              <a:srgbClr val="EAF8F2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CBD4DA">
                <a:alpha val="14000"/>
              </a:srgbClr>
            </a:outerShdw>
          </a:effectLst>
        </p:spPr>
      </p:sp>
      <p:sp>
        <p:nvSpPr>
          <p:cNvPr id="39" name="Shape 31">
            <a:extLst xmlns:a="http://schemas.openxmlformats.org/drawingml/2006/main">
              <a:ext uri="{FF2B5EF4-FFF2-40B4-BE49-F238E27FC236}">
                <a16:creationId xmlns:a16="http://schemas.microsoft.com/office/drawing/2014/main" id="{B4D662F3-EF1C-4760-B990-CC379867E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5056" y="2103120"/>
            <a:ext cx="530352" cy="5303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/>
            </a:solidFill>
            <a:prstDash val="solid"/>
          </a:ln>
        </p:spPr>
      </p:sp>
      <p:pic>
        <p:nvPicPr>
          <p:cNvPr id="106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79877a78174659">
            <a:extLst>
              <a:ext uri="{96DAC541-7B7A-43D3-8B79-37D633B846F1}">
                <asvg:svgBlip xmlns:asvg="http://schemas.microsoft.com/office/drawing/2016/SVG/main" r:embed="R334bc82ee8394a7f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31068" y="2199132"/>
            <a:ext cx="338328" cy="338328"/>
          </a:xfrm>
          <a:prstGeom xmlns:a="http://schemas.openxmlformats.org/drawingml/2006/main" prst="rect">
            <a:avLst/>
          </a:prstGeom>
        </p:spPr>
      </p:pic>
      <p:sp>
        <p:nvSpPr>
          <p:cNvPr id="41" name="Text 32">
            <a:extLst xmlns:a="http://schemas.openxmlformats.org/drawingml/2006/main">
              <a:ext uri="{FF2B5EF4-FFF2-40B4-BE49-F238E27FC236}">
                <a16:creationId xmlns:a16="http://schemas.microsoft.com/office/drawing/2014/main" id="{6E941991-692A-40D2-AE4D-2F2EAB589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0152" y="2798064"/>
            <a:ext cx="1307592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20" b="1">
                <a:solidFill>
                  <a:srgbClr val="16324F"/>
                </a:solidFill>
              </a:rPr>
              <a:t>Reassessment</a:t>
            </a:r>
            <a:endParaRPr sz="1220"/>
          </a:p>
        </p:txBody>
      </p:sp>
      <p:sp>
        <p:nvSpPr>
          <p:cNvPr id="42" name="Text 33">
            <a:extLst xmlns:a="http://schemas.openxmlformats.org/drawingml/2006/main">
              <a:ext uri="{FF2B5EF4-FFF2-40B4-BE49-F238E27FC236}">
                <a16:creationId xmlns:a16="http://schemas.microsoft.com/office/drawing/2014/main" id="{8CD3CCDE-884E-4167-9BBB-2943C6907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8440" y="3364992"/>
            <a:ext cx="1280160" cy="713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10">
                <a:solidFill>
                  <a:srgbClr val="1D2B36"/>
                </a:solidFill>
              </a:rPr>
              <a:t>Score revised; history retained</a:t>
            </a:r>
            <a:endParaRPr sz="910"/>
          </a:p>
        </p:txBody>
      </p:sp>
      <p:sp>
        <p:nvSpPr>
          <p:cNvPr id="43" name="Shape 34">
            <a:extLst xmlns:a="http://schemas.openxmlformats.org/drawingml/2006/main">
              <a:ext uri="{FF2B5EF4-FFF2-40B4-BE49-F238E27FC236}">
                <a16:creationId xmlns:a16="http://schemas.microsoft.com/office/drawing/2014/main" id="{504A59D0-5A7E-4EFA-A0B1-005D7DA73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5074920"/>
            <a:ext cx="438912" cy="4389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5F3"/>
          </a:solidFill>
          <a:ln xmlns:a="http://schemas.openxmlformats.org/drawingml/2006/main" w="12700">
            <a:solidFill>
              <a:srgbClr val="EAF5F3"/>
            </a:solidFill>
            <a:prstDash val="solid"/>
          </a:ln>
        </p:spPr>
      </p:sp>
      <p:pic>
        <p:nvPicPr>
          <p:cNvPr id="110" name="Imag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928db4b71a428e">
            <a:extLst>
              <a:ext uri="{96DAC541-7B7A-43D3-8B79-37D633B846F1}">
                <asvg:svgBlip xmlns:asvg="http://schemas.microsoft.com/office/drawing/2016/SVG/main" r:embed="R8a2bc728452d4e8d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84732" y="5170932"/>
            <a:ext cx="246888" cy="246888"/>
          </a:xfrm>
          <a:prstGeom xmlns:a="http://schemas.openxmlformats.org/drawingml/2006/main" prst="rect">
            <a:avLst/>
          </a:prstGeom>
        </p:spPr>
      </p:pic>
      <p:sp>
        <p:nvSpPr>
          <p:cNvPr id="45" name="Text 35">
            <a:extLst xmlns:a="http://schemas.openxmlformats.org/drawingml/2006/main">
              <a:ext uri="{FF2B5EF4-FFF2-40B4-BE49-F238E27FC236}">
                <a16:creationId xmlns:a16="http://schemas.microsoft.com/office/drawing/2014/main" id="{630E0817-B705-44F0-9C99-1B004BAFA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7360" y="5157216"/>
            <a:ext cx="16002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20" b="1">
                <a:solidFill>
                  <a:srgbClr val="16324F"/>
                </a:solidFill>
              </a:rPr>
              <a:t>Accountability</a:t>
            </a:r>
            <a:endParaRPr sz="1020"/>
          </a:p>
        </p:txBody>
      </p:sp>
      <p:sp>
        <p:nvSpPr>
          <p:cNvPr id="46" name="Shape 36">
            <a:extLst xmlns:a="http://schemas.openxmlformats.org/drawingml/2006/main">
              <a:ext uri="{FF2B5EF4-FFF2-40B4-BE49-F238E27FC236}">
                <a16:creationId xmlns:a16="http://schemas.microsoft.com/office/drawing/2014/main" id="{F1B82A69-F2F7-4979-962A-4598F8AA8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5074920"/>
            <a:ext cx="438912" cy="4389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5F3"/>
          </a:solidFill>
          <a:ln xmlns:a="http://schemas.openxmlformats.org/drawingml/2006/main" w="12700">
            <a:solidFill>
              <a:srgbClr val="EAF5F3"/>
            </a:solidFill>
            <a:prstDash val="solid"/>
          </a:ln>
        </p:spPr>
      </p:sp>
      <p:pic>
        <p:nvPicPr>
          <p:cNvPr id="113" name="Imag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bee40c61254776">
            <a:extLst>
              <a:ext uri="{96DAC541-7B7A-43D3-8B79-37D633B846F1}">
                <asvg:svgBlip xmlns:asvg="http://schemas.microsoft.com/office/drawing/2016/SVG/main" r:embed="R05266baf866c4404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82212" y="5170932"/>
            <a:ext cx="246888" cy="246888"/>
          </a:xfrm>
          <a:prstGeom xmlns:a="http://schemas.openxmlformats.org/drawingml/2006/main" prst="rect">
            <a:avLst/>
          </a:prstGeom>
        </p:spPr>
      </p:pic>
      <p:sp>
        <p:nvSpPr>
          <p:cNvPr id="48" name="Text 37">
            <a:extLst xmlns:a="http://schemas.openxmlformats.org/drawingml/2006/main">
              <a:ext uri="{FF2B5EF4-FFF2-40B4-BE49-F238E27FC236}">
                <a16:creationId xmlns:a16="http://schemas.microsoft.com/office/drawing/2014/main" id="{1D8DC5B9-EDB3-4ABE-806E-1123BAFFD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5157216"/>
            <a:ext cx="16002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20" b="1">
                <a:solidFill>
                  <a:srgbClr val="16324F"/>
                </a:solidFill>
              </a:rPr>
              <a:t>Time-bound closure</a:t>
            </a:r>
            <a:endParaRPr sz="1020"/>
          </a:p>
        </p:txBody>
      </p:sp>
      <p:sp>
        <p:nvSpPr>
          <p:cNvPr id="49" name="Shape 38">
            <a:extLst xmlns:a="http://schemas.openxmlformats.org/drawingml/2006/main">
              <a:ext uri="{FF2B5EF4-FFF2-40B4-BE49-F238E27FC236}">
                <a16:creationId xmlns:a16="http://schemas.microsoft.com/office/drawing/2014/main" id="{C73499D1-96E9-47C9-8FF3-C4BFFB70F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5074920"/>
            <a:ext cx="438912" cy="4389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5F3"/>
          </a:solidFill>
          <a:ln xmlns:a="http://schemas.openxmlformats.org/drawingml/2006/main" w="12700">
            <a:solidFill>
              <a:srgbClr val="EAF5F3"/>
            </a:solidFill>
            <a:prstDash val="solid"/>
          </a:ln>
        </p:spPr>
      </p:sp>
      <p:pic>
        <p:nvPicPr>
          <p:cNvPr id="116" name="Imag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6627c0066740d4">
            <a:extLst>
              <a:ext uri="{96DAC541-7B7A-43D3-8B79-37D633B846F1}">
                <asvg:svgBlip xmlns:asvg="http://schemas.microsoft.com/office/drawing/2016/SVG/main" r:embed="R885115e537fb4c4f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79692" y="5170932"/>
            <a:ext cx="246888" cy="246888"/>
          </a:xfrm>
          <a:prstGeom xmlns:a="http://schemas.openxmlformats.org/drawingml/2006/main" prst="rect">
            <a:avLst/>
          </a:prstGeom>
        </p:spPr>
      </p:pic>
      <p:sp>
        <p:nvSpPr>
          <p:cNvPr id="51" name="Text 39">
            <a:extLst xmlns:a="http://schemas.openxmlformats.org/drawingml/2006/main">
              <a:ext uri="{FF2B5EF4-FFF2-40B4-BE49-F238E27FC236}">
                <a16:creationId xmlns:a16="http://schemas.microsoft.com/office/drawing/2014/main" id="{707502D2-EA99-457A-963B-C2EFCA25B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5157216"/>
            <a:ext cx="16002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20" b="1">
                <a:solidFill>
                  <a:srgbClr val="16324F"/>
                </a:solidFill>
              </a:rPr>
              <a:t>Audit trail</a:t>
            </a:r>
            <a:endParaRPr sz="1020"/>
          </a:p>
        </p:txBody>
      </p:sp>
      <p:sp>
        <p:nvSpPr>
          <p:cNvPr id="52" name="Shape 40">
            <a:extLst xmlns:a="http://schemas.openxmlformats.org/drawingml/2006/main">
              <a:ext uri="{FF2B5EF4-FFF2-40B4-BE49-F238E27FC236}">
                <a16:creationId xmlns:a16="http://schemas.microsoft.com/office/drawing/2014/main" id="{2B10A929-9D44-4EAA-B0C4-F1C7B4948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160" y="5074920"/>
            <a:ext cx="438912" cy="4389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5F3"/>
          </a:solidFill>
          <a:ln xmlns:a="http://schemas.openxmlformats.org/drawingml/2006/main" w="12700">
            <a:solidFill>
              <a:srgbClr val="EAF5F3"/>
            </a:solidFill>
            <a:prstDash val="solid"/>
          </a:ln>
        </p:spPr>
      </p:sp>
      <p:pic>
        <p:nvPicPr>
          <p:cNvPr id="119" name="Imag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e434f799be4e1b">
            <a:extLst>
              <a:ext uri="{96DAC541-7B7A-43D3-8B79-37D633B846F1}">
                <asvg:svgBlip xmlns:asvg="http://schemas.microsoft.com/office/drawing/2016/SVG/main" r:embed="R0bd03f7e3d164272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77172" y="5170932"/>
            <a:ext cx="246888" cy="246888"/>
          </a:xfrm>
          <a:prstGeom xmlns:a="http://schemas.openxmlformats.org/drawingml/2006/main" prst="rect">
            <a:avLst/>
          </a:prstGeom>
        </p:spPr>
      </p:pic>
      <p:sp>
        <p:nvSpPr>
          <p:cNvPr id="54" name="Text 41">
            <a:extLst xmlns:a="http://schemas.openxmlformats.org/drawingml/2006/main">
              <a:ext uri="{FF2B5EF4-FFF2-40B4-BE49-F238E27FC236}">
                <a16:creationId xmlns:a16="http://schemas.microsoft.com/office/drawing/2014/main" id="{0EFA85CA-A6D1-4601-B969-83A4034BD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5157216"/>
            <a:ext cx="16002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20" b="1">
                <a:solidFill>
                  <a:srgbClr val="16324F"/>
                </a:solidFill>
              </a:rPr>
              <a:t>Improvement history</a:t>
            </a:r>
            <a:endParaRPr sz="1020"/>
          </a:p>
        </p:txBody>
      </p:sp>
      <p:sp>
        <p:nvSpPr>
          <p:cNvPr id="55" name="Text 42">
            <a:extLst xmlns:a="http://schemas.openxmlformats.org/drawingml/2006/main">
              <a:ext uri="{FF2B5EF4-FFF2-40B4-BE49-F238E27FC236}">
                <a16:creationId xmlns:a16="http://schemas.microsoft.com/office/drawing/2014/main" id="{CD024F0E-2AB8-477E-8BE9-2E1261629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3120" y="5715000"/>
            <a:ext cx="79552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18A2A"/>
                </a:solidFill>
              </a:rPr>
              <a:t>This is the core difference between “assessment digitization” and “continuous quality improvement.”</a:t>
            </a:r>
            <a:endParaRPr sz="1300"/>
          </a:p>
        </p:txBody>
      </p:sp>
      <p:sp>
        <p:nvSpPr>
          <p:cNvPr id="67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04AEA201-4B37-450A-863C-BEABDD76D2E1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292840" y="6574536"/>
            <a:ext cx="347472" cy="1645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8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4245922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AD2CCFD0-78A6-4EF1-AFE2-118DB5774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10312"/>
            <a:ext cx="2011680" cy="27432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2F6F6A"/>
          </a:solidFill>
          <a:ln xmlns:a="http://schemas.openxmlformats.org/drawingml/2006/main" w="12700">
            <a:solidFill>
              <a:srgbClr val="2F6F6A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7B22C4A-EBC3-4EF6-BC79-76D9AA3C6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51460"/>
            <a:ext cx="1865376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60" b="1" spc="80">
                <a:solidFill>
                  <a:srgbClr val="FFFFFF"/>
                </a:solidFill>
              </a:rPr>
              <a:t>PERFORMANCE</a:t>
            </a:r>
            <a:endParaRPr sz="76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35764DA-EEF7-4859-9BAB-99FA54113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11480"/>
            <a:ext cx="1088136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16324F"/>
                </a:solidFill>
                <a:latin typeface="Aptos Display"/>
                <a:ea typeface="Aptos Display"/>
                <a:cs typeface="Aptos Display"/>
              </a:rPr>
              <a:t>Move from periodic assessment to continuous performance monitoring</a:t>
            </a:r>
            <a:endParaRPr sz="25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3CAE6766-18D3-4707-B7EB-661C1BDF0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69264"/>
            <a:ext cx="7315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0">
            <a:solidFill>
              <a:srgbClr val="F18A2A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5D619EE6-65A8-4BB8-92FD-1AABA9CE6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060704"/>
            <a:ext cx="109728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5F7180"/>
                </a:solidFill>
              </a:rPr>
              <a:t>Monthly KPI and outcome indicators show whether process improvement is translating into results.</a:t>
            </a:r>
            <a:endParaRPr sz="1150"/>
          </a:p>
        </p:txBody>
      </p:sp>
      <p:pic>
        <p:nvPicPr>
          <p:cNvPr id="6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3fe3d7587b46a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329184"/>
            <a:ext cx="841248" cy="292608"/>
          </a:xfrm>
          <a:prstGeom xmlns:a="http://schemas.openxmlformats.org/drawingml/2006/main" prst="rect">
            <a:avLst/>
          </a:prstGeom>
        </p:spPr>
      </p:pic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3601C8AF-8FDB-4CE1-A727-DA77D1D13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5648"/>
            <a:ext cx="6583680" cy="393192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4EA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CBD4DA">
                <a:alpha val="14000"/>
              </a:srgbClr>
            </a:outerShdw>
          </a:effectLst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288B8BC0-BE09-49B5-914A-2AA4403C6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1993392"/>
            <a:ext cx="24688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6324F"/>
                </a:solidFill>
              </a:rPr>
              <a:t>Illustrative outcome trend</a:t>
            </a:r>
            <a:endParaRPr sz="1300"/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0B117B83-85AE-496C-BD1D-EEAC166E1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5074920"/>
            <a:ext cx="54406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AFC0CC"/>
            </a:solidFill>
            <a:prstDash val="solid"/>
          </a:ln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867693F1-1AE5-4E38-86EB-30F7C7723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788920"/>
            <a:ext cx="0" cy="2286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AFC0CC"/>
            </a:solidFill>
            <a:prstDash val="solid"/>
          </a:ln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21247870-3E12-4218-A85F-60DB48061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4343400"/>
            <a:ext cx="50292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8A2A"/>
          </a:solidFill>
          <a:ln xmlns:a="http://schemas.openxmlformats.org/drawingml/2006/main" w="12700">
            <a:solidFill>
              <a:srgbClr val="F18A2A"/>
            </a:solidFill>
            <a:prstDash val="solid"/>
          </a:ln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BB3C2B3B-1AAF-4D60-B43D-61C3D7DF6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5193792"/>
            <a:ext cx="59436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60">
                <a:solidFill>
                  <a:srgbClr val="5F7180"/>
                </a:solidFill>
              </a:rPr>
              <a:t>Apr</a:t>
            </a:r>
            <a:endParaRPr sz="760"/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B0FD4A5C-2E52-40E6-9D06-AF386A7A1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4041648"/>
            <a:ext cx="5029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60" b="1">
                <a:solidFill>
                  <a:srgbClr val="16324F"/>
                </a:solidFill>
              </a:rPr>
              <a:t>22</a:t>
            </a:r>
            <a:endParaRPr sz="760"/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9F7F2173-9EE7-465E-A43F-18CEA792B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3120" y="4143895"/>
            <a:ext cx="502920" cy="93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8A2A"/>
          </a:solidFill>
          <a:ln xmlns:a="http://schemas.openxmlformats.org/drawingml/2006/main" w="12700">
            <a:solidFill>
              <a:srgbClr val="F18A2A"/>
            </a:solidFill>
            <a:prstDash val="solid"/>
          </a:ln>
        </p:spPr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86AF5566-4640-46A1-B20C-8A55DE19E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193792"/>
            <a:ext cx="59436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60">
                <a:solidFill>
                  <a:srgbClr val="5F7180"/>
                </a:solidFill>
              </a:rPr>
              <a:t>May</a:t>
            </a:r>
            <a:endParaRPr sz="760"/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BD6C97B4-46C9-44F9-AD02-4B69994D9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3120" y="3842143"/>
            <a:ext cx="5029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60" b="1">
                <a:solidFill>
                  <a:srgbClr val="16324F"/>
                </a:solidFill>
              </a:rPr>
              <a:t>28</a:t>
            </a:r>
            <a:endParaRPr sz="760"/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61563A4E-7A83-485E-A7AC-C1BFF8DD8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177145"/>
            <a:ext cx="502920" cy="897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8A2A"/>
          </a:solidFill>
          <a:ln xmlns:a="http://schemas.openxmlformats.org/drawingml/2006/main" w="12700">
            <a:solidFill>
              <a:srgbClr val="F18A2A"/>
            </a:solidFill>
            <a:prstDash val="solid"/>
          </a:ln>
        </p:spPr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B2C96E39-B2B7-406C-B517-9A632977E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5193792"/>
            <a:ext cx="59436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60">
                <a:solidFill>
                  <a:srgbClr val="5F7180"/>
                </a:solidFill>
              </a:rPr>
              <a:t>Jun</a:t>
            </a:r>
            <a:endParaRPr sz="760"/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1C20DE82-DEFD-4727-99AD-C4C2D9C26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875393"/>
            <a:ext cx="5029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60" b="1">
                <a:solidFill>
                  <a:srgbClr val="16324F"/>
                </a:solidFill>
              </a:rPr>
              <a:t>27</a:t>
            </a:r>
            <a:endParaRPr sz="760"/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3BAC3375-A432-48FA-8346-80352F774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0" y="3944389"/>
            <a:ext cx="502920" cy="113053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6A"/>
          </a:solidFill>
          <a:ln xmlns:a="http://schemas.openxmlformats.org/drawingml/2006/main" w="12700">
            <a:solidFill>
              <a:srgbClr val="2F6F6A"/>
            </a:solidFill>
            <a:prstDash val="solid"/>
          </a:ln>
        </p:spPr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45D533C0-EA30-4851-A709-DC01E2455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5193792"/>
            <a:ext cx="59436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60">
                <a:solidFill>
                  <a:srgbClr val="5F7180"/>
                </a:solidFill>
              </a:rPr>
              <a:t>Jul</a:t>
            </a:r>
            <a:endParaRPr sz="760"/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74885360-180B-41FF-B6AC-F4202F159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0" y="3642637"/>
            <a:ext cx="5029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60" b="1">
                <a:solidFill>
                  <a:srgbClr val="16324F"/>
                </a:solidFill>
              </a:rPr>
              <a:t>34</a:t>
            </a:r>
            <a:endParaRPr sz="760"/>
          </a:p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F6F21877-D637-45FE-B851-BA8DA4E3F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3778135"/>
            <a:ext cx="502920" cy="12967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6A"/>
          </a:solidFill>
          <a:ln xmlns:a="http://schemas.openxmlformats.org/drawingml/2006/main" w="12700">
            <a:solidFill>
              <a:srgbClr val="2F6F6A"/>
            </a:solidFill>
            <a:prstDash val="solid"/>
          </a:ln>
        </p:spPr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07708C93-8EA3-4289-BD0E-2C269A852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5193792"/>
            <a:ext cx="59436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60">
                <a:solidFill>
                  <a:srgbClr val="5F7180"/>
                </a:solidFill>
              </a:rPr>
              <a:t>Aug</a:t>
            </a:r>
            <a:endParaRPr sz="760"/>
          </a:p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D87A046E-2BE2-431B-A736-2D2BDBC67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3476383"/>
            <a:ext cx="5029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60" b="1">
                <a:solidFill>
                  <a:srgbClr val="16324F"/>
                </a:solidFill>
              </a:rPr>
              <a:t>39</a:t>
            </a:r>
            <a:endParaRPr sz="760"/>
          </a:p>
        </p:txBody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D33587D7-CF8F-4C6C-91DD-7DC1486D1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840" y="3512127"/>
            <a:ext cx="502920" cy="156279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6A"/>
          </a:solidFill>
          <a:ln xmlns:a="http://schemas.openxmlformats.org/drawingml/2006/main" w="12700">
            <a:solidFill>
              <a:srgbClr val="2F6F6A"/>
            </a:solidFill>
            <a:prstDash val="solid"/>
          </a:ln>
        </p:spPr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C053E487-2828-4EEE-924B-29A98F55D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5193792"/>
            <a:ext cx="59436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60">
                <a:solidFill>
                  <a:srgbClr val="5F7180"/>
                </a:solidFill>
              </a:rPr>
              <a:t>Sep</a:t>
            </a:r>
            <a:endParaRPr sz="760"/>
          </a:p>
        </p:txBody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7C43B823-C58F-4F1A-B335-D5AD13C6D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840" y="3210375"/>
            <a:ext cx="5029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60" b="1">
                <a:solidFill>
                  <a:srgbClr val="16324F"/>
                </a:solidFill>
              </a:rPr>
              <a:t>47</a:t>
            </a:r>
            <a:endParaRPr sz="760"/>
          </a:p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1888DC38-9D9D-441A-A3DB-46CCB0AB3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2487168"/>
            <a:ext cx="18288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60" b="1">
                <a:solidFill>
                  <a:srgbClr val="F18A2A"/>
                </a:solidFill>
              </a:rPr>
              <a:t>Baseline period</a:t>
            </a:r>
            <a:endParaRPr sz="760"/>
          </a:p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7F35F3DB-4E34-49CA-9755-CF369E65F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0" y="2487168"/>
            <a:ext cx="18288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60" b="1">
                <a:solidFill>
                  <a:srgbClr val="2F6F6A"/>
                </a:solidFill>
              </a:rPr>
              <a:t>Improvement period</a:t>
            </a:r>
            <a:endParaRPr sz="760"/>
          </a:p>
        </p:txBody>
      </p:sp>
      <p:sp>
        <p:nvSpPr>
          <p:cNvPr id="32" name="Shape 29">
            <a:extLst xmlns:a="http://schemas.openxmlformats.org/drawingml/2006/main">
              <a:ext uri="{FF2B5EF4-FFF2-40B4-BE49-F238E27FC236}">
                <a16:creationId xmlns:a16="http://schemas.microsoft.com/office/drawing/2014/main" id="{BAB789A0-8245-4DDB-BD27-F90E331AC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6680" y="1892808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5F3"/>
          </a:solidFill>
          <a:ln xmlns:a="http://schemas.openxmlformats.org/drawingml/2006/main" w="12700">
            <a:solidFill>
              <a:srgbClr val="EAF5F3"/>
            </a:solidFill>
            <a:prstDash val="solid"/>
          </a:ln>
        </p:spPr>
      </p:sp>
      <p:pic>
        <p:nvPicPr>
          <p:cNvPr id="86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7e60e92b18400b">
            <a:extLst>
              <a:ext uri="{96DAC541-7B7A-43D3-8B79-37D633B846F1}">
                <asvg:svgBlip xmlns:asvg="http://schemas.microsoft.com/office/drawing/2016/SVG/main" r:embed="Rf2ed1204cc454dc9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22692" y="198882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4" name="Text 30">
            <a:extLst xmlns:a="http://schemas.openxmlformats.org/drawingml/2006/main">
              <a:ext uri="{FF2B5EF4-FFF2-40B4-BE49-F238E27FC236}">
                <a16:creationId xmlns:a16="http://schemas.microsoft.com/office/drawing/2014/main" id="{6ED5B615-DA5C-4536-8005-774508B1F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1810512"/>
            <a:ext cx="1371600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70" b="1">
                <a:solidFill>
                  <a:srgbClr val="16324F"/>
                </a:solidFill>
              </a:rPr>
              <a:t>Monthly entry</a:t>
            </a:r>
            <a:endParaRPr sz="1170"/>
          </a:p>
        </p:txBody>
      </p:sp>
      <p:sp>
        <p:nvSpPr>
          <p:cNvPr id="35" name="Text 31">
            <a:extLst xmlns:a="http://schemas.openxmlformats.org/drawingml/2006/main">
              <a:ext uri="{FF2B5EF4-FFF2-40B4-BE49-F238E27FC236}">
                <a16:creationId xmlns:a16="http://schemas.microsoft.com/office/drawing/2014/main" id="{0240BEAB-31BF-4CFF-9FB3-7748A28BB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2093976"/>
            <a:ext cx="28803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40">
                <a:solidFill>
                  <a:srgbClr val="5F7180"/>
                </a:solidFill>
              </a:rPr>
              <a:t>Indicator values captured against the entity and reporting month.</a:t>
            </a:r>
            <a:endParaRPr sz="940"/>
          </a:p>
        </p:txBody>
      </p:sp>
      <p:sp>
        <p:nvSpPr>
          <p:cNvPr id="36" name="Shape 32">
            <a:extLst xmlns:a="http://schemas.openxmlformats.org/drawingml/2006/main">
              <a:ext uri="{FF2B5EF4-FFF2-40B4-BE49-F238E27FC236}">
                <a16:creationId xmlns:a16="http://schemas.microsoft.com/office/drawing/2014/main" id="{22D5BCB6-9F0B-43F4-88F4-AE520C12E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6680" y="2880360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2700">
            <a:solidFill>
              <a:srgbClr val="EAF2FF"/>
            </a:solidFill>
            <a:prstDash val="solid"/>
          </a:ln>
        </p:spPr>
      </p:sp>
      <p:pic>
        <p:nvPicPr>
          <p:cNvPr id="90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d9d7c9cae3486e">
            <a:extLst>
              <a:ext uri="{96DAC541-7B7A-43D3-8B79-37D633B846F1}">
                <asvg:svgBlip xmlns:asvg="http://schemas.microsoft.com/office/drawing/2016/SVG/main" r:embed="Rab9bd302110f494e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22692" y="2976372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8" name="Text 33">
            <a:extLst xmlns:a="http://schemas.openxmlformats.org/drawingml/2006/main">
              <a:ext uri="{FF2B5EF4-FFF2-40B4-BE49-F238E27FC236}">
                <a16:creationId xmlns:a16="http://schemas.microsoft.com/office/drawing/2014/main" id="{35065D3E-7E09-4589-8088-0004B1CBA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2798064"/>
            <a:ext cx="1371600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70" b="1">
                <a:solidFill>
                  <a:srgbClr val="16324F"/>
                </a:solidFill>
              </a:rPr>
              <a:t>Formula engine</a:t>
            </a:r>
            <a:endParaRPr sz="1170"/>
          </a:p>
        </p:txBody>
      </p:sp>
      <p:sp>
        <p:nvSpPr>
          <p:cNvPr id="39" name="Text 34">
            <a:extLst xmlns:a="http://schemas.openxmlformats.org/drawingml/2006/main">
              <a:ext uri="{FF2B5EF4-FFF2-40B4-BE49-F238E27FC236}">
                <a16:creationId xmlns:a16="http://schemas.microsoft.com/office/drawing/2014/main" id="{8F835764-15DD-4926-8474-7194A7910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3081528"/>
            <a:ext cx="28803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40">
                <a:solidFill>
                  <a:srgbClr val="5F7180"/>
                </a:solidFill>
              </a:rPr>
              <a:t>Derived KPI / rate calculations can be automated.</a:t>
            </a:r>
            <a:endParaRPr sz="940"/>
          </a:p>
        </p:txBody>
      </p:sp>
      <p:sp>
        <p:nvSpPr>
          <p:cNvPr id="40" name="Shape 35">
            <a:extLst xmlns:a="http://schemas.openxmlformats.org/drawingml/2006/main">
              <a:ext uri="{FF2B5EF4-FFF2-40B4-BE49-F238E27FC236}">
                <a16:creationId xmlns:a16="http://schemas.microsoft.com/office/drawing/2014/main" id="{D094F7C9-FA90-4AC6-93D2-8F3F780E5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6680" y="3867912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2E7"/>
          </a:solidFill>
          <a:ln xmlns:a="http://schemas.openxmlformats.org/drawingml/2006/main" w="12700">
            <a:solidFill>
              <a:srgbClr val="FFF2E7"/>
            </a:solidFill>
            <a:prstDash val="solid"/>
          </a:ln>
        </p:spPr>
      </p:sp>
      <p:pic>
        <p:nvPicPr>
          <p:cNvPr id="94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1f6552c9b94078">
            <a:extLst>
              <a:ext uri="{96DAC541-7B7A-43D3-8B79-37D633B846F1}">
                <asvg:svgBlip xmlns:asvg="http://schemas.microsoft.com/office/drawing/2016/SVG/main" r:embed="R8b73d97497e541fc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22692" y="3963924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42" name="Text 36">
            <a:extLst xmlns:a="http://schemas.openxmlformats.org/drawingml/2006/main">
              <a:ext uri="{FF2B5EF4-FFF2-40B4-BE49-F238E27FC236}">
                <a16:creationId xmlns:a16="http://schemas.microsoft.com/office/drawing/2014/main" id="{63F01F4C-C243-48C8-B8E8-80B844E98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3785616"/>
            <a:ext cx="1371600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70" b="1">
                <a:solidFill>
                  <a:srgbClr val="16324F"/>
                </a:solidFill>
              </a:rPr>
              <a:t>Validation rules</a:t>
            </a:r>
            <a:endParaRPr sz="1170"/>
          </a:p>
        </p:txBody>
      </p:sp>
      <p:sp>
        <p:nvSpPr>
          <p:cNvPr id="43" name="Text 37">
            <a:extLst xmlns:a="http://schemas.openxmlformats.org/drawingml/2006/main">
              <a:ext uri="{FF2B5EF4-FFF2-40B4-BE49-F238E27FC236}">
                <a16:creationId xmlns:a16="http://schemas.microsoft.com/office/drawing/2014/main" id="{380094BA-2DE1-4227-9307-069A28662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4069080"/>
            <a:ext cx="28803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40">
                <a:solidFill>
                  <a:srgbClr val="5F7180"/>
                </a:solidFill>
              </a:rPr>
              <a:t>Duplicate-month and invalid-value controls improve data quality.</a:t>
            </a:r>
            <a:endParaRPr sz="940"/>
          </a:p>
        </p:txBody>
      </p:sp>
      <p:sp>
        <p:nvSpPr>
          <p:cNvPr id="44" name="Shape 38">
            <a:extLst xmlns:a="http://schemas.openxmlformats.org/drawingml/2006/main">
              <a:ext uri="{FF2B5EF4-FFF2-40B4-BE49-F238E27FC236}">
                <a16:creationId xmlns:a16="http://schemas.microsoft.com/office/drawing/2014/main" id="{4B8C306B-A792-4C02-B51C-30D97369F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6680" y="4855464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EEFF"/>
          </a:solidFill>
          <a:ln xmlns:a="http://schemas.openxmlformats.org/drawingml/2006/main" w="12700">
            <a:solidFill>
              <a:srgbClr val="F2EEFF"/>
            </a:solidFill>
            <a:prstDash val="solid"/>
          </a:ln>
        </p:spPr>
      </p:sp>
      <p:pic>
        <p:nvPicPr>
          <p:cNvPr id="98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f67d9f608d4a56">
            <a:extLst>
              <a:ext uri="{96DAC541-7B7A-43D3-8B79-37D633B846F1}">
                <asvg:svgBlip xmlns:asvg="http://schemas.microsoft.com/office/drawing/2016/SVG/main" r:embed="R65d6c053ca4f41ce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22692" y="4951476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46" name="Text 39">
            <a:extLst xmlns:a="http://schemas.openxmlformats.org/drawingml/2006/main">
              <a:ext uri="{FF2B5EF4-FFF2-40B4-BE49-F238E27FC236}">
                <a16:creationId xmlns:a16="http://schemas.microsoft.com/office/drawing/2014/main" id="{41F23BCB-ADA1-4C72-85C2-8A28B09AC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4773168"/>
            <a:ext cx="1371600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70" b="1">
                <a:solidFill>
                  <a:srgbClr val="16324F"/>
                </a:solidFill>
              </a:rPr>
              <a:t>Trend intelligence</a:t>
            </a:r>
            <a:endParaRPr sz="1170"/>
          </a:p>
        </p:txBody>
      </p:sp>
      <p:sp>
        <p:nvSpPr>
          <p:cNvPr id="47" name="Text 40">
            <a:extLst xmlns:a="http://schemas.openxmlformats.org/drawingml/2006/main">
              <a:ext uri="{FF2B5EF4-FFF2-40B4-BE49-F238E27FC236}">
                <a16:creationId xmlns:a16="http://schemas.microsoft.com/office/drawing/2014/main" id="{A37A52E8-E811-40DF-883C-48C6373D0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5056632"/>
            <a:ext cx="28803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40">
                <a:solidFill>
                  <a:srgbClr val="5F7180"/>
                </a:solidFill>
              </a:rPr>
              <a:t>State, district and entity views show movement over time.</a:t>
            </a:r>
            <a:endParaRPr sz="940"/>
          </a:p>
        </p:txBody>
      </p:sp>
      <p:sp>
        <p:nvSpPr>
          <p:cNvPr id="48" name="Text 41">
            <a:extLst xmlns:a="http://schemas.openxmlformats.org/drawingml/2006/main">
              <a:ext uri="{FF2B5EF4-FFF2-40B4-BE49-F238E27FC236}">
                <a16:creationId xmlns:a16="http://schemas.microsoft.com/office/drawing/2014/main" id="{810BA81B-7C78-4033-9C16-8ED8A353A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5925312"/>
            <a:ext cx="9601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40" b="1">
                <a:solidFill>
                  <a:srgbClr val="2F6F6A"/>
                </a:solidFill>
              </a:rPr>
              <a:t>Assessments tell us “where we are.” Indicators tell us “whether the system is improving.”</a:t>
            </a:r>
            <a:endParaRPr sz="1240"/>
          </a:p>
        </p:txBody>
      </p:sp>
      <p:sp>
        <p:nvSpPr>
          <p:cNvPr id="54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4A23F669-5DE3-4022-9CF3-8898953C1542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292840" y="6574536"/>
            <a:ext cx="347472" cy="1645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8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8324348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7A5B809-1F18-4394-A9BF-E086FF878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10312"/>
            <a:ext cx="2011680" cy="27432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2F6F6A"/>
          </a:solidFill>
          <a:ln xmlns:a="http://schemas.openxmlformats.org/drawingml/2006/main" w="12700">
            <a:solidFill>
              <a:srgbClr val="2F6F6A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088CB21-A218-4137-B8B9-0BAEA582A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51460"/>
            <a:ext cx="1865376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60" b="1" spc="80">
                <a:solidFill>
                  <a:srgbClr val="FFFFFF"/>
                </a:solidFill>
              </a:rPr>
              <a:t>PLATFORM PROOF</a:t>
            </a:r>
            <a:endParaRPr sz="76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AD420600-473D-4351-B494-EA9D33B98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11480"/>
            <a:ext cx="1088136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16324F"/>
                </a:solidFill>
                <a:latin typeface="Aptos Display"/>
                <a:ea typeface="Aptos Display"/>
                <a:cs typeface="Aptos Display"/>
              </a:rPr>
              <a:t>Unified dashboard: baseline, current score, compliance and progress in one view</a:t>
            </a:r>
            <a:endParaRPr sz="25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25EBDA1A-E512-4A7C-BAF7-71CF5E801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69264"/>
            <a:ext cx="7315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0">
            <a:solidFill>
              <a:srgbClr val="F18A2A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C6F56D82-51D0-48EE-A30A-E58D3A4D8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060704"/>
            <a:ext cx="109728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5F7180"/>
                </a:solidFill>
              </a:rPr>
              <a:t>The reference SaQshi concept already demonstrates baseline/current comparison, checkpoint completion, resources and feedback modules.</a:t>
            </a:r>
            <a:endParaRPr sz="1150"/>
          </a:p>
        </p:txBody>
      </p:sp>
      <p:pic>
        <p:nvPicPr>
          <p:cNvPr id="3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f919a5f0b644d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329184"/>
            <a:ext cx="841248" cy="292608"/>
          </a:xfrm>
          <a:prstGeom xmlns:a="http://schemas.openxmlformats.org/drawingml/2006/main" prst="rect">
            <a:avLst/>
          </a:prstGeom>
        </p:spPr>
      </p:pic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8B42E1BD-697A-4501-B2F9-542DBA799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7543800" cy="4315968"/>
          </a:xfrm>
          <a:prstGeom xmlns:a="http://schemas.openxmlformats.org/drawingml/2006/main" prst="roundRect">
            <a:avLst>
              <a:gd name="adj" fmla="val 16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4EA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CBD4DA">
                <a:alpha val="14000"/>
              </a:srgbClr>
            </a:outerShdw>
          </a:effectLst>
        </p:spPr>
      </p:sp>
      <p:pic>
        <p:nvPicPr>
          <p:cNvPr id="36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ad9cf1c0494e8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8680" y="1828800"/>
            <a:ext cx="7178040" cy="3621024"/>
          </a:xfrm>
          <a:prstGeom xmlns:a="http://schemas.openxmlformats.org/drawingml/2006/main" prst="rect">
            <a:avLst/>
          </a:prstGeom>
        </p:spPr>
      </p:pic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30A78003-1CFC-43FF-B985-C40B5BE27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1828800"/>
            <a:ext cx="2880360" cy="749808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6510">
            <a:solidFill>
              <a:srgbClr val="2F6F6A"/>
            </a:solidFill>
            <a:prstDash val="solid"/>
          </a:ln>
        </p:spPr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71EEEE06-CD8C-48B9-AE8D-ABF9922ED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1828800"/>
            <a:ext cx="82296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6A"/>
          </a:solidFill>
          <a:ln xmlns:a="http://schemas.openxmlformats.org/drawingml/2006/main" w="12700">
            <a:solidFill>
              <a:srgbClr val="2F6F6A"/>
            </a:solidFill>
            <a:prstDash val="solid"/>
          </a:ln>
        </p:spPr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097E3273-4F73-4D92-A609-9671CB677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3960" y="1947672"/>
            <a:ext cx="22860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10" b="1">
                <a:solidFill>
                  <a:srgbClr val="16324F"/>
                </a:solidFill>
              </a:rPr>
              <a:t>Baseline vs current</a:t>
            </a:r>
            <a:endParaRPr sz="1110"/>
          </a:p>
        </p:txBody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B7E470E9-4E02-4D1B-95FE-0F5FCE84E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3960" y="2249424"/>
            <a:ext cx="224028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70">
                <a:solidFill>
                  <a:srgbClr val="5F7180"/>
                </a:solidFill>
              </a:rPr>
              <a:t>Visual evidence of improvement</a:t>
            </a:r>
            <a:endParaRPr sz="870"/>
          </a:p>
        </p:txBody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66CE8B48-5D41-4421-AB79-F8D6F876D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2852928"/>
            <a:ext cx="2880360" cy="749808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6510">
            <a:solidFill>
              <a:srgbClr val="2D7FF9"/>
            </a:solidFill>
            <a:prstDash val="solid"/>
          </a:ln>
        </p:spPr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DF80A819-F560-4AB0-B159-300E8EC66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2852928"/>
            <a:ext cx="82296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FF9"/>
          </a:solidFill>
          <a:ln xmlns:a="http://schemas.openxmlformats.org/drawingml/2006/main" w="12700">
            <a:solidFill>
              <a:srgbClr val="2D7FF9"/>
            </a:solidFill>
            <a:prstDash val="solid"/>
          </a:ln>
        </p:spPr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54B1D94E-6D0E-4D3C-82DD-C6244BB9B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3960" y="2971800"/>
            <a:ext cx="22860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10" b="1">
                <a:solidFill>
                  <a:srgbClr val="16324F"/>
                </a:solidFill>
              </a:rPr>
              <a:t>Checkpoint progress</a:t>
            </a:r>
            <a:endParaRPr sz="1110"/>
          </a:p>
        </p:txBody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3E9592AF-CA46-4D43-B503-4C2BB1BD5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3960" y="3273552"/>
            <a:ext cx="224028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70">
                <a:solidFill>
                  <a:srgbClr val="5F7180"/>
                </a:solidFill>
              </a:rPr>
              <a:t>Track assessment completeness</a:t>
            </a:r>
            <a:endParaRPr sz="870"/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F05E6979-CB08-4D2C-8C75-6393CAF99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3867912"/>
            <a:ext cx="2880360" cy="749808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6510">
            <a:solidFill>
              <a:srgbClr val="F18A2A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374429BE-14FF-454C-A9A7-FB13471F4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3867912"/>
            <a:ext cx="82296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8A2A"/>
          </a:solidFill>
          <a:ln xmlns:a="http://schemas.openxmlformats.org/drawingml/2006/main" w="12700">
            <a:solidFill>
              <a:srgbClr val="F18A2A"/>
            </a:solidFill>
            <a:prstDash val="solid"/>
          </a:ln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E746E91C-1AC3-4627-9F14-3031FD2BA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3960" y="3986784"/>
            <a:ext cx="22860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10" b="1">
                <a:solidFill>
                  <a:srgbClr val="16324F"/>
                </a:solidFill>
              </a:rPr>
              <a:t>Compliance mix</a:t>
            </a:r>
            <a:endParaRPr sz="1110"/>
          </a:p>
        </p:txBody>
      </p:sp>
      <p:sp>
        <p:nvSpPr>
          <p:cNvPr id="21" name="Text 17">
            <a:extLst xmlns:a="http://schemas.openxmlformats.org/drawingml/2006/main">
              <a:ext uri="{FF2B5EF4-FFF2-40B4-BE49-F238E27FC236}">
                <a16:creationId xmlns:a16="http://schemas.microsoft.com/office/drawing/2014/main" id="{14A3A6AB-FDD0-4DDD-8722-ABEC3CFA5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3960" y="4288536"/>
            <a:ext cx="224028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70">
                <a:solidFill>
                  <a:srgbClr val="5F7180"/>
                </a:solidFill>
              </a:rPr>
              <a:t>Fully / partially / non-compliant</a:t>
            </a:r>
            <a:endParaRPr sz="870"/>
          </a:p>
        </p:txBody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708ADB7A-F2E3-4DB6-B617-441EB2D21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4882896"/>
            <a:ext cx="2880360" cy="749808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6510">
            <a:solidFill>
              <a:srgbClr val="7B61FF"/>
            </a:solidFill>
            <a:prstDash val="solid"/>
          </a:ln>
        </p:spPr>
      </p:sp>
      <p:sp>
        <p:nvSpPr>
          <p:cNvPr id="23" name="Shape 19">
            <a:extLst xmlns:a="http://schemas.openxmlformats.org/drawingml/2006/main">
              <a:ext uri="{FF2B5EF4-FFF2-40B4-BE49-F238E27FC236}">
                <a16:creationId xmlns:a16="http://schemas.microsoft.com/office/drawing/2014/main" id="{C5FCAA13-6DFB-46F5-85C8-C7DBE0E21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4882896"/>
            <a:ext cx="82296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61FF"/>
          </a:solidFill>
          <a:ln xmlns:a="http://schemas.openxmlformats.org/drawingml/2006/main" w="12700">
            <a:solidFill>
              <a:srgbClr val="7B61FF"/>
            </a:solidFill>
            <a:prstDash val="solid"/>
          </a:ln>
        </p:spPr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BAA06A23-B503-4E82-AAF7-74AA15D1B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3960" y="5001768"/>
            <a:ext cx="22860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10" b="1">
                <a:solidFill>
                  <a:srgbClr val="16324F"/>
                </a:solidFill>
              </a:rPr>
              <a:t>Role-specific access</a:t>
            </a:r>
            <a:endParaRPr sz="1110"/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4E972E3F-2567-44C8-B5F2-FB86F8D57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3960" y="5303520"/>
            <a:ext cx="224028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70">
                <a:solidFill>
                  <a:srgbClr val="5F7180"/>
                </a:solidFill>
              </a:rPr>
              <a:t>Dashboard + modules by responsibility</a:t>
            </a:r>
            <a:endParaRPr sz="870"/>
          </a:p>
        </p:txBody>
      </p:sp>
      <p:sp>
        <p:nvSpPr>
          <p:cNvPr id="28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258C1664-F1B9-4A3B-9D5A-2CF2D04B4DAC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292840" y="6574536"/>
            <a:ext cx="347472" cy="1645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8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48550091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A3965263-5754-42C1-8E32-642891108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10312"/>
            <a:ext cx="2011680" cy="27432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2F6F6A"/>
          </a:solidFill>
          <a:ln xmlns:a="http://schemas.openxmlformats.org/drawingml/2006/main" w="12700">
            <a:solidFill>
              <a:srgbClr val="2F6F6A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70EFB71-E681-46B2-9FAC-90A28699A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51460"/>
            <a:ext cx="1865376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60" b="1" spc="80">
                <a:solidFill>
                  <a:srgbClr val="FFFFFF"/>
                </a:solidFill>
              </a:rPr>
              <a:t>CERTIFICATION</a:t>
            </a:r>
            <a:endParaRPr sz="76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2F566675-4B31-4B4A-8156-FA59C8F58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11480"/>
            <a:ext cx="1088136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16324F"/>
                </a:solidFill>
                <a:latin typeface="Aptos Display"/>
                <a:ea typeface="Aptos Display"/>
                <a:cs typeface="Aptos Display"/>
              </a:rPr>
              <a:t>Certification becomes a managed lifecycle, not a static field</a:t>
            </a:r>
            <a:endParaRPr sz="25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C3DE72BB-40F4-4806-9A3E-723B7530C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69264"/>
            <a:ext cx="7315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0">
            <a:solidFill>
              <a:srgbClr val="F18A2A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5F464531-41DB-42FD-9085-C80D1D19F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060704"/>
            <a:ext cx="109728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5F7180"/>
                </a:solidFill>
              </a:rPr>
              <a:t>Track status, validity, renewal and history while connecting certification readiness to actual assessment progress.</a:t>
            </a:r>
            <a:endParaRPr sz="1150"/>
          </a:p>
        </p:txBody>
      </p:sp>
      <p:pic>
        <p:nvPicPr>
          <p:cNvPr id="4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560109efb145f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329184"/>
            <a:ext cx="841248" cy="292608"/>
          </a:xfrm>
          <a:prstGeom xmlns:a="http://schemas.openxmlformats.org/drawingml/2006/main" prst="rect">
            <a:avLst/>
          </a:prstGeom>
        </p:spPr>
      </p:pic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F74AE140-C64D-48DE-A253-28AD87EA2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874520"/>
            <a:ext cx="1261872" cy="12618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F18A2A"/>
            </a:solidFill>
            <a:prstDash val="solid"/>
          </a:ln>
        </p:spPr>
      </p:sp>
      <p:pic>
        <p:nvPicPr>
          <p:cNvPr id="50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1e2c432712491d">
            <a:extLst>
              <a:ext uri="{96DAC541-7B7A-43D3-8B79-37D633B846F1}">
                <asvg:svgBlip xmlns:asvg="http://schemas.microsoft.com/office/drawing/2016/SVG/main" r:embed="R9163776b5bd64687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" y="2176272"/>
            <a:ext cx="548640" cy="548640"/>
          </a:xfrm>
          <a:prstGeom xmlns:a="http://schemas.openxmlformats.org/drawingml/2006/main" prst="rect">
            <a:avLst/>
          </a:prstGeom>
        </p:spPr>
      </p:pic>
      <p:sp>
        <p:nvSpPr>
          <p:cNvPr id="10" name="Text 6">
            <a:extLst xmlns:a="http://schemas.openxmlformats.org/drawingml/2006/main">
              <a:ext uri="{FF2B5EF4-FFF2-40B4-BE49-F238E27FC236}">
                <a16:creationId xmlns:a16="http://schemas.microsoft.com/office/drawing/2014/main" id="{AC789F9C-AE87-4481-A422-7653F69D0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346704"/>
            <a:ext cx="153619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20" b="1">
                <a:solidFill>
                  <a:srgbClr val="16324F"/>
                </a:solidFill>
              </a:rPr>
              <a:t>Ready?</a:t>
            </a:r>
            <a:endParaRPr sz="1220"/>
          </a:p>
        </p:txBody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D212F34B-DED8-4DA0-9945-837009740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685032"/>
            <a:ext cx="1591056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10">
                <a:solidFill>
                  <a:srgbClr val="5F7180"/>
                </a:solidFill>
              </a:rPr>
              <a:t>Gap status + score</a:t>
            </a:r>
            <a:endParaRPr sz="910"/>
          </a:p>
        </p:txBody>
      </p:sp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933BB617-1CE0-4CA5-B1D9-37AD60426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2496312"/>
            <a:ext cx="8229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B0C0CB"/>
            </a:solidFill>
            <a:prstDash val="solid"/>
            <a:headEnd type="none"/>
            <a:tailEnd type="triangle"/>
          </a:ln>
        </p:spPr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845645DC-EDEC-42F6-B745-98241D2D5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1874520"/>
            <a:ext cx="1261872" cy="12618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2D7FF9"/>
            </a:solidFill>
            <a:prstDash val="solid"/>
          </a:ln>
        </p:spPr>
      </p:sp>
      <p:pic>
        <p:nvPicPr>
          <p:cNvPr id="55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1278d872fd4e09">
            <a:extLst>
              <a:ext uri="{96DAC541-7B7A-43D3-8B79-37D633B846F1}">
                <asvg:svgBlip xmlns:asvg="http://schemas.microsoft.com/office/drawing/2016/SVG/main" r:embed="R207f653686a148c3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28416" y="2176272"/>
            <a:ext cx="548640" cy="548640"/>
          </a:xfrm>
          <a:prstGeom xmlns:a="http://schemas.openxmlformats.org/drawingml/2006/main" prst="rect">
            <a:avLst/>
          </a:prstGeom>
        </p:spPr>
      </p:pic>
      <p:sp>
        <p:nvSpPr>
          <p:cNvPr id="15" name="Text 10">
            <a:extLst xmlns:a="http://schemas.openxmlformats.org/drawingml/2006/main">
              <a:ext uri="{FF2B5EF4-FFF2-40B4-BE49-F238E27FC236}">
                <a16:creationId xmlns:a16="http://schemas.microsoft.com/office/drawing/2014/main" id="{DDD15CAC-C67F-479F-ACEC-580F29EEB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0" y="3346704"/>
            <a:ext cx="153619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20" b="1">
                <a:solidFill>
                  <a:srgbClr val="16324F"/>
                </a:solidFill>
              </a:rPr>
              <a:t>Apply</a:t>
            </a:r>
            <a:endParaRPr sz="1220"/>
          </a:p>
        </p:txBody>
      </p:sp>
      <p:sp>
        <p:nvSpPr>
          <p:cNvPr id="16" name="Text 11">
            <a:extLst xmlns:a="http://schemas.openxmlformats.org/drawingml/2006/main">
              <a:ext uri="{FF2B5EF4-FFF2-40B4-BE49-F238E27FC236}">
                <a16:creationId xmlns:a16="http://schemas.microsoft.com/office/drawing/2014/main" id="{72C7AE9F-620F-42DF-AC72-72A6314B8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7208" y="3685032"/>
            <a:ext cx="1591056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10">
                <a:solidFill>
                  <a:srgbClr val="5F7180"/>
                </a:solidFill>
              </a:rPr>
              <a:t>Certification workflow</a:t>
            </a:r>
            <a:endParaRPr sz="910"/>
          </a:p>
        </p:txBody>
      </p:sp>
      <p:sp>
        <p:nvSpPr>
          <p:cNvPr id="17" name="Shape 12">
            <a:extLst xmlns:a="http://schemas.openxmlformats.org/drawingml/2006/main">
              <a:ext uri="{FF2B5EF4-FFF2-40B4-BE49-F238E27FC236}">
                <a16:creationId xmlns:a16="http://schemas.microsoft.com/office/drawing/2014/main" id="{9745FCA0-42DD-47E0-ADFC-2708AAA23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960" y="2496312"/>
            <a:ext cx="8229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B0C0CB"/>
            </a:solidFill>
            <a:prstDash val="solid"/>
            <a:headEnd type="none"/>
            <a:tailEnd type="triangle"/>
          </a:ln>
        </p:spPr>
      </p:sp>
      <p:sp>
        <p:nvSpPr>
          <p:cNvPr id="18" name="Shape 13">
            <a:extLst xmlns:a="http://schemas.openxmlformats.org/drawingml/2006/main">
              <a:ext uri="{FF2B5EF4-FFF2-40B4-BE49-F238E27FC236}">
                <a16:creationId xmlns:a16="http://schemas.microsoft.com/office/drawing/2014/main" id="{9F2B6AB1-6385-4201-A2C9-9442CEAC7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1874520"/>
            <a:ext cx="1261872" cy="12618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2CB67D"/>
            </a:solidFill>
            <a:prstDash val="solid"/>
          </a:ln>
        </p:spPr>
      </p:sp>
      <p:pic>
        <p:nvPicPr>
          <p:cNvPr id="60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ba932d3f354bef">
            <a:extLst>
              <a:ext uri="{96DAC541-7B7A-43D3-8B79-37D633B846F1}">
                <asvg:svgBlip xmlns:asvg="http://schemas.microsoft.com/office/drawing/2016/SVG/main" r:embed="R93e55e7c74dc4840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68696" y="2176272"/>
            <a:ext cx="548640" cy="548640"/>
          </a:xfrm>
          <a:prstGeom xmlns:a="http://schemas.openxmlformats.org/drawingml/2006/main" prst="rect">
            <a:avLst/>
          </a:prstGeom>
        </p:spPr>
      </p:pic>
      <p:sp>
        <p:nvSpPr>
          <p:cNvPr id="20" name="Text 14">
            <a:extLst xmlns:a="http://schemas.openxmlformats.org/drawingml/2006/main">
              <a:ext uri="{FF2B5EF4-FFF2-40B4-BE49-F238E27FC236}">
                <a16:creationId xmlns:a16="http://schemas.microsoft.com/office/drawing/2014/main" id="{B5F2E753-7F9E-49F2-BA82-E065F3099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3346704"/>
            <a:ext cx="153619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20" b="1">
                <a:solidFill>
                  <a:srgbClr val="16324F"/>
                </a:solidFill>
              </a:rPr>
              <a:t>Certified</a:t>
            </a:r>
            <a:endParaRPr sz="1220"/>
          </a:p>
        </p:txBody>
      </p:sp>
      <p:sp>
        <p:nvSpPr>
          <p:cNvPr id="21" name="Text 15">
            <a:extLst xmlns:a="http://schemas.openxmlformats.org/drawingml/2006/main">
              <a:ext uri="{FF2B5EF4-FFF2-40B4-BE49-F238E27FC236}">
                <a16:creationId xmlns:a16="http://schemas.microsoft.com/office/drawing/2014/main" id="{CBC4B59D-E3EC-453A-8F6F-C4F67EE14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7488" y="3685032"/>
            <a:ext cx="1591056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10">
                <a:solidFill>
                  <a:srgbClr val="5F7180"/>
                </a:solidFill>
              </a:rPr>
              <a:t>State / national / conditional</a:t>
            </a:r>
            <a:endParaRPr sz="910"/>
          </a:p>
        </p:txBody>
      </p:sp>
      <p:sp>
        <p:nvSpPr>
          <p:cNvPr id="22" name="Shape 16">
            <a:extLst xmlns:a="http://schemas.openxmlformats.org/drawingml/2006/main">
              <a:ext uri="{FF2B5EF4-FFF2-40B4-BE49-F238E27FC236}">
                <a16:creationId xmlns:a16="http://schemas.microsoft.com/office/drawing/2014/main" id="{4621B7A5-36FE-4DC0-AF0E-F006218FC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2496312"/>
            <a:ext cx="8229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B0C0CB"/>
            </a:solidFill>
            <a:prstDash val="solid"/>
            <a:headEnd type="none"/>
            <a:tailEnd type="triangle"/>
          </a:ln>
        </p:spPr>
      </p:sp>
      <p:sp>
        <p:nvSpPr>
          <p:cNvPr id="23" name="Shape 17">
            <a:extLst xmlns:a="http://schemas.openxmlformats.org/drawingml/2006/main">
              <a:ext uri="{FF2B5EF4-FFF2-40B4-BE49-F238E27FC236}">
                <a16:creationId xmlns:a16="http://schemas.microsoft.com/office/drawing/2014/main" id="{60291DB3-8E58-4056-9185-A6D0E0B2B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1874520"/>
            <a:ext cx="1261872" cy="12618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7B61FF"/>
            </a:solidFill>
            <a:prstDash val="solid"/>
          </a:ln>
        </p:spPr>
      </p:sp>
      <p:pic>
        <p:nvPicPr>
          <p:cNvPr id="65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e93d86487442f8">
            <a:extLst>
              <a:ext uri="{96DAC541-7B7A-43D3-8B79-37D633B846F1}">
                <asvg:svgBlip xmlns:asvg="http://schemas.microsoft.com/office/drawing/2016/SVG/main" r:embed="R4197d10ad1f641f1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08976" y="2176272"/>
            <a:ext cx="548640" cy="548640"/>
          </a:xfrm>
          <a:prstGeom xmlns:a="http://schemas.openxmlformats.org/drawingml/2006/main" prst="rect">
            <a:avLst/>
          </a:prstGeom>
        </p:spPr>
      </p:pic>
      <p:sp>
        <p:nvSpPr>
          <p:cNvPr id="25" name="Text 18">
            <a:extLst xmlns:a="http://schemas.openxmlformats.org/drawingml/2006/main">
              <a:ext uri="{FF2B5EF4-FFF2-40B4-BE49-F238E27FC236}">
                <a16:creationId xmlns:a16="http://schemas.microsoft.com/office/drawing/2014/main" id="{52A08426-2B5E-4220-9E95-241EC2C7A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346704"/>
            <a:ext cx="153619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20" b="1">
                <a:solidFill>
                  <a:srgbClr val="16324F"/>
                </a:solidFill>
              </a:rPr>
              <a:t>Validity</a:t>
            </a:r>
            <a:endParaRPr sz="1220"/>
          </a:p>
        </p:txBody>
      </p:sp>
      <p:sp>
        <p:nvSpPr>
          <p:cNvPr id="26" name="Text 19">
            <a:extLst xmlns:a="http://schemas.openxmlformats.org/drawingml/2006/main">
              <a:ext uri="{FF2B5EF4-FFF2-40B4-BE49-F238E27FC236}">
                <a16:creationId xmlns:a16="http://schemas.microsoft.com/office/drawing/2014/main" id="{1EBE1258-D64B-4A74-AF87-E900EBA08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7768" y="3685032"/>
            <a:ext cx="1591056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10">
                <a:solidFill>
                  <a:srgbClr val="5F7180"/>
                </a:solidFill>
              </a:rPr>
              <a:t>Expiry monitoring</a:t>
            </a:r>
            <a:endParaRPr sz="910"/>
          </a:p>
        </p:txBody>
      </p:sp>
      <p:sp>
        <p:nvSpPr>
          <p:cNvPr id="27" name="Shape 20">
            <a:extLst xmlns:a="http://schemas.openxmlformats.org/drawingml/2006/main">
              <a:ext uri="{FF2B5EF4-FFF2-40B4-BE49-F238E27FC236}">
                <a16:creationId xmlns:a16="http://schemas.microsoft.com/office/drawing/2014/main" id="{2CC00F8B-2D65-4F00-8976-343709A9C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2520" y="2496312"/>
            <a:ext cx="8229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B0C0CB"/>
            </a:solidFill>
            <a:prstDash val="solid"/>
            <a:headEnd type="none"/>
            <a:tailEnd type="triangle"/>
          </a:ln>
        </p:spPr>
      </p:sp>
      <p:sp>
        <p:nvSpPr>
          <p:cNvPr id="28" name="Shape 21">
            <a:extLst xmlns:a="http://schemas.openxmlformats.org/drawingml/2006/main">
              <a:ext uri="{FF2B5EF4-FFF2-40B4-BE49-F238E27FC236}">
                <a16:creationId xmlns:a16="http://schemas.microsoft.com/office/drawing/2014/main" id="{4644EDB2-0746-4833-B1A5-6472E6554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40" y="1874520"/>
            <a:ext cx="1261872" cy="12618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2F6F6A"/>
            </a:solidFill>
            <a:prstDash val="solid"/>
          </a:ln>
        </p:spPr>
      </p:sp>
      <p:pic>
        <p:nvPicPr>
          <p:cNvPr id="70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2947e4e21d4a36">
            <a:extLst>
              <a:ext uri="{96DAC541-7B7A-43D3-8B79-37D633B846F1}">
                <asvg:svgBlip xmlns:asvg="http://schemas.microsoft.com/office/drawing/2016/SVG/main" r:embed="R8d90e150b87f4173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49256" y="2176272"/>
            <a:ext cx="548640" cy="548640"/>
          </a:xfrm>
          <a:prstGeom xmlns:a="http://schemas.openxmlformats.org/drawingml/2006/main" prst="rect">
            <a:avLst/>
          </a:prstGeom>
        </p:spPr>
      </p:pic>
      <p:sp>
        <p:nvSpPr>
          <p:cNvPr id="30" name="Text 22">
            <a:extLst xmlns:a="http://schemas.openxmlformats.org/drawingml/2006/main">
              <a:ext uri="{FF2B5EF4-FFF2-40B4-BE49-F238E27FC236}">
                <a16:creationId xmlns:a16="http://schemas.microsoft.com/office/drawing/2014/main" id="{D57AE4C6-C246-42FB-9684-615AE0E26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5480" y="3346704"/>
            <a:ext cx="153619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20" b="1">
                <a:solidFill>
                  <a:srgbClr val="16324F"/>
                </a:solidFill>
              </a:rPr>
              <a:t>Renew</a:t>
            </a:r>
            <a:endParaRPr sz="1220"/>
          </a:p>
        </p:txBody>
      </p:sp>
      <p:sp>
        <p:nvSpPr>
          <p:cNvPr id="31" name="Text 23">
            <a:extLst xmlns:a="http://schemas.openxmlformats.org/drawingml/2006/main">
              <a:ext uri="{FF2B5EF4-FFF2-40B4-BE49-F238E27FC236}">
                <a16:creationId xmlns:a16="http://schemas.microsoft.com/office/drawing/2014/main" id="{A154BE24-CF04-4E9B-A4EA-571D47390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8048" y="3685032"/>
            <a:ext cx="1591056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10">
                <a:solidFill>
                  <a:srgbClr val="5F7180"/>
                </a:solidFill>
              </a:rPr>
              <a:t>Reassessment + evidence</a:t>
            </a:r>
            <a:endParaRPr sz="910"/>
          </a:p>
        </p:txBody>
      </p:sp>
      <p:sp>
        <p:nvSpPr>
          <p:cNvPr id="32" name="Shape 24">
            <a:extLst xmlns:a="http://schemas.openxmlformats.org/drawingml/2006/main">
              <a:ext uri="{FF2B5EF4-FFF2-40B4-BE49-F238E27FC236}">
                <a16:creationId xmlns:a16="http://schemas.microsoft.com/office/drawing/2014/main" id="{C1901CFD-A1D7-4EE0-9618-350BCB002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960" y="4736592"/>
            <a:ext cx="8229600" cy="914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8F2"/>
          </a:solidFill>
          <a:ln xmlns:a="http://schemas.openxmlformats.org/drawingml/2006/main" w="12700">
            <a:solidFill>
              <a:srgbClr val="D5EEE4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CBD4DA">
                <a:alpha val="14000"/>
              </a:srgbClr>
            </a:outerShdw>
          </a:effectLst>
        </p:spPr>
      </p:sp>
      <p:pic>
        <p:nvPicPr>
          <p:cNvPr id="74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7eb1d69ea54102">
            <a:extLst>
              <a:ext uri="{96DAC541-7B7A-43D3-8B79-37D633B846F1}">
                <asvg:svgBlip xmlns:asvg="http://schemas.microsoft.com/office/drawing/2016/SVG/main" r:embed="Rbc5dcb69ffe24616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240280" y="4983480"/>
            <a:ext cx="384048" cy="384048"/>
          </a:xfrm>
          <a:prstGeom xmlns:a="http://schemas.openxmlformats.org/drawingml/2006/main" prst="rect">
            <a:avLst/>
          </a:prstGeom>
        </p:spPr>
      </p:pic>
      <p:sp>
        <p:nvSpPr>
          <p:cNvPr id="34" name="Text 25">
            <a:extLst xmlns:a="http://schemas.openxmlformats.org/drawingml/2006/main">
              <a:ext uri="{FF2B5EF4-FFF2-40B4-BE49-F238E27FC236}">
                <a16:creationId xmlns:a16="http://schemas.microsoft.com/office/drawing/2014/main" id="{74EDD241-C5F5-427E-B898-7D1F17F30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4937760"/>
            <a:ext cx="694944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10" b="1">
                <a:solidFill>
                  <a:srgbClr val="16324F"/>
                </a:solidFill>
              </a:rPr>
              <a:t>Governance benefit: administrators can see which entities are certified, expiring, due for renewal or blocked by unresolved gaps — without rebuilding the status manually.</a:t>
            </a:r>
            <a:endParaRPr sz="1110"/>
          </a:p>
        </p:txBody>
      </p:sp>
      <p:sp>
        <p:nvSpPr>
          <p:cNvPr id="42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09E89DE9-1EFB-4B8A-91CF-1420D681AF87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292840" y="6574536"/>
            <a:ext cx="347472" cy="1645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8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78525614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2138D343-E301-4BF4-9FF9-7A0D5ABAE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10312"/>
            <a:ext cx="2011680" cy="27432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2F6F6A"/>
          </a:solidFill>
          <a:ln xmlns:a="http://schemas.openxmlformats.org/drawingml/2006/main" w="12700">
            <a:solidFill>
              <a:srgbClr val="2F6F6A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735CA3E-C9BC-41DB-B008-225EF4609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51460"/>
            <a:ext cx="1865376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60" b="1" spc="80">
                <a:solidFill>
                  <a:srgbClr val="FFFFFF"/>
                </a:solidFill>
              </a:rPr>
              <a:t>GOVERNANCE</a:t>
            </a:r>
            <a:endParaRPr sz="76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0C139D70-58BD-44A3-A79A-04484DB0A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11480"/>
            <a:ext cx="1088136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16324F"/>
                </a:solidFill>
                <a:latin typeface="Aptos Display"/>
                <a:ea typeface="Aptos Display"/>
                <a:cs typeface="Aptos Display"/>
              </a:rPr>
              <a:t>Role-based access mirrors how public programs are actually managed</a:t>
            </a:r>
            <a:endParaRPr sz="25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8FB13615-FAE9-4128-B80A-DCDD39404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69264"/>
            <a:ext cx="7315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0">
            <a:solidFill>
              <a:srgbClr val="F18A2A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E92896A4-48DE-4E21-9617-82356C59C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060704"/>
            <a:ext cx="109728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5F7180"/>
                </a:solidFill>
              </a:rPr>
              <a:t>Access is controlled by hierarchy, responsibility and functional privilege rather than a single “admin/user” split.</a:t>
            </a:r>
            <a:endParaRPr sz="1150"/>
          </a:p>
        </p:txBody>
      </p:sp>
      <p:pic>
        <p:nvPicPr>
          <p:cNvPr id="4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de0a17565e41d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329184"/>
            <a:ext cx="841248" cy="292608"/>
          </a:xfrm>
          <a:prstGeom xmlns:a="http://schemas.openxmlformats.org/drawingml/2006/main" prst="rect">
            <a:avLst/>
          </a:prstGeom>
        </p:spPr>
      </p:pic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6C047464-5D5E-4338-959A-AA3D83566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755648"/>
            <a:ext cx="2834640" cy="64008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16324F"/>
          </a:solidFill>
          <a:ln xmlns:a="http://schemas.openxmlformats.org/drawingml/2006/main" w="12700">
            <a:solidFill>
              <a:srgbClr val="16324F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957C2C2F-5543-49F3-B35E-66D741A2A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8840" y="1874520"/>
            <a:ext cx="256032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FFFFFF"/>
                </a:solidFill>
              </a:rPr>
              <a:t>State / Program Admin</a:t>
            </a:r>
            <a:endParaRPr sz="115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C542547A-20B1-40EC-A305-0E0EAD198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8840" y="2112264"/>
            <a:ext cx="256032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80">
                <a:solidFill>
                  <a:srgbClr val="E5EEF3"/>
                </a:solidFill>
              </a:rPr>
              <a:t>Configuration • users • dashboard • certification</a:t>
            </a:r>
            <a:endParaRPr sz="780"/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AF5306E3-FABC-404D-A9FC-C1463D0A3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2578608"/>
            <a:ext cx="3749040" cy="64008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2F6F6A"/>
          </a:solidFill>
          <a:ln xmlns:a="http://schemas.openxmlformats.org/drawingml/2006/main" w="12700">
            <a:solidFill>
              <a:srgbClr val="2F6F6A"/>
            </a:solidFill>
            <a:prstDash val="solid"/>
          </a:ln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6792670A-E2B9-4315-B922-482534B0F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2697480"/>
            <a:ext cx="347472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FFFFFF"/>
                </a:solidFill>
              </a:rPr>
              <a:t>District / Division</a:t>
            </a:r>
            <a:endParaRPr sz="115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1601DC8C-DC76-459A-91E1-18C1BE935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2935224"/>
            <a:ext cx="347472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80">
                <a:solidFill>
                  <a:srgbClr val="E5EEF3"/>
                </a:solidFill>
              </a:rPr>
              <a:t>Monitor entities • review progress • analytics</a:t>
            </a:r>
            <a:endParaRPr sz="78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20408713-6850-48B4-8F3B-EA580A962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401568"/>
            <a:ext cx="4663440" cy="64008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2D7FF9"/>
          </a:solidFill>
          <a:ln xmlns:a="http://schemas.openxmlformats.org/drawingml/2006/main" w="12700">
            <a:solidFill>
              <a:srgbClr val="2D7FF9"/>
            </a:solidFill>
            <a:prstDash val="solid"/>
          </a:ln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7FFF9528-B9EC-4BB5-B18E-07FF74C9F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3520440"/>
            <a:ext cx="438912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FFFFFF"/>
                </a:solidFill>
              </a:rPr>
              <a:t>Facility / School Admin</a:t>
            </a:r>
            <a:endParaRPr sz="115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F06E5772-7D51-4843-877D-795C3C48F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3758184"/>
            <a:ext cx="438912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80">
                <a:solidFill>
                  <a:srgbClr val="E5EEF3"/>
                </a:solidFill>
              </a:rPr>
              <a:t>Activate departments/classes • assign work • action plans</a:t>
            </a:r>
            <a:endParaRPr sz="780"/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D405DD38-25F0-4E6B-AC81-AF6C52A5C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224528"/>
            <a:ext cx="5577840" cy="64008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18A2A"/>
          </a:solidFill>
          <a:ln xmlns:a="http://schemas.openxmlformats.org/drawingml/2006/main" w="12700">
            <a:solidFill>
              <a:srgbClr val="F18A2A"/>
            </a:solidFill>
            <a:prstDash val="solid"/>
          </a:ln>
        </p:spPr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D10767A4-78AB-4A70-9890-EDB53915B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343400"/>
            <a:ext cx="530352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FFFFFF"/>
                </a:solidFill>
              </a:rPr>
              <a:t>Assessor / Department User</a:t>
            </a:r>
            <a:endParaRPr sz="1150"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6DB84FED-FD06-42EC-9559-E6D8537E4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581144"/>
            <a:ext cx="530352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80">
                <a:solidFill>
                  <a:srgbClr val="E5EEF3"/>
                </a:solidFill>
              </a:rPr>
              <a:t>Assess • save evidence • close gaps • enter indicators</a:t>
            </a:r>
            <a:endParaRPr sz="780"/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09DDAC89-0D35-4CB3-8173-75919A863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1892808"/>
            <a:ext cx="438912" cy="4389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5F3"/>
          </a:solidFill>
          <a:ln xmlns:a="http://schemas.openxmlformats.org/drawingml/2006/main" w="12700">
            <a:solidFill>
              <a:srgbClr val="EAF5F3"/>
            </a:solidFill>
            <a:prstDash val="solid"/>
          </a:ln>
        </p:spPr>
      </p:sp>
      <p:pic>
        <p:nvPicPr>
          <p:cNvPr id="61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c058e37da34ef8">
            <a:extLst>
              <a:ext uri="{96DAC541-7B7A-43D3-8B79-37D633B846F1}">
                <asvg:svgBlip xmlns:asvg="http://schemas.microsoft.com/office/drawing/2016/SVG/main" r:embed="R7f0d9d70d9594fe3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99732" y="1988820"/>
            <a:ext cx="246888" cy="246888"/>
          </a:xfrm>
          <a:prstGeom xmlns:a="http://schemas.openxmlformats.org/drawingml/2006/main" prst="rect">
            <a:avLst/>
          </a:prstGeom>
        </p:spPr>
      </p:pic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F6E1EE14-1BE2-4806-B2C9-391FDFEE7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0" y="1837944"/>
            <a:ext cx="11430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40" b="1">
                <a:solidFill>
                  <a:srgbClr val="16324F"/>
                </a:solidFill>
              </a:rPr>
              <a:t>Scope</a:t>
            </a:r>
            <a:endParaRPr sz="1140"/>
          </a:p>
        </p:txBody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60EA825F-D9BB-4A01-9A55-D6BB39248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1819656"/>
            <a:ext cx="260604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20">
                <a:solidFill>
                  <a:srgbClr val="5F7180"/>
                </a:solidFill>
              </a:rPr>
              <a:t>State / district / entity / department</a:t>
            </a:r>
            <a:endParaRPr sz="920"/>
          </a:p>
        </p:txBody>
      </p:sp>
      <p:sp>
        <p:nvSpPr>
          <p:cNvPr id="24" name="Shape 20">
            <a:extLst xmlns:a="http://schemas.openxmlformats.org/drawingml/2006/main">
              <a:ext uri="{FF2B5EF4-FFF2-40B4-BE49-F238E27FC236}">
                <a16:creationId xmlns:a16="http://schemas.microsoft.com/office/drawing/2014/main" id="{A69DD9FB-EDCE-4760-86AF-FA077E0FC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2898648"/>
            <a:ext cx="438912" cy="4389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2E7"/>
          </a:solidFill>
          <a:ln xmlns:a="http://schemas.openxmlformats.org/drawingml/2006/main" w="12700">
            <a:solidFill>
              <a:srgbClr val="FFF2E7"/>
            </a:solidFill>
            <a:prstDash val="solid"/>
          </a:ln>
        </p:spPr>
      </p:sp>
      <p:pic>
        <p:nvPicPr>
          <p:cNvPr id="65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8f03176a184f08">
            <a:extLst>
              <a:ext uri="{96DAC541-7B7A-43D3-8B79-37D633B846F1}">
                <asvg:svgBlip xmlns:asvg="http://schemas.microsoft.com/office/drawing/2016/SVG/main" r:embed="R06997e16dee8470e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99732" y="2994660"/>
            <a:ext cx="246888" cy="246888"/>
          </a:xfrm>
          <a:prstGeom xmlns:a="http://schemas.openxmlformats.org/drawingml/2006/main" prst="rect">
            <a:avLst/>
          </a:prstGeom>
        </p:spPr>
      </p:pic>
      <p:sp>
        <p:nvSpPr>
          <p:cNvPr id="26" name="Text 21">
            <a:extLst xmlns:a="http://schemas.openxmlformats.org/drawingml/2006/main">
              <a:ext uri="{FF2B5EF4-FFF2-40B4-BE49-F238E27FC236}">
                <a16:creationId xmlns:a16="http://schemas.microsoft.com/office/drawing/2014/main" id="{EF5D8C47-0EB6-4733-BCBC-08BB234A5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0" y="2843784"/>
            <a:ext cx="11430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40" b="1">
                <a:solidFill>
                  <a:srgbClr val="16324F"/>
                </a:solidFill>
              </a:rPr>
              <a:t>Privileges</a:t>
            </a:r>
            <a:endParaRPr sz="1140"/>
          </a:p>
        </p:txBody>
      </p:sp>
      <p:sp>
        <p:nvSpPr>
          <p:cNvPr id="27" name="Text 22">
            <a:extLst xmlns:a="http://schemas.openxmlformats.org/drawingml/2006/main">
              <a:ext uri="{FF2B5EF4-FFF2-40B4-BE49-F238E27FC236}">
                <a16:creationId xmlns:a16="http://schemas.microsoft.com/office/drawing/2014/main" id="{0903DACF-533D-4873-B4F8-361A6D784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2825496"/>
            <a:ext cx="260604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20">
                <a:solidFill>
                  <a:srgbClr val="5F7180"/>
                </a:solidFill>
              </a:rPr>
              <a:t>View • create • edit • approve • export • administer</a:t>
            </a:r>
            <a:endParaRPr sz="920"/>
          </a:p>
        </p:txBody>
      </p:sp>
      <p:sp>
        <p:nvSpPr>
          <p:cNvPr id="28" name="Shape 23">
            <a:extLst xmlns:a="http://schemas.openxmlformats.org/drawingml/2006/main">
              <a:ext uri="{FF2B5EF4-FFF2-40B4-BE49-F238E27FC236}">
                <a16:creationId xmlns:a16="http://schemas.microsoft.com/office/drawing/2014/main" id="{AAF8928A-3530-4CA5-B01C-FBB139F9F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3904488"/>
            <a:ext cx="438912" cy="4389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2700">
            <a:solidFill>
              <a:srgbClr val="EAF2FF"/>
            </a:solidFill>
            <a:prstDash val="solid"/>
          </a:ln>
        </p:spPr>
      </p:sp>
      <p:pic>
        <p:nvPicPr>
          <p:cNvPr id="69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8fecc6c6ef4145">
            <a:extLst>
              <a:ext uri="{96DAC541-7B7A-43D3-8B79-37D633B846F1}">
                <asvg:svgBlip xmlns:asvg="http://schemas.microsoft.com/office/drawing/2016/SVG/main" r:embed="Rc61fe334bb454cf5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99732" y="4000500"/>
            <a:ext cx="246888" cy="246888"/>
          </a:xfrm>
          <a:prstGeom xmlns:a="http://schemas.openxmlformats.org/drawingml/2006/main" prst="rect">
            <a:avLst/>
          </a:prstGeom>
        </p:spPr>
      </p:pic>
      <p:sp>
        <p:nvSpPr>
          <p:cNvPr id="30" name="Text 24">
            <a:extLst xmlns:a="http://schemas.openxmlformats.org/drawingml/2006/main">
              <a:ext uri="{FF2B5EF4-FFF2-40B4-BE49-F238E27FC236}">
                <a16:creationId xmlns:a16="http://schemas.microsoft.com/office/drawing/2014/main" id="{5458A873-8A9E-4B85-9BFF-D7A85A8AF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0" y="3849624"/>
            <a:ext cx="11430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40" b="1">
                <a:solidFill>
                  <a:srgbClr val="16324F"/>
                </a:solidFill>
              </a:rPr>
              <a:t>Assignment</a:t>
            </a:r>
            <a:endParaRPr sz="1140"/>
          </a:p>
        </p:txBody>
      </p:sp>
      <p:sp>
        <p:nvSpPr>
          <p:cNvPr id="31" name="Text 25">
            <a:extLst xmlns:a="http://schemas.openxmlformats.org/drawingml/2006/main">
              <a:ext uri="{FF2B5EF4-FFF2-40B4-BE49-F238E27FC236}">
                <a16:creationId xmlns:a16="http://schemas.microsoft.com/office/drawing/2014/main" id="{9C246E32-AC7D-47BB-B83D-5DED3ED58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3831336"/>
            <a:ext cx="260604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20">
                <a:solidFill>
                  <a:srgbClr val="5F7180"/>
                </a:solidFill>
              </a:rPr>
              <a:t>User linked to facility / school and allowed units</a:t>
            </a:r>
            <a:endParaRPr sz="920"/>
          </a:p>
        </p:txBody>
      </p:sp>
      <p:sp>
        <p:nvSpPr>
          <p:cNvPr id="32" name="Shape 26">
            <a:extLst xmlns:a="http://schemas.openxmlformats.org/drawingml/2006/main">
              <a:ext uri="{FF2B5EF4-FFF2-40B4-BE49-F238E27FC236}">
                <a16:creationId xmlns:a16="http://schemas.microsoft.com/office/drawing/2014/main" id="{23A4737D-8724-404F-85D0-697E85A37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4910328"/>
            <a:ext cx="438912" cy="4389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EEFF"/>
          </a:solidFill>
          <a:ln xmlns:a="http://schemas.openxmlformats.org/drawingml/2006/main" w="12700">
            <a:solidFill>
              <a:srgbClr val="F2EEFF"/>
            </a:solidFill>
            <a:prstDash val="solid"/>
          </a:ln>
        </p:spPr>
      </p:sp>
      <p:pic>
        <p:nvPicPr>
          <p:cNvPr id="73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4ed83a9f3248af">
            <a:extLst>
              <a:ext uri="{96DAC541-7B7A-43D3-8B79-37D633B846F1}">
                <asvg:svgBlip xmlns:asvg="http://schemas.microsoft.com/office/drawing/2016/SVG/main" r:embed="R4d01460692274794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99732" y="5006340"/>
            <a:ext cx="246888" cy="246888"/>
          </a:xfrm>
          <a:prstGeom xmlns:a="http://schemas.openxmlformats.org/drawingml/2006/main" prst="rect">
            <a:avLst/>
          </a:prstGeom>
        </p:spPr>
      </p:pic>
      <p:sp>
        <p:nvSpPr>
          <p:cNvPr id="34" name="Text 27">
            <a:extLst xmlns:a="http://schemas.openxmlformats.org/drawingml/2006/main">
              <a:ext uri="{FF2B5EF4-FFF2-40B4-BE49-F238E27FC236}">
                <a16:creationId xmlns:a16="http://schemas.microsoft.com/office/drawing/2014/main" id="{CFD0D08F-ABD3-4C29-B1CA-E22AF2971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0" y="4855464"/>
            <a:ext cx="11430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40" b="1">
                <a:solidFill>
                  <a:srgbClr val="16324F"/>
                </a:solidFill>
              </a:rPr>
              <a:t>Auditability</a:t>
            </a:r>
            <a:endParaRPr sz="1140"/>
          </a:p>
        </p:txBody>
      </p:sp>
      <p:sp>
        <p:nvSpPr>
          <p:cNvPr id="35" name="Text 28">
            <a:extLst xmlns:a="http://schemas.openxmlformats.org/drawingml/2006/main">
              <a:ext uri="{FF2B5EF4-FFF2-40B4-BE49-F238E27FC236}">
                <a16:creationId xmlns:a16="http://schemas.microsoft.com/office/drawing/2014/main" id="{30425BC9-2046-4AD4-8B2F-F7643DF33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4837176"/>
            <a:ext cx="260604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20">
                <a:solidFill>
                  <a:srgbClr val="5F7180"/>
                </a:solidFill>
              </a:rPr>
              <a:t>Security events and change history retained</a:t>
            </a:r>
            <a:endParaRPr sz="920"/>
          </a:p>
        </p:txBody>
      </p:sp>
      <p:sp>
        <p:nvSpPr>
          <p:cNvPr id="36" name="Text 29">
            <a:extLst xmlns:a="http://schemas.openxmlformats.org/drawingml/2006/main">
              <a:ext uri="{FF2B5EF4-FFF2-40B4-BE49-F238E27FC236}">
                <a16:creationId xmlns:a16="http://schemas.microsoft.com/office/drawing/2014/main" id="{067013A2-5D62-41D0-881E-EE8029A03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5623560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40" b="1">
                <a:solidFill>
                  <a:srgbClr val="2F6F6A"/>
                </a:solidFill>
              </a:rPr>
              <a:t>Security is part of the platform contract — not a feature added later for each framework.</a:t>
            </a:r>
            <a:endParaRPr sz="124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7F886939-89C9-4EF2-9878-FD09FDDBE145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292840" y="6574536"/>
            <a:ext cx="347472" cy="1645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8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34890194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CAE08DF9-AC7B-43E2-896B-A4BEB351F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10312"/>
            <a:ext cx="2011680" cy="27432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2F6F6A"/>
          </a:solidFill>
          <a:ln xmlns:a="http://schemas.openxmlformats.org/drawingml/2006/main" w="12700">
            <a:solidFill>
              <a:srgbClr val="2F6F6A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44ABE0E-87DC-491C-97EB-DBA9F65C7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51460"/>
            <a:ext cx="1865376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60" b="1" spc="80">
                <a:solidFill>
                  <a:srgbClr val="FFFFFF"/>
                </a:solidFill>
              </a:rPr>
              <a:t>CAPABILITIES</a:t>
            </a:r>
            <a:endParaRPr sz="76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E38A0FA6-628D-4D70-8E5F-6DCF92ED0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11480"/>
            <a:ext cx="1088136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16324F"/>
                </a:solidFill>
                <a:latin typeface="Aptos Display"/>
                <a:ea typeface="Aptos Display"/>
                <a:cs typeface="Aptos Display"/>
              </a:rPr>
              <a:t>What the platform provides today — and what every framework can reuse</a:t>
            </a:r>
            <a:endParaRPr sz="25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E84D1DD4-C622-44BD-8F40-CFA37306D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69264"/>
            <a:ext cx="7315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0">
            <a:solidFill>
              <a:srgbClr val="F18A2A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50D9F4EE-EE3D-4155-BEB3-AF58668B4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060704"/>
            <a:ext cx="109728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5F7180"/>
                </a:solidFill>
              </a:rPr>
              <a:t>A shared capability stack prevents the same features being rebuilt for each sector or program.</a:t>
            </a:r>
            <a:endParaRPr sz="1150"/>
          </a:p>
        </p:txBody>
      </p:sp>
      <p:pic>
        <p:nvPicPr>
          <p:cNvPr id="10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3a8d07f5ba440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329184"/>
            <a:ext cx="841248" cy="292608"/>
          </a:xfrm>
          <a:prstGeom xmlns:a="http://schemas.openxmlformats.org/drawingml/2006/main" prst="rect">
            <a:avLst/>
          </a:prstGeom>
        </p:spPr>
      </p:pic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85F59DB0-1362-45F6-87B1-F8940712D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645920"/>
            <a:ext cx="2487168" cy="18288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4EA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CBD4DA">
                <a:alpha val="14000"/>
              </a:srgbClr>
            </a:outerShdw>
          </a:effectLst>
        </p:spPr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C6F095F5-2269-435B-A024-4754F09E3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1847088"/>
            <a:ext cx="1005840" cy="310896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F6F6A"/>
          </a:solidFill>
          <a:ln xmlns:a="http://schemas.openxmlformats.org/drawingml/2006/main" w="12700">
            <a:solidFill>
              <a:srgbClr val="2F6F6A"/>
            </a:solidFill>
            <a:prstDash val="solid"/>
          </a:ln>
        </p:spPr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D75BE0B7-E3D7-4B0D-B9EB-6A899C90B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29384"/>
            <a:ext cx="896112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60" b="1">
                <a:solidFill>
                  <a:srgbClr val="FFFFFF"/>
                </a:solidFill>
              </a:rPr>
              <a:t>CONFIGURE</a:t>
            </a:r>
            <a:endParaRPr sz="760"/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B4B4A164-76AC-43E6-B957-D4E6A9BC7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" y="2331720"/>
            <a:ext cx="54864" cy="548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6A"/>
          </a:solidFill>
          <a:ln xmlns:a="http://schemas.openxmlformats.org/drawingml/2006/main" w="12700">
            <a:solidFill>
              <a:srgbClr val="2F6F6A"/>
            </a:solidFill>
            <a:prstDash val="solid"/>
          </a:ln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23F9EEEA-4DC5-4FEF-93D7-19F45E2B8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2249424"/>
            <a:ext cx="187452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60">
                <a:solidFill>
                  <a:srgbClr val="1D2B36"/>
                </a:solidFill>
              </a:rPr>
              <a:t>Framework &amp; facility/entity types</a:t>
            </a:r>
            <a:endParaRPr sz="860"/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D481EC73-85A7-43C1-A818-4F0E1C9B1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" y="2596896"/>
            <a:ext cx="54864" cy="548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6A"/>
          </a:solidFill>
          <a:ln xmlns:a="http://schemas.openxmlformats.org/drawingml/2006/main" w="12700">
            <a:solidFill>
              <a:srgbClr val="2F6F6A"/>
            </a:solidFill>
            <a:prstDash val="solid"/>
          </a:ln>
        </p:spPr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85FF7548-4E7D-4841-B262-3A7786620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2514600"/>
            <a:ext cx="187452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60">
                <a:solidFill>
                  <a:srgbClr val="1D2B36"/>
                </a:solidFill>
              </a:rPr>
              <a:t>Departments / domains / concerns</a:t>
            </a:r>
            <a:endParaRPr sz="860"/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F2B4119B-9742-4D93-8DA2-E556B29E5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" y="2862072"/>
            <a:ext cx="54864" cy="548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6A"/>
          </a:solidFill>
          <a:ln xmlns:a="http://schemas.openxmlformats.org/drawingml/2006/main" w="12700">
            <a:solidFill>
              <a:srgbClr val="2F6F6A"/>
            </a:solidFill>
            <a:prstDash val="solid"/>
          </a:ln>
        </p:spPr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47057CD5-6486-49A6-B018-7C05D21D9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2779776"/>
            <a:ext cx="187452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60">
                <a:solidFill>
                  <a:srgbClr val="1D2B36"/>
                </a:solidFill>
              </a:rPr>
              <a:t>Checkpoint &amp; scoring configuration</a:t>
            </a:r>
            <a:endParaRPr sz="860"/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E684C50D-3943-4B60-9E27-F4D8BF96E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" y="3127248"/>
            <a:ext cx="54864" cy="548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6A"/>
          </a:solidFill>
          <a:ln xmlns:a="http://schemas.openxmlformats.org/drawingml/2006/main" w="12700">
            <a:solidFill>
              <a:srgbClr val="2F6F6A"/>
            </a:solidFill>
            <a:prstDash val="solid"/>
          </a:ln>
        </p:spPr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F6D01273-7BA4-4EE8-B54A-186CAEED0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3044952"/>
            <a:ext cx="187452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60">
                <a:solidFill>
                  <a:srgbClr val="1D2B36"/>
                </a:solidFill>
              </a:rPr>
              <a:t>Assessment methods / cycle rules</a:t>
            </a:r>
            <a:endParaRPr sz="860"/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D80AE206-5AFD-4F23-BF07-FAD640F15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6432" y="1645920"/>
            <a:ext cx="2487168" cy="18288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4EA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CBD4DA">
                <a:alpha val="14000"/>
              </a:srgbClr>
            </a:outerShdw>
          </a:effectLst>
        </p:spPr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A97AB2E2-D7CC-4BE9-8837-F8585162C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847088"/>
            <a:ext cx="1005840" cy="310896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D7FF9"/>
          </a:solidFill>
          <a:ln xmlns:a="http://schemas.openxmlformats.org/drawingml/2006/main" w="12700">
            <a:solidFill>
              <a:srgbClr val="2D7FF9"/>
            </a:solidFill>
            <a:prstDash val="solid"/>
          </a:ln>
        </p:spPr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9A1D2667-CED9-46C7-842C-58EF0F112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2464" y="1929384"/>
            <a:ext cx="896112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60" b="1">
                <a:solidFill>
                  <a:srgbClr val="FFFFFF"/>
                </a:solidFill>
              </a:rPr>
              <a:t>ASSESS</a:t>
            </a:r>
            <a:endParaRPr sz="760"/>
          </a:p>
        </p:txBody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3B1ED7FF-5136-4B95-9DA2-BF4E0E26B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5032" y="2331720"/>
            <a:ext cx="54864" cy="548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7FF9"/>
          </a:solidFill>
          <a:ln xmlns:a="http://schemas.openxmlformats.org/drawingml/2006/main" w="12700">
            <a:solidFill>
              <a:srgbClr val="2D7FF9"/>
            </a:solidFill>
            <a:prstDash val="solid"/>
          </a:ln>
        </p:spPr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63D1DA7E-4605-4407-B57F-C49410C12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2192" y="2249424"/>
            <a:ext cx="187452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60">
                <a:solidFill>
                  <a:srgbClr val="1D2B36"/>
                </a:solidFill>
              </a:rPr>
              <a:t>Digital forms + progress tracking</a:t>
            </a:r>
            <a:endParaRPr sz="860"/>
          </a:p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5C5B1512-BAA4-4D98-A0C7-016639D99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5032" y="2596896"/>
            <a:ext cx="54864" cy="548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7FF9"/>
          </a:solidFill>
          <a:ln xmlns:a="http://schemas.openxmlformats.org/drawingml/2006/main" w="12700">
            <a:solidFill>
              <a:srgbClr val="2D7FF9"/>
            </a:solidFill>
            <a:prstDash val="solid"/>
          </a:ln>
        </p:spPr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4A120C91-8263-427F-90B0-AA016AC64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2192" y="2514600"/>
            <a:ext cx="187452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60">
                <a:solidFill>
                  <a:srgbClr val="1D2B36"/>
                </a:solidFill>
              </a:rPr>
              <a:t>Pause / resume / multiple cycles</a:t>
            </a:r>
            <a:endParaRPr sz="860"/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AB9B8F6D-10AD-4F42-8D47-544F5BE9C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5032" y="2862072"/>
            <a:ext cx="54864" cy="548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7FF9"/>
          </a:solidFill>
          <a:ln xmlns:a="http://schemas.openxmlformats.org/drawingml/2006/main" w="12700">
            <a:solidFill>
              <a:srgbClr val="2D7FF9"/>
            </a:solidFill>
            <a:prstDash val="solid"/>
          </a:ln>
        </p:spPr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018CFB74-C350-4239-AECD-CD6F50E26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2192" y="2779776"/>
            <a:ext cx="187452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60">
                <a:solidFill>
                  <a:srgbClr val="1D2B36"/>
                </a:solidFill>
              </a:rPr>
              <a:t>Evidence and validation</a:t>
            </a:r>
            <a:endParaRPr sz="860"/>
          </a:p>
        </p:txBody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3BA078C2-9E48-44A8-9274-A0E6CB915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5032" y="3127248"/>
            <a:ext cx="54864" cy="548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7FF9"/>
          </a:solidFill>
          <a:ln xmlns:a="http://schemas.openxmlformats.org/drawingml/2006/main" w="12700">
            <a:solidFill>
              <a:srgbClr val="2D7FF9"/>
            </a:solidFill>
            <a:prstDash val="solid"/>
          </a:ln>
        </p:spPr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CF49840A-4364-4F0E-B095-E3AEBEF40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2192" y="3044952"/>
            <a:ext cx="187452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60">
                <a:solidFill>
                  <a:srgbClr val="1D2B36"/>
                </a:solidFill>
              </a:rPr>
              <a:t>Automated score calculation</a:t>
            </a:r>
            <a:endParaRPr sz="860"/>
          </a:p>
        </p:txBody>
      </p:sp>
      <p:sp>
        <p:nvSpPr>
          <p:cNvPr id="30" name="Shape 27">
            <a:extLst xmlns:a="http://schemas.openxmlformats.org/drawingml/2006/main">
              <a:ext uri="{FF2B5EF4-FFF2-40B4-BE49-F238E27FC236}">
                <a16:creationId xmlns:a16="http://schemas.microsoft.com/office/drawing/2014/main" id="{EC2D7B2C-017A-4680-B6E1-638C1FE3F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4496" y="1645920"/>
            <a:ext cx="2487168" cy="18288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4EA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CBD4DA">
                <a:alpha val="14000"/>
              </a:srgbClr>
            </a:outerShdw>
          </a:effectLst>
        </p:spPr>
      </p:sp>
      <p:sp>
        <p:nvSpPr>
          <p:cNvPr id="31" name="Shape 28">
            <a:extLst xmlns:a="http://schemas.openxmlformats.org/drawingml/2006/main">
              <a:ext uri="{FF2B5EF4-FFF2-40B4-BE49-F238E27FC236}">
                <a16:creationId xmlns:a16="http://schemas.microsoft.com/office/drawing/2014/main" id="{792C8018-DD25-4F6A-9C97-C33F56409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664" y="1847088"/>
            <a:ext cx="1005840" cy="310896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18A2A"/>
          </a:solidFill>
          <a:ln xmlns:a="http://schemas.openxmlformats.org/drawingml/2006/main" w="12700">
            <a:solidFill>
              <a:srgbClr val="F18A2A"/>
            </a:solidFill>
            <a:prstDash val="solid"/>
          </a:ln>
        </p:spPr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085CD7A9-3F61-4A8F-AB11-9C1C171F0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0528" y="1929384"/>
            <a:ext cx="896112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60" b="1">
                <a:solidFill>
                  <a:srgbClr val="FFFFFF"/>
                </a:solidFill>
              </a:rPr>
              <a:t>IMPROVE</a:t>
            </a:r>
            <a:endParaRPr sz="760"/>
          </a:p>
        </p:txBody>
      </p:sp>
      <p:sp>
        <p:nvSpPr>
          <p:cNvPr id="33" name="Shape 30">
            <a:extLst xmlns:a="http://schemas.openxmlformats.org/drawingml/2006/main">
              <a:ext uri="{FF2B5EF4-FFF2-40B4-BE49-F238E27FC236}">
                <a16:creationId xmlns:a16="http://schemas.microsoft.com/office/drawing/2014/main" id="{9826D105-0C4C-42D1-BF2D-FBB744A93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3096" y="2331720"/>
            <a:ext cx="54864" cy="548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8A2A"/>
          </a:solidFill>
          <a:ln xmlns:a="http://schemas.openxmlformats.org/drawingml/2006/main" w="12700">
            <a:solidFill>
              <a:srgbClr val="F18A2A"/>
            </a:solidFill>
            <a:prstDash val="solid"/>
          </a:ln>
        </p:spPr>
      </p:sp>
      <p:sp>
        <p:nvSpPr>
          <p:cNvPr id="34" name="Text 31">
            <a:extLst xmlns:a="http://schemas.openxmlformats.org/drawingml/2006/main">
              <a:ext uri="{FF2B5EF4-FFF2-40B4-BE49-F238E27FC236}">
                <a16:creationId xmlns:a16="http://schemas.microsoft.com/office/drawing/2014/main" id="{0B6BDCD5-C5FD-4096-8405-9CECFDF65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0256" y="2249424"/>
            <a:ext cx="187452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60">
                <a:solidFill>
                  <a:srgbClr val="1D2B36"/>
                </a:solidFill>
              </a:rPr>
              <a:t>Gap analysis</a:t>
            </a:r>
            <a:endParaRPr sz="860"/>
          </a:p>
        </p:txBody>
      </p:sp>
      <p:sp>
        <p:nvSpPr>
          <p:cNvPr id="35" name="Shape 32">
            <a:extLst xmlns:a="http://schemas.openxmlformats.org/drawingml/2006/main">
              <a:ext uri="{FF2B5EF4-FFF2-40B4-BE49-F238E27FC236}">
                <a16:creationId xmlns:a16="http://schemas.microsoft.com/office/drawing/2014/main" id="{8C700BDD-6A73-4679-B167-60EBCD8F5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3096" y="2596896"/>
            <a:ext cx="54864" cy="548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8A2A"/>
          </a:solidFill>
          <a:ln xmlns:a="http://schemas.openxmlformats.org/drawingml/2006/main" w="12700">
            <a:solidFill>
              <a:srgbClr val="F18A2A"/>
            </a:solidFill>
            <a:prstDash val="solid"/>
          </a:ln>
        </p:spPr>
      </p:sp>
      <p:sp>
        <p:nvSpPr>
          <p:cNvPr id="36" name="Text 33">
            <a:extLst xmlns:a="http://schemas.openxmlformats.org/drawingml/2006/main">
              <a:ext uri="{FF2B5EF4-FFF2-40B4-BE49-F238E27FC236}">
                <a16:creationId xmlns:a16="http://schemas.microsoft.com/office/drawing/2014/main" id="{1690C070-ACB4-4262-8A7B-314F7B0F9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0256" y="2514600"/>
            <a:ext cx="187452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60">
                <a:solidFill>
                  <a:srgbClr val="1D2B36"/>
                </a:solidFill>
              </a:rPr>
              <a:t>Action plan + responsibility</a:t>
            </a:r>
            <a:endParaRPr sz="860"/>
          </a:p>
        </p:txBody>
      </p:sp>
      <p:sp>
        <p:nvSpPr>
          <p:cNvPr id="37" name="Shape 34">
            <a:extLst xmlns:a="http://schemas.openxmlformats.org/drawingml/2006/main">
              <a:ext uri="{FF2B5EF4-FFF2-40B4-BE49-F238E27FC236}">
                <a16:creationId xmlns:a16="http://schemas.microsoft.com/office/drawing/2014/main" id="{208E0F18-C071-4580-8F5D-CD12B992F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3096" y="2862072"/>
            <a:ext cx="54864" cy="548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8A2A"/>
          </a:solidFill>
          <a:ln xmlns:a="http://schemas.openxmlformats.org/drawingml/2006/main" w="12700">
            <a:solidFill>
              <a:srgbClr val="F18A2A"/>
            </a:solidFill>
            <a:prstDash val="solid"/>
          </a:ln>
        </p:spPr>
      </p:sp>
      <p:sp>
        <p:nvSpPr>
          <p:cNvPr id="38" name="Text 35">
            <a:extLst xmlns:a="http://schemas.openxmlformats.org/drawingml/2006/main">
              <a:ext uri="{FF2B5EF4-FFF2-40B4-BE49-F238E27FC236}">
                <a16:creationId xmlns:a16="http://schemas.microsoft.com/office/drawing/2014/main" id="{68C0ACC1-78D7-46BA-B962-C15AB0459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0256" y="2779776"/>
            <a:ext cx="187452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60">
                <a:solidFill>
                  <a:srgbClr val="1D2B36"/>
                </a:solidFill>
              </a:rPr>
              <a:t>Target dates + closure evidence</a:t>
            </a:r>
            <a:endParaRPr sz="860"/>
          </a:p>
        </p:txBody>
      </p:sp>
      <p:sp>
        <p:nvSpPr>
          <p:cNvPr id="39" name="Shape 36">
            <a:extLst xmlns:a="http://schemas.openxmlformats.org/drawingml/2006/main">
              <a:ext uri="{FF2B5EF4-FFF2-40B4-BE49-F238E27FC236}">
                <a16:creationId xmlns:a16="http://schemas.microsoft.com/office/drawing/2014/main" id="{CDECA3F6-A687-441D-9B65-33DF15D8B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3096" y="3127248"/>
            <a:ext cx="54864" cy="548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8A2A"/>
          </a:solidFill>
          <a:ln xmlns:a="http://schemas.openxmlformats.org/drawingml/2006/main" w="12700">
            <a:solidFill>
              <a:srgbClr val="F18A2A"/>
            </a:solidFill>
            <a:prstDash val="solid"/>
          </a:ln>
        </p:spPr>
      </p:sp>
      <p:sp>
        <p:nvSpPr>
          <p:cNvPr id="40" name="Text 37">
            <a:extLst xmlns:a="http://schemas.openxmlformats.org/drawingml/2006/main">
              <a:ext uri="{FF2B5EF4-FFF2-40B4-BE49-F238E27FC236}">
                <a16:creationId xmlns:a16="http://schemas.microsoft.com/office/drawing/2014/main" id="{B0AF8224-8B41-45DF-A06B-E6D25539E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0256" y="3044952"/>
            <a:ext cx="187452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60">
                <a:solidFill>
                  <a:srgbClr val="1D2B36"/>
                </a:solidFill>
              </a:rPr>
              <a:t>Revised score + history</a:t>
            </a:r>
            <a:endParaRPr sz="860"/>
          </a:p>
        </p:txBody>
      </p:sp>
      <p:sp>
        <p:nvSpPr>
          <p:cNvPr id="41" name="Shape 38">
            <a:extLst xmlns:a="http://schemas.openxmlformats.org/drawingml/2006/main">
              <a:ext uri="{FF2B5EF4-FFF2-40B4-BE49-F238E27FC236}">
                <a16:creationId xmlns:a16="http://schemas.microsoft.com/office/drawing/2014/main" id="{E055840B-B380-46AC-9BCD-3FE29E04E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0" y="1645920"/>
            <a:ext cx="2487168" cy="18288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4EA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CBD4DA">
                <a:alpha val="14000"/>
              </a:srgbClr>
            </a:outerShdw>
          </a:effectLst>
        </p:spPr>
      </p:sp>
      <p:sp>
        <p:nvSpPr>
          <p:cNvPr id="42" name="Shape 39">
            <a:extLst xmlns:a="http://schemas.openxmlformats.org/drawingml/2006/main">
              <a:ext uri="{FF2B5EF4-FFF2-40B4-BE49-F238E27FC236}">
                <a16:creationId xmlns:a16="http://schemas.microsoft.com/office/drawing/2014/main" id="{42EAF9ED-302E-4DCB-BA46-67F2CC3AF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728" y="1847088"/>
            <a:ext cx="1005840" cy="310896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7B61FF"/>
          </a:solidFill>
          <a:ln xmlns:a="http://schemas.openxmlformats.org/drawingml/2006/main" w="12700">
            <a:solidFill>
              <a:srgbClr val="7B61FF"/>
            </a:solidFill>
            <a:prstDash val="solid"/>
          </a:ln>
        </p:spPr>
      </p:sp>
      <p:sp>
        <p:nvSpPr>
          <p:cNvPr id="43" name="Text 40">
            <a:extLst xmlns:a="http://schemas.openxmlformats.org/drawingml/2006/main">
              <a:ext uri="{FF2B5EF4-FFF2-40B4-BE49-F238E27FC236}">
                <a16:creationId xmlns:a16="http://schemas.microsoft.com/office/drawing/2014/main" id="{1A1538B8-0F70-44CA-9838-EF61DEC02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8592" y="1929384"/>
            <a:ext cx="896112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60" b="1">
                <a:solidFill>
                  <a:srgbClr val="FFFFFF"/>
                </a:solidFill>
              </a:rPr>
              <a:t>MONITOR</a:t>
            </a:r>
            <a:endParaRPr sz="760"/>
          </a:p>
        </p:txBody>
      </p:sp>
      <p:sp>
        <p:nvSpPr>
          <p:cNvPr id="44" name="Shape 41">
            <a:extLst xmlns:a="http://schemas.openxmlformats.org/drawingml/2006/main">
              <a:ext uri="{FF2B5EF4-FFF2-40B4-BE49-F238E27FC236}">
                <a16:creationId xmlns:a16="http://schemas.microsoft.com/office/drawing/2014/main" id="{A957E163-143D-44D8-9227-3A2F291B6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160" y="2331720"/>
            <a:ext cx="54864" cy="548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B61FF"/>
          </a:solidFill>
          <a:ln xmlns:a="http://schemas.openxmlformats.org/drawingml/2006/main" w="12700">
            <a:solidFill>
              <a:srgbClr val="7B61FF"/>
            </a:solidFill>
            <a:prstDash val="solid"/>
          </a:ln>
        </p:spPr>
      </p:sp>
      <p:sp>
        <p:nvSpPr>
          <p:cNvPr id="45" name="Text 42">
            <a:extLst xmlns:a="http://schemas.openxmlformats.org/drawingml/2006/main">
              <a:ext uri="{FF2B5EF4-FFF2-40B4-BE49-F238E27FC236}">
                <a16:creationId xmlns:a16="http://schemas.microsoft.com/office/drawing/2014/main" id="{B86713A0-DA7A-4E1C-B782-E550D1A7E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2249424"/>
            <a:ext cx="187452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60">
                <a:solidFill>
                  <a:srgbClr val="1D2B36"/>
                </a:solidFill>
              </a:rPr>
              <a:t>KPI / outcome indicators</a:t>
            </a:r>
            <a:endParaRPr sz="860"/>
          </a:p>
        </p:txBody>
      </p:sp>
      <p:sp>
        <p:nvSpPr>
          <p:cNvPr id="46" name="Shape 43">
            <a:extLst xmlns:a="http://schemas.openxmlformats.org/drawingml/2006/main">
              <a:ext uri="{FF2B5EF4-FFF2-40B4-BE49-F238E27FC236}">
                <a16:creationId xmlns:a16="http://schemas.microsoft.com/office/drawing/2014/main" id="{4E46ECDD-C498-4D35-AC69-05B4DDF13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160" y="2596896"/>
            <a:ext cx="54864" cy="548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B61FF"/>
          </a:solidFill>
          <a:ln xmlns:a="http://schemas.openxmlformats.org/drawingml/2006/main" w="12700">
            <a:solidFill>
              <a:srgbClr val="7B61FF"/>
            </a:solidFill>
            <a:prstDash val="solid"/>
          </a:ln>
        </p:spPr>
      </p:sp>
      <p:sp>
        <p:nvSpPr>
          <p:cNvPr id="47" name="Text 44">
            <a:extLst xmlns:a="http://schemas.openxmlformats.org/drawingml/2006/main">
              <a:ext uri="{FF2B5EF4-FFF2-40B4-BE49-F238E27FC236}">
                <a16:creationId xmlns:a16="http://schemas.microsoft.com/office/drawing/2014/main" id="{49C2C8FE-B27C-41E8-BFF3-3227E3067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2514600"/>
            <a:ext cx="187452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60">
                <a:solidFill>
                  <a:srgbClr val="1D2B36"/>
                </a:solidFill>
              </a:rPr>
              <a:t>Formula &amp; validation engine</a:t>
            </a:r>
            <a:endParaRPr sz="860"/>
          </a:p>
        </p:txBody>
      </p:sp>
      <p:sp>
        <p:nvSpPr>
          <p:cNvPr id="48" name="Shape 45">
            <a:extLst xmlns:a="http://schemas.openxmlformats.org/drawingml/2006/main">
              <a:ext uri="{FF2B5EF4-FFF2-40B4-BE49-F238E27FC236}">
                <a16:creationId xmlns:a16="http://schemas.microsoft.com/office/drawing/2014/main" id="{9C13589A-5A94-4814-B80C-803C36FE9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160" y="2862072"/>
            <a:ext cx="54864" cy="548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B61FF"/>
          </a:solidFill>
          <a:ln xmlns:a="http://schemas.openxmlformats.org/drawingml/2006/main" w="12700">
            <a:solidFill>
              <a:srgbClr val="7B61FF"/>
            </a:solidFill>
            <a:prstDash val="solid"/>
          </a:ln>
        </p:spPr>
      </p:sp>
      <p:sp>
        <p:nvSpPr>
          <p:cNvPr id="49" name="Text 46">
            <a:extLst xmlns:a="http://schemas.openxmlformats.org/drawingml/2006/main">
              <a:ext uri="{FF2B5EF4-FFF2-40B4-BE49-F238E27FC236}">
                <a16:creationId xmlns:a16="http://schemas.microsoft.com/office/drawing/2014/main" id="{D7B1EA7E-8827-4E56-B828-A0ADA6D7C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2779776"/>
            <a:ext cx="187452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60">
                <a:solidFill>
                  <a:srgbClr val="1D2B36"/>
                </a:solidFill>
              </a:rPr>
              <a:t>Trend analytics</a:t>
            </a:r>
            <a:endParaRPr sz="860"/>
          </a:p>
        </p:txBody>
      </p:sp>
      <p:sp>
        <p:nvSpPr>
          <p:cNvPr id="50" name="Shape 47">
            <a:extLst xmlns:a="http://schemas.openxmlformats.org/drawingml/2006/main">
              <a:ext uri="{FF2B5EF4-FFF2-40B4-BE49-F238E27FC236}">
                <a16:creationId xmlns:a16="http://schemas.microsoft.com/office/drawing/2014/main" id="{D5D6FDEB-9C0B-48F8-BBF2-A695FA6CC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160" y="3127248"/>
            <a:ext cx="54864" cy="548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B61FF"/>
          </a:solidFill>
          <a:ln xmlns:a="http://schemas.openxmlformats.org/drawingml/2006/main" w="12700">
            <a:solidFill>
              <a:srgbClr val="7B61FF"/>
            </a:solidFill>
            <a:prstDash val="solid"/>
          </a:ln>
        </p:spPr>
      </p:sp>
      <p:sp>
        <p:nvSpPr>
          <p:cNvPr id="51" name="Text 48">
            <a:extLst xmlns:a="http://schemas.openxmlformats.org/drawingml/2006/main">
              <a:ext uri="{FF2B5EF4-FFF2-40B4-BE49-F238E27FC236}">
                <a16:creationId xmlns:a16="http://schemas.microsoft.com/office/drawing/2014/main" id="{E0C02AB2-9875-4985-8B41-73CA32259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3044952"/>
            <a:ext cx="187452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60">
                <a:solidFill>
                  <a:srgbClr val="1D2B36"/>
                </a:solidFill>
              </a:rPr>
              <a:t>Baseline vs current</a:t>
            </a:r>
            <a:endParaRPr sz="860"/>
          </a:p>
        </p:txBody>
      </p:sp>
      <p:sp>
        <p:nvSpPr>
          <p:cNvPr id="52" name="Shape 49">
            <a:extLst xmlns:a="http://schemas.openxmlformats.org/drawingml/2006/main">
              <a:ext uri="{FF2B5EF4-FFF2-40B4-BE49-F238E27FC236}">
                <a16:creationId xmlns:a16="http://schemas.microsoft.com/office/drawing/2014/main" id="{E0242989-6CBE-4251-9F61-322C1542F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886200"/>
            <a:ext cx="2487168" cy="18288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4EA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CBD4DA">
                <a:alpha val="14000"/>
              </a:srgbClr>
            </a:outerShdw>
          </a:effectLst>
        </p:spPr>
      </p:sp>
      <p:sp>
        <p:nvSpPr>
          <p:cNvPr id="53" name="Shape 50">
            <a:extLst xmlns:a="http://schemas.openxmlformats.org/drawingml/2006/main">
              <a:ext uri="{FF2B5EF4-FFF2-40B4-BE49-F238E27FC236}">
                <a16:creationId xmlns:a16="http://schemas.microsoft.com/office/drawing/2014/main" id="{3CA25A3E-561F-4754-873C-2CB129732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4087368"/>
            <a:ext cx="1005840" cy="310896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CB67D"/>
          </a:solidFill>
          <a:ln xmlns:a="http://schemas.openxmlformats.org/drawingml/2006/main" w="12700">
            <a:solidFill>
              <a:srgbClr val="2CB67D"/>
            </a:solidFill>
            <a:prstDash val="solid"/>
          </a:ln>
        </p:spPr>
      </p:sp>
      <p:sp>
        <p:nvSpPr>
          <p:cNvPr id="54" name="Text 51">
            <a:extLst xmlns:a="http://schemas.openxmlformats.org/drawingml/2006/main">
              <a:ext uri="{FF2B5EF4-FFF2-40B4-BE49-F238E27FC236}">
                <a16:creationId xmlns:a16="http://schemas.microsoft.com/office/drawing/2014/main" id="{097A267D-571C-42DC-859B-FF243226A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69664"/>
            <a:ext cx="896112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60" b="1">
                <a:solidFill>
                  <a:srgbClr val="FFFFFF"/>
                </a:solidFill>
              </a:rPr>
              <a:t>GOVERN</a:t>
            </a:r>
            <a:endParaRPr sz="760"/>
          </a:p>
        </p:txBody>
      </p:sp>
      <p:sp>
        <p:nvSpPr>
          <p:cNvPr id="55" name="Shape 52">
            <a:extLst xmlns:a="http://schemas.openxmlformats.org/drawingml/2006/main">
              <a:ext uri="{FF2B5EF4-FFF2-40B4-BE49-F238E27FC236}">
                <a16:creationId xmlns:a16="http://schemas.microsoft.com/office/drawing/2014/main" id="{637F395F-F88B-4543-99F7-C5C0A341A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" y="4572000"/>
            <a:ext cx="54864" cy="548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B67D"/>
          </a:solidFill>
          <a:ln xmlns:a="http://schemas.openxmlformats.org/drawingml/2006/main" w="12700">
            <a:solidFill>
              <a:srgbClr val="2CB67D"/>
            </a:solidFill>
            <a:prstDash val="solid"/>
          </a:ln>
        </p:spPr>
      </p:sp>
      <p:sp>
        <p:nvSpPr>
          <p:cNvPr id="56" name="Text 53">
            <a:extLst xmlns:a="http://schemas.openxmlformats.org/drawingml/2006/main">
              <a:ext uri="{FF2B5EF4-FFF2-40B4-BE49-F238E27FC236}">
                <a16:creationId xmlns:a16="http://schemas.microsoft.com/office/drawing/2014/main" id="{F186C1AF-DB0F-4620-AF25-CFB6081B0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4489704"/>
            <a:ext cx="187452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60">
                <a:solidFill>
                  <a:srgbClr val="1D2B36"/>
                </a:solidFill>
              </a:rPr>
              <a:t>RBAC + hierarchy</a:t>
            </a:r>
            <a:endParaRPr sz="860"/>
          </a:p>
        </p:txBody>
      </p:sp>
      <p:sp>
        <p:nvSpPr>
          <p:cNvPr id="57" name="Shape 54">
            <a:extLst xmlns:a="http://schemas.openxmlformats.org/drawingml/2006/main">
              <a:ext uri="{FF2B5EF4-FFF2-40B4-BE49-F238E27FC236}">
                <a16:creationId xmlns:a16="http://schemas.microsoft.com/office/drawing/2014/main" id="{7B9FFED4-0990-4B01-9ED9-6CED94A30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" y="4837176"/>
            <a:ext cx="54864" cy="548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B67D"/>
          </a:solidFill>
          <a:ln xmlns:a="http://schemas.openxmlformats.org/drawingml/2006/main" w="12700">
            <a:solidFill>
              <a:srgbClr val="2CB67D"/>
            </a:solidFill>
            <a:prstDash val="solid"/>
          </a:ln>
        </p:spPr>
      </p:sp>
      <p:sp>
        <p:nvSpPr>
          <p:cNvPr id="58" name="Text 55">
            <a:extLst xmlns:a="http://schemas.openxmlformats.org/drawingml/2006/main">
              <a:ext uri="{FF2B5EF4-FFF2-40B4-BE49-F238E27FC236}">
                <a16:creationId xmlns:a16="http://schemas.microsoft.com/office/drawing/2014/main" id="{E9DAFE25-5E59-4108-86EE-2F22367F6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4754880"/>
            <a:ext cx="187452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60">
                <a:solidFill>
                  <a:srgbClr val="1D2B36"/>
                </a:solidFill>
              </a:rPr>
              <a:t>User / entity assignment</a:t>
            </a:r>
            <a:endParaRPr sz="860"/>
          </a:p>
        </p:txBody>
      </p:sp>
      <p:sp>
        <p:nvSpPr>
          <p:cNvPr id="59" name="Shape 56">
            <a:extLst xmlns:a="http://schemas.openxmlformats.org/drawingml/2006/main">
              <a:ext uri="{FF2B5EF4-FFF2-40B4-BE49-F238E27FC236}">
                <a16:creationId xmlns:a16="http://schemas.microsoft.com/office/drawing/2014/main" id="{FAEE75BE-5FBB-4997-8841-BD186C62C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" y="5102352"/>
            <a:ext cx="54864" cy="548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B67D"/>
          </a:solidFill>
          <a:ln xmlns:a="http://schemas.openxmlformats.org/drawingml/2006/main" w="12700">
            <a:solidFill>
              <a:srgbClr val="2CB67D"/>
            </a:solidFill>
            <a:prstDash val="solid"/>
          </a:ln>
        </p:spPr>
      </p:sp>
      <p:sp>
        <p:nvSpPr>
          <p:cNvPr id="60" name="Text 57">
            <a:extLst xmlns:a="http://schemas.openxmlformats.org/drawingml/2006/main">
              <a:ext uri="{FF2B5EF4-FFF2-40B4-BE49-F238E27FC236}">
                <a16:creationId xmlns:a16="http://schemas.microsoft.com/office/drawing/2014/main" id="{52E14694-297B-4B1E-A4A9-8EA81D34E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5020056"/>
            <a:ext cx="187452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60">
                <a:solidFill>
                  <a:srgbClr val="1D2B36"/>
                </a:solidFill>
              </a:rPr>
              <a:t>Certification tracking</a:t>
            </a:r>
            <a:endParaRPr sz="860"/>
          </a:p>
        </p:txBody>
      </p:sp>
      <p:sp>
        <p:nvSpPr>
          <p:cNvPr id="61" name="Shape 58">
            <a:extLst xmlns:a="http://schemas.openxmlformats.org/drawingml/2006/main">
              <a:ext uri="{FF2B5EF4-FFF2-40B4-BE49-F238E27FC236}">
                <a16:creationId xmlns:a16="http://schemas.microsoft.com/office/drawing/2014/main" id="{B59DA881-4530-4B8C-971F-30DB95CE3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" y="5367528"/>
            <a:ext cx="54864" cy="548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B67D"/>
          </a:solidFill>
          <a:ln xmlns:a="http://schemas.openxmlformats.org/drawingml/2006/main" w="12700">
            <a:solidFill>
              <a:srgbClr val="2CB67D"/>
            </a:solidFill>
            <a:prstDash val="solid"/>
          </a:ln>
        </p:spPr>
      </p:sp>
      <p:sp>
        <p:nvSpPr>
          <p:cNvPr id="62" name="Text 59">
            <a:extLst xmlns:a="http://schemas.openxmlformats.org/drawingml/2006/main">
              <a:ext uri="{FF2B5EF4-FFF2-40B4-BE49-F238E27FC236}">
                <a16:creationId xmlns:a16="http://schemas.microsoft.com/office/drawing/2014/main" id="{228BE9A6-D44B-46D2-80D8-481EB793D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5285232"/>
            <a:ext cx="187452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60">
                <a:solidFill>
                  <a:srgbClr val="1D2B36"/>
                </a:solidFill>
              </a:rPr>
              <a:t>Audit / access controls</a:t>
            </a:r>
            <a:endParaRPr sz="860"/>
          </a:p>
        </p:txBody>
      </p:sp>
      <p:sp>
        <p:nvSpPr>
          <p:cNvPr id="63" name="Shape 60">
            <a:extLst xmlns:a="http://schemas.openxmlformats.org/drawingml/2006/main">
              <a:ext uri="{FF2B5EF4-FFF2-40B4-BE49-F238E27FC236}">
                <a16:creationId xmlns:a16="http://schemas.microsoft.com/office/drawing/2014/main" id="{DD3DC6ED-D7F5-4976-9252-60DFB388E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6432" y="3886200"/>
            <a:ext cx="2487168" cy="18288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4EA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CBD4DA">
                <a:alpha val="14000"/>
              </a:srgbClr>
            </a:outerShdw>
          </a:effectLst>
        </p:spPr>
      </p:sp>
      <p:sp>
        <p:nvSpPr>
          <p:cNvPr id="64" name="Shape 61">
            <a:extLst xmlns:a="http://schemas.openxmlformats.org/drawingml/2006/main">
              <a:ext uri="{FF2B5EF4-FFF2-40B4-BE49-F238E27FC236}">
                <a16:creationId xmlns:a16="http://schemas.microsoft.com/office/drawing/2014/main" id="{A7CFA23B-F300-450C-983E-DB70E372A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087368"/>
            <a:ext cx="1005840" cy="310896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84A5F"/>
          </a:solidFill>
          <a:ln xmlns:a="http://schemas.openxmlformats.org/drawingml/2006/main" w="12700">
            <a:solidFill>
              <a:srgbClr val="E84A5F"/>
            </a:solidFill>
            <a:prstDash val="solid"/>
          </a:ln>
        </p:spPr>
      </p:sp>
      <p:sp>
        <p:nvSpPr>
          <p:cNvPr id="65" name="Text 62">
            <a:extLst xmlns:a="http://schemas.openxmlformats.org/drawingml/2006/main">
              <a:ext uri="{FF2B5EF4-FFF2-40B4-BE49-F238E27FC236}">
                <a16:creationId xmlns:a16="http://schemas.microsoft.com/office/drawing/2014/main" id="{7D1DF206-6F33-48DE-B0EE-85396338A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2464" y="4169664"/>
            <a:ext cx="896112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60" b="1">
                <a:solidFill>
                  <a:srgbClr val="FFFFFF"/>
                </a:solidFill>
              </a:rPr>
              <a:t>ANALYZE</a:t>
            </a:r>
            <a:endParaRPr sz="760"/>
          </a:p>
        </p:txBody>
      </p:sp>
      <p:sp>
        <p:nvSpPr>
          <p:cNvPr id="66" name="Shape 63">
            <a:extLst xmlns:a="http://schemas.openxmlformats.org/drawingml/2006/main">
              <a:ext uri="{FF2B5EF4-FFF2-40B4-BE49-F238E27FC236}">
                <a16:creationId xmlns:a16="http://schemas.microsoft.com/office/drawing/2014/main" id="{8DE1C264-6CF1-4919-A99A-160A00713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5032" y="4572000"/>
            <a:ext cx="54864" cy="548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4A5F"/>
          </a:solidFill>
          <a:ln xmlns:a="http://schemas.openxmlformats.org/drawingml/2006/main" w="12700">
            <a:solidFill>
              <a:srgbClr val="E84A5F"/>
            </a:solidFill>
            <a:prstDash val="solid"/>
          </a:ln>
        </p:spPr>
      </p:sp>
      <p:sp>
        <p:nvSpPr>
          <p:cNvPr id="67" name="Text 64">
            <a:extLst xmlns:a="http://schemas.openxmlformats.org/drawingml/2006/main">
              <a:ext uri="{FF2B5EF4-FFF2-40B4-BE49-F238E27FC236}">
                <a16:creationId xmlns:a16="http://schemas.microsoft.com/office/drawing/2014/main" id="{7B975650-B193-4BA4-BA60-5BCD4BEDA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2192" y="4489704"/>
            <a:ext cx="187452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60">
                <a:solidFill>
                  <a:srgbClr val="1D2B36"/>
                </a:solidFill>
              </a:rPr>
              <a:t>State / district / entity dashboards</a:t>
            </a:r>
            <a:endParaRPr sz="860"/>
          </a:p>
        </p:txBody>
      </p:sp>
      <p:sp>
        <p:nvSpPr>
          <p:cNvPr id="68" name="Shape 65">
            <a:extLst xmlns:a="http://schemas.openxmlformats.org/drawingml/2006/main">
              <a:ext uri="{FF2B5EF4-FFF2-40B4-BE49-F238E27FC236}">
                <a16:creationId xmlns:a16="http://schemas.microsoft.com/office/drawing/2014/main" id="{61DEC8A0-A8C3-4B0D-ABCD-9C284B632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5032" y="4837176"/>
            <a:ext cx="54864" cy="548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4A5F"/>
          </a:solidFill>
          <a:ln xmlns:a="http://schemas.openxmlformats.org/drawingml/2006/main" w="12700">
            <a:solidFill>
              <a:srgbClr val="E84A5F"/>
            </a:solidFill>
            <a:prstDash val="solid"/>
          </a:ln>
        </p:spPr>
      </p:sp>
      <p:sp>
        <p:nvSpPr>
          <p:cNvPr id="69" name="Text 66">
            <a:extLst xmlns:a="http://schemas.openxmlformats.org/drawingml/2006/main">
              <a:ext uri="{FF2B5EF4-FFF2-40B4-BE49-F238E27FC236}">
                <a16:creationId xmlns:a16="http://schemas.microsoft.com/office/drawing/2014/main" id="{52601BD5-262A-4A9E-A219-B305CD53C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2192" y="4754880"/>
            <a:ext cx="187452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60">
                <a:solidFill>
                  <a:srgbClr val="1D2B36"/>
                </a:solidFill>
              </a:rPr>
              <a:t>Drill-down &amp; completion status</a:t>
            </a:r>
            <a:endParaRPr sz="860"/>
          </a:p>
        </p:txBody>
      </p:sp>
      <p:sp>
        <p:nvSpPr>
          <p:cNvPr id="70" name="Shape 67">
            <a:extLst xmlns:a="http://schemas.openxmlformats.org/drawingml/2006/main">
              <a:ext uri="{FF2B5EF4-FFF2-40B4-BE49-F238E27FC236}">
                <a16:creationId xmlns:a16="http://schemas.microsoft.com/office/drawing/2014/main" id="{4CE23881-35C5-4F4A-BD09-28BED9F0D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5032" y="5102352"/>
            <a:ext cx="54864" cy="548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4A5F"/>
          </a:solidFill>
          <a:ln xmlns:a="http://schemas.openxmlformats.org/drawingml/2006/main" w="12700">
            <a:solidFill>
              <a:srgbClr val="E84A5F"/>
            </a:solidFill>
            <a:prstDash val="solid"/>
          </a:ln>
        </p:spPr>
      </p:sp>
      <p:sp>
        <p:nvSpPr>
          <p:cNvPr id="71" name="Text 68">
            <a:extLst xmlns:a="http://schemas.openxmlformats.org/drawingml/2006/main">
              <a:ext uri="{FF2B5EF4-FFF2-40B4-BE49-F238E27FC236}">
                <a16:creationId xmlns:a16="http://schemas.microsoft.com/office/drawing/2014/main" id="{F9541618-4D15-4075-BDE2-D8552667C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2192" y="5020056"/>
            <a:ext cx="187452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60">
                <a:solidFill>
                  <a:srgbClr val="1D2B36"/>
                </a:solidFill>
              </a:rPr>
              <a:t>Comparative analysis</a:t>
            </a:r>
            <a:endParaRPr sz="860"/>
          </a:p>
        </p:txBody>
      </p:sp>
      <p:sp>
        <p:nvSpPr>
          <p:cNvPr id="72" name="Shape 69">
            <a:extLst xmlns:a="http://schemas.openxmlformats.org/drawingml/2006/main">
              <a:ext uri="{FF2B5EF4-FFF2-40B4-BE49-F238E27FC236}">
                <a16:creationId xmlns:a16="http://schemas.microsoft.com/office/drawing/2014/main" id="{3427E393-055F-47E7-A6E0-592C31C48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5032" y="5367528"/>
            <a:ext cx="54864" cy="548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4A5F"/>
          </a:solidFill>
          <a:ln xmlns:a="http://schemas.openxmlformats.org/drawingml/2006/main" w="12700">
            <a:solidFill>
              <a:srgbClr val="E84A5F"/>
            </a:solidFill>
            <a:prstDash val="solid"/>
          </a:ln>
        </p:spPr>
      </p:sp>
      <p:sp>
        <p:nvSpPr>
          <p:cNvPr id="73" name="Text 70">
            <a:extLst xmlns:a="http://schemas.openxmlformats.org/drawingml/2006/main">
              <a:ext uri="{FF2B5EF4-FFF2-40B4-BE49-F238E27FC236}">
                <a16:creationId xmlns:a16="http://schemas.microsoft.com/office/drawing/2014/main" id="{DB03276F-B080-4B33-AC91-9C773D38C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2192" y="5285232"/>
            <a:ext cx="187452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60">
                <a:solidFill>
                  <a:srgbClr val="1D2B36"/>
                </a:solidFill>
              </a:rPr>
              <a:t>Excel / PDF exports</a:t>
            </a:r>
            <a:endParaRPr sz="860"/>
          </a:p>
        </p:txBody>
      </p:sp>
      <p:sp>
        <p:nvSpPr>
          <p:cNvPr id="74" name="Shape 71">
            <a:extLst xmlns:a="http://schemas.openxmlformats.org/drawingml/2006/main">
              <a:ext uri="{FF2B5EF4-FFF2-40B4-BE49-F238E27FC236}">
                <a16:creationId xmlns:a16="http://schemas.microsoft.com/office/drawing/2014/main" id="{B73E8203-F1AC-4DF4-B9A0-14DB0B92D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4496" y="3886200"/>
            <a:ext cx="2487168" cy="18288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4EA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CBD4DA">
                <a:alpha val="14000"/>
              </a:srgbClr>
            </a:outerShdw>
          </a:effectLst>
        </p:spPr>
      </p:sp>
      <p:sp>
        <p:nvSpPr>
          <p:cNvPr id="75" name="Shape 72">
            <a:extLst xmlns:a="http://schemas.openxmlformats.org/drawingml/2006/main">
              <a:ext uri="{FF2B5EF4-FFF2-40B4-BE49-F238E27FC236}">
                <a16:creationId xmlns:a16="http://schemas.microsoft.com/office/drawing/2014/main" id="{F496D7EA-9C8B-4B6E-B490-058FFF7E3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664" y="4087368"/>
            <a:ext cx="1005840" cy="310896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3C8B83"/>
          </a:solidFill>
          <a:ln xmlns:a="http://schemas.openxmlformats.org/drawingml/2006/main" w="12700">
            <a:solidFill>
              <a:srgbClr val="3C8B83"/>
            </a:solidFill>
            <a:prstDash val="solid"/>
          </a:ln>
        </p:spPr>
      </p:sp>
      <p:sp>
        <p:nvSpPr>
          <p:cNvPr id="76" name="Text 73">
            <a:extLst xmlns:a="http://schemas.openxmlformats.org/drawingml/2006/main">
              <a:ext uri="{FF2B5EF4-FFF2-40B4-BE49-F238E27FC236}">
                <a16:creationId xmlns:a16="http://schemas.microsoft.com/office/drawing/2014/main" id="{9545B1C0-F4C5-46BE-A8D9-D1C632347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0528" y="4169664"/>
            <a:ext cx="896112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60" b="1">
                <a:solidFill>
                  <a:srgbClr val="FFFFFF"/>
                </a:solidFill>
              </a:rPr>
              <a:t>ENABLE</a:t>
            </a:r>
            <a:endParaRPr sz="760"/>
          </a:p>
        </p:txBody>
      </p:sp>
      <p:sp>
        <p:nvSpPr>
          <p:cNvPr id="77" name="Shape 74">
            <a:extLst xmlns:a="http://schemas.openxmlformats.org/drawingml/2006/main">
              <a:ext uri="{FF2B5EF4-FFF2-40B4-BE49-F238E27FC236}">
                <a16:creationId xmlns:a16="http://schemas.microsoft.com/office/drawing/2014/main" id="{FF3A3CF9-FC79-4C3C-9059-514CD2EBA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3096" y="4572000"/>
            <a:ext cx="54864" cy="548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C8B83"/>
          </a:solidFill>
          <a:ln xmlns:a="http://schemas.openxmlformats.org/drawingml/2006/main" w="12700">
            <a:solidFill>
              <a:srgbClr val="3C8B83"/>
            </a:solidFill>
            <a:prstDash val="solid"/>
          </a:ln>
        </p:spPr>
      </p:sp>
      <p:sp>
        <p:nvSpPr>
          <p:cNvPr id="78" name="Text 75">
            <a:extLst xmlns:a="http://schemas.openxmlformats.org/drawingml/2006/main">
              <a:ext uri="{FF2B5EF4-FFF2-40B4-BE49-F238E27FC236}">
                <a16:creationId xmlns:a16="http://schemas.microsoft.com/office/drawing/2014/main" id="{5D40FAA2-9643-4336-8603-3E9512C08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0256" y="4489704"/>
            <a:ext cx="187452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60">
                <a:solidFill>
                  <a:srgbClr val="1D2B36"/>
                </a:solidFill>
              </a:rPr>
              <a:t>Resources / guidelines / videos</a:t>
            </a:r>
            <a:endParaRPr sz="860"/>
          </a:p>
        </p:txBody>
      </p:sp>
      <p:sp>
        <p:nvSpPr>
          <p:cNvPr id="79" name="Shape 76">
            <a:extLst xmlns:a="http://schemas.openxmlformats.org/drawingml/2006/main">
              <a:ext uri="{FF2B5EF4-FFF2-40B4-BE49-F238E27FC236}">
                <a16:creationId xmlns:a16="http://schemas.microsoft.com/office/drawing/2014/main" id="{189D5DA7-13A6-419D-B988-7DA091F1B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3096" y="4837176"/>
            <a:ext cx="54864" cy="548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C8B83"/>
          </a:solidFill>
          <a:ln xmlns:a="http://schemas.openxmlformats.org/drawingml/2006/main" w="12700">
            <a:solidFill>
              <a:srgbClr val="3C8B83"/>
            </a:solidFill>
            <a:prstDash val="solid"/>
          </a:ln>
        </p:spPr>
      </p:sp>
      <p:sp>
        <p:nvSpPr>
          <p:cNvPr id="80" name="Text 77">
            <a:extLst xmlns:a="http://schemas.openxmlformats.org/drawingml/2006/main">
              <a:ext uri="{FF2B5EF4-FFF2-40B4-BE49-F238E27FC236}">
                <a16:creationId xmlns:a16="http://schemas.microsoft.com/office/drawing/2014/main" id="{35114FF3-678B-4D54-91F8-C380CDB2F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0256" y="4754880"/>
            <a:ext cx="187452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60">
                <a:solidFill>
                  <a:srgbClr val="1D2B36"/>
                </a:solidFill>
              </a:rPr>
              <a:t>User feedback</a:t>
            </a:r>
            <a:endParaRPr sz="860"/>
          </a:p>
        </p:txBody>
      </p:sp>
      <p:sp>
        <p:nvSpPr>
          <p:cNvPr id="81" name="Shape 78">
            <a:extLst xmlns:a="http://schemas.openxmlformats.org/drawingml/2006/main">
              <a:ext uri="{FF2B5EF4-FFF2-40B4-BE49-F238E27FC236}">
                <a16:creationId xmlns:a16="http://schemas.microsoft.com/office/drawing/2014/main" id="{D69090DC-B2A7-4C65-88E7-63B9D0071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3096" y="5102352"/>
            <a:ext cx="54864" cy="548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C8B83"/>
          </a:solidFill>
          <a:ln xmlns:a="http://schemas.openxmlformats.org/drawingml/2006/main" w="12700">
            <a:solidFill>
              <a:srgbClr val="3C8B83"/>
            </a:solidFill>
            <a:prstDash val="solid"/>
          </a:ln>
        </p:spPr>
      </p:sp>
      <p:sp>
        <p:nvSpPr>
          <p:cNvPr id="82" name="Text 79">
            <a:extLst xmlns:a="http://schemas.openxmlformats.org/drawingml/2006/main">
              <a:ext uri="{FF2B5EF4-FFF2-40B4-BE49-F238E27FC236}">
                <a16:creationId xmlns:a16="http://schemas.microsoft.com/office/drawing/2014/main" id="{AF01BB0E-BF09-4214-813E-D4FD1C84D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0256" y="5020056"/>
            <a:ext cx="187452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60">
                <a:solidFill>
                  <a:srgbClr val="1D2B36"/>
                </a:solidFill>
              </a:rPr>
              <a:t>Admin-managed content</a:t>
            </a:r>
            <a:endParaRPr sz="860"/>
          </a:p>
        </p:txBody>
      </p:sp>
      <p:sp>
        <p:nvSpPr>
          <p:cNvPr id="83" name="Shape 80">
            <a:extLst xmlns:a="http://schemas.openxmlformats.org/drawingml/2006/main">
              <a:ext uri="{FF2B5EF4-FFF2-40B4-BE49-F238E27FC236}">
                <a16:creationId xmlns:a16="http://schemas.microsoft.com/office/drawing/2014/main" id="{29E423FB-1CD5-4E1E-B41E-AC5EEAE50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3096" y="5367528"/>
            <a:ext cx="54864" cy="548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C8B83"/>
          </a:solidFill>
          <a:ln xmlns:a="http://schemas.openxmlformats.org/drawingml/2006/main" w="12700">
            <a:solidFill>
              <a:srgbClr val="3C8B83"/>
            </a:solidFill>
            <a:prstDash val="solid"/>
          </a:ln>
        </p:spPr>
      </p:sp>
      <p:sp>
        <p:nvSpPr>
          <p:cNvPr id="84" name="Text 81">
            <a:extLst xmlns:a="http://schemas.openxmlformats.org/drawingml/2006/main">
              <a:ext uri="{FF2B5EF4-FFF2-40B4-BE49-F238E27FC236}">
                <a16:creationId xmlns:a16="http://schemas.microsoft.com/office/drawing/2014/main" id="{7055ABCF-E975-43F4-A1F3-B31633468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0256" y="5285232"/>
            <a:ext cx="187452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60">
                <a:solidFill>
                  <a:srgbClr val="1D2B36"/>
                </a:solidFill>
              </a:rPr>
              <a:t>Low-bandwidth aware UX</a:t>
            </a:r>
            <a:endParaRPr sz="860"/>
          </a:p>
        </p:txBody>
      </p:sp>
      <p:sp>
        <p:nvSpPr>
          <p:cNvPr id="85" name="Shape 82">
            <a:extLst xmlns:a="http://schemas.openxmlformats.org/drawingml/2006/main">
              <a:ext uri="{FF2B5EF4-FFF2-40B4-BE49-F238E27FC236}">
                <a16:creationId xmlns:a16="http://schemas.microsoft.com/office/drawing/2014/main" id="{F3D2F669-15A5-4E22-9A71-F0BD36B7A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0" y="3886200"/>
            <a:ext cx="2487168" cy="18288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4EA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CBD4DA">
                <a:alpha val="14000"/>
              </a:srgbClr>
            </a:outerShdw>
          </a:effectLst>
        </p:spPr>
      </p:sp>
      <p:sp>
        <p:nvSpPr>
          <p:cNvPr id="86" name="Shape 83">
            <a:extLst xmlns:a="http://schemas.openxmlformats.org/drawingml/2006/main">
              <a:ext uri="{FF2B5EF4-FFF2-40B4-BE49-F238E27FC236}">
                <a16:creationId xmlns:a16="http://schemas.microsoft.com/office/drawing/2014/main" id="{9B83399D-A2A8-43CF-97DA-D55BA2CC5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728" y="4087368"/>
            <a:ext cx="1005840" cy="310896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6324F"/>
          </a:solidFill>
          <a:ln xmlns:a="http://schemas.openxmlformats.org/drawingml/2006/main" w="12700">
            <a:solidFill>
              <a:srgbClr val="16324F"/>
            </a:solidFill>
            <a:prstDash val="solid"/>
          </a:ln>
        </p:spPr>
      </p:sp>
      <p:sp>
        <p:nvSpPr>
          <p:cNvPr id="87" name="Text 84">
            <a:extLst xmlns:a="http://schemas.openxmlformats.org/drawingml/2006/main">
              <a:ext uri="{FF2B5EF4-FFF2-40B4-BE49-F238E27FC236}">
                <a16:creationId xmlns:a16="http://schemas.microsoft.com/office/drawing/2014/main" id="{401554BE-9B9B-46BF-864C-07E46AE8C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8592" y="4169664"/>
            <a:ext cx="896112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60" b="1">
                <a:solidFill>
                  <a:srgbClr val="FFFFFF"/>
                </a:solidFill>
              </a:rPr>
              <a:t>INTEGRATE</a:t>
            </a:r>
            <a:endParaRPr sz="760"/>
          </a:p>
        </p:txBody>
      </p:sp>
      <p:sp>
        <p:nvSpPr>
          <p:cNvPr id="88" name="Shape 85">
            <a:extLst xmlns:a="http://schemas.openxmlformats.org/drawingml/2006/main">
              <a:ext uri="{FF2B5EF4-FFF2-40B4-BE49-F238E27FC236}">
                <a16:creationId xmlns:a16="http://schemas.microsoft.com/office/drawing/2014/main" id="{C8842A68-3390-4A67-8598-5A5B190C8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160" y="4572000"/>
            <a:ext cx="54864" cy="548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12700">
            <a:solidFill>
              <a:srgbClr val="16324F"/>
            </a:solidFill>
            <a:prstDash val="solid"/>
          </a:ln>
        </p:spPr>
      </p:sp>
      <p:sp>
        <p:nvSpPr>
          <p:cNvPr id="89" name="Text 86">
            <a:extLst xmlns:a="http://schemas.openxmlformats.org/drawingml/2006/main">
              <a:ext uri="{FF2B5EF4-FFF2-40B4-BE49-F238E27FC236}">
                <a16:creationId xmlns:a16="http://schemas.microsoft.com/office/drawing/2014/main" id="{7F21D224-7E19-4659-821B-643015207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4489704"/>
            <a:ext cx="187452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60">
                <a:solidFill>
                  <a:srgbClr val="1D2B36"/>
                </a:solidFill>
              </a:rPr>
              <a:t>API-first services</a:t>
            </a:r>
            <a:endParaRPr sz="860"/>
          </a:p>
        </p:txBody>
      </p:sp>
      <p:sp>
        <p:nvSpPr>
          <p:cNvPr id="90" name="Shape 87">
            <a:extLst xmlns:a="http://schemas.openxmlformats.org/drawingml/2006/main">
              <a:ext uri="{FF2B5EF4-FFF2-40B4-BE49-F238E27FC236}">
                <a16:creationId xmlns:a16="http://schemas.microsoft.com/office/drawing/2014/main" id="{81F28FB5-AB65-46BD-B3D6-CC4EB0B7C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160" y="4837176"/>
            <a:ext cx="54864" cy="548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12700">
            <a:solidFill>
              <a:srgbClr val="16324F"/>
            </a:solidFill>
            <a:prstDash val="solid"/>
          </a:ln>
        </p:spPr>
      </p:sp>
      <p:sp>
        <p:nvSpPr>
          <p:cNvPr id="91" name="Text 88">
            <a:extLst xmlns:a="http://schemas.openxmlformats.org/drawingml/2006/main">
              <a:ext uri="{FF2B5EF4-FFF2-40B4-BE49-F238E27FC236}">
                <a16:creationId xmlns:a16="http://schemas.microsoft.com/office/drawing/2014/main" id="{BEC2AB5D-C312-4609-8114-8DE65F98B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4754880"/>
            <a:ext cx="187452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60">
                <a:solidFill>
                  <a:srgbClr val="1D2B36"/>
                </a:solidFill>
              </a:rPr>
              <a:t>JSON configuration</a:t>
            </a:r>
            <a:endParaRPr sz="860"/>
          </a:p>
        </p:txBody>
      </p:sp>
      <p:sp>
        <p:nvSpPr>
          <p:cNvPr id="92" name="Shape 89">
            <a:extLst xmlns:a="http://schemas.openxmlformats.org/drawingml/2006/main">
              <a:ext uri="{FF2B5EF4-FFF2-40B4-BE49-F238E27FC236}">
                <a16:creationId xmlns:a16="http://schemas.microsoft.com/office/drawing/2014/main" id="{6F3CDDFB-7CA2-498B-B4DA-26AC4A861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160" y="5102352"/>
            <a:ext cx="54864" cy="548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12700">
            <a:solidFill>
              <a:srgbClr val="16324F"/>
            </a:solidFill>
            <a:prstDash val="solid"/>
          </a:ln>
        </p:spPr>
      </p:sp>
      <p:sp>
        <p:nvSpPr>
          <p:cNvPr id="93" name="Text 90">
            <a:extLst xmlns:a="http://schemas.openxmlformats.org/drawingml/2006/main">
              <a:ext uri="{FF2B5EF4-FFF2-40B4-BE49-F238E27FC236}">
                <a16:creationId xmlns:a16="http://schemas.microsoft.com/office/drawing/2014/main" id="{3BC518AB-6119-4A20-946B-65A3E9D2F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5020056"/>
            <a:ext cx="187452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60">
                <a:solidFill>
                  <a:srgbClr val="1D2B36"/>
                </a:solidFill>
              </a:rPr>
              <a:t>External data exchange</a:t>
            </a:r>
            <a:endParaRPr sz="860"/>
          </a:p>
        </p:txBody>
      </p:sp>
      <p:sp>
        <p:nvSpPr>
          <p:cNvPr id="94" name="Shape 91">
            <a:extLst xmlns:a="http://schemas.openxmlformats.org/drawingml/2006/main">
              <a:ext uri="{FF2B5EF4-FFF2-40B4-BE49-F238E27FC236}">
                <a16:creationId xmlns:a16="http://schemas.microsoft.com/office/drawing/2014/main" id="{2702C6FD-4A23-4104-99AF-443B3F6A1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160" y="5367528"/>
            <a:ext cx="54864" cy="548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12700">
            <a:solidFill>
              <a:srgbClr val="16324F"/>
            </a:solidFill>
            <a:prstDash val="solid"/>
          </a:ln>
        </p:spPr>
      </p:sp>
      <p:sp>
        <p:nvSpPr>
          <p:cNvPr id="95" name="Text 92">
            <a:extLst xmlns:a="http://schemas.openxmlformats.org/drawingml/2006/main">
              <a:ext uri="{FF2B5EF4-FFF2-40B4-BE49-F238E27FC236}">
                <a16:creationId xmlns:a16="http://schemas.microsoft.com/office/drawing/2014/main" id="{AC1246CF-17BC-4F93-9EFD-BD10138AB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5285232"/>
            <a:ext cx="187452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60">
                <a:solidFill>
                  <a:srgbClr val="1D2B36"/>
                </a:solidFill>
              </a:rPr>
              <a:t>Portable deployment</a:t>
            </a:r>
            <a:endParaRPr sz="860"/>
          </a:p>
        </p:txBody>
      </p:sp>
      <p:sp>
        <p:nvSpPr>
          <p:cNvPr id="97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992A25E7-175F-44AE-AA50-2743896CFFA9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292840" y="6574536"/>
            <a:ext cx="347472" cy="1645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8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92135536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C931628A-4855-4CB6-91CE-239FD634C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10312"/>
            <a:ext cx="1737360" cy="27432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18A2A"/>
          </a:solidFill>
          <a:ln xmlns:a="http://schemas.openxmlformats.org/drawingml/2006/main" w="12700">
            <a:solidFill>
              <a:srgbClr val="F18A2A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A62B5EC-0A52-4B3F-BB42-B6344E021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51460"/>
            <a:ext cx="1591056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60" b="1" spc="80">
                <a:solidFill>
                  <a:srgbClr val="FFFFFF"/>
                </a:solidFill>
              </a:rPr>
              <a:t>OPEN SOURCE</a:t>
            </a:r>
            <a:endParaRPr sz="76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AA41B39D-7D82-45B1-AC4D-623ADC26F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11480"/>
            <a:ext cx="1088136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16324F"/>
                </a:solidFill>
                <a:latin typeface="Aptos Display"/>
                <a:ea typeface="Aptos Display"/>
                <a:cs typeface="Aptos Display"/>
              </a:rPr>
              <a:t>Open source by design — not simply “built with open-source tools”</a:t>
            </a:r>
            <a:endParaRPr sz="25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69D546FE-746D-42A5-B0F8-C953F5DFE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69264"/>
            <a:ext cx="7315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0">
            <a:solidFill>
              <a:srgbClr val="F18A2A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C210C02F-885C-492F-A9C7-99BC3E52E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060704"/>
            <a:ext cx="109728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5F7180"/>
                </a:solidFill>
              </a:rPr>
              <a:t>The strategic value is government / implementer ownership, configurability, portability and a contribution model that reduces lock-in.</a:t>
            </a:r>
            <a:endParaRPr sz="1150"/>
          </a:p>
        </p:txBody>
      </p:sp>
      <p:pic>
        <p:nvPicPr>
          <p:cNvPr id="5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183883ba174b0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329184"/>
            <a:ext cx="841248" cy="292608"/>
          </a:xfrm>
          <a:prstGeom xmlns:a="http://schemas.openxmlformats.org/drawingml/2006/main" prst="rect">
            <a:avLst/>
          </a:prstGeom>
        </p:spPr>
      </p:pic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A5C3AAC8-EF35-4BCE-8738-E4571E131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5648"/>
            <a:ext cx="3383280" cy="1691640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EAF5F3"/>
          </a:solidFill>
          <a:ln xmlns:a="http://schemas.openxmlformats.org/drawingml/2006/main" w="12700">
            <a:solidFill>
              <a:srgbClr val="EAF5F3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CBD4DA">
                <a:alpha val="14000"/>
              </a:srgbClr>
            </a:outerShdw>
          </a:effectLst>
        </p:spPr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BA3D5152-42DB-4AC6-BCA6-AEC746F0C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84248"/>
            <a:ext cx="493776" cy="49377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/>
            </a:solidFill>
            <a:prstDash val="solid"/>
          </a:ln>
        </p:spPr>
      </p:sp>
      <p:pic>
        <p:nvPicPr>
          <p:cNvPr id="5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fcc4187c214ef4">
            <a:extLst>
              <a:ext uri="{96DAC541-7B7A-43D3-8B79-37D633B846F1}">
                <asvg:svgBlip xmlns:asvg="http://schemas.microsoft.com/office/drawing/2016/SVG/main" r:embed="R72b700c4ade644b3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10412" y="2080260"/>
            <a:ext cx="301752" cy="301752"/>
          </a:xfrm>
          <a:prstGeom xmlns:a="http://schemas.openxmlformats.org/drawingml/2006/main" prst="rect">
            <a:avLst/>
          </a:prstGeom>
        </p:spPr>
      </p:pic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D54EB4C9-0C63-4C64-9343-40E575B4B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1956816"/>
            <a:ext cx="214884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10" b="1">
                <a:solidFill>
                  <a:srgbClr val="16324F"/>
                </a:solidFill>
              </a:rPr>
              <a:t>Open codebase</a:t>
            </a:r>
            <a:endParaRPr sz="1310"/>
          </a:p>
        </p:txBody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587A8C76-24F1-4168-9DE7-87B7C9168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60320"/>
            <a:ext cx="283464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80">
                <a:solidFill>
                  <a:srgbClr val="1D2B36"/>
                </a:solidFill>
              </a:rPr>
              <a:t>Auditable, reviewable and extensible source structure.</a:t>
            </a:r>
            <a:endParaRPr sz="980"/>
          </a:p>
        </p:txBody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E783403C-C8E4-4CA7-A231-102F05A74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1755648"/>
            <a:ext cx="3383280" cy="1691640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2700">
            <a:solidFill>
              <a:srgbClr val="EAF2FF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CBD4DA">
                <a:alpha val="14000"/>
              </a:srgbClr>
            </a:outerShdw>
          </a:effectLst>
        </p:spPr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7ED7CD6B-D3E0-48CC-BFC7-FB05D6EEF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304" y="1984248"/>
            <a:ext cx="493776" cy="49377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/>
            </a:solidFill>
            <a:prstDash val="solid"/>
          </a:ln>
        </p:spPr>
      </p:sp>
      <p:pic>
        <p:nvPicPr>
          <p:cNvPr id="60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93b12bc4be4f71">
            <a:extLst>
              <a:ext uri="{96DAC541-7B7A-43D3-8B79-37D633B846F1}">
                <asvg:svgBlip xmlns:asvg="http://schemas.microsoft.com/office/drawing/2016/SVG/main" r:embed="R3dcc0d4829214099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14316" y="2080260"/>
            <a:ext cx="301752" cy="301752"/>
          </a:xfrm>
          <a:prstGeom xmlns:a="http://schemas.openxmlformats.org/drawingml/2006/main" prst="rect">
            <a:avLst/>
          </a:prstGeom>
        </p:spPr>
      </p:pic>
      <p:sp>
        <p:nvSpPr>
          <p:cNvPr id="16" name="Text 11">
            <a:extLst xmlns:a="http://schemas.openxmlformats.org/drawingml/2006/main">
              <a:ext uri="{FF2B5EF4-FFF2-40B4-BE49-F238E27FC236}">
                <a16:creationId xmlns:a16="http://schemas.microsoft.com/office/drawing/2014/main" id="{C3649F60-3DFE-47D8-AFF5-375B51E72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8384" y="1956816"/>
            <a:ext cx="214884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10" b="1">
                <a:solidFill>
                  <a:srgbClr val="16324F"/>
                </a:solidFill>
              </a:rPr>
              <a:t>Open configuration</a:t>
            </a:r>
            <a:endParaRPr sz="1310"/>
          </a:p>
        </p:txBody>
      </p:sp>
      <p:sp>
        <p:nvSpPr>
          <p:cNvPr id="17" name="Text 12">
            <a:extLst xmlns:a="http://schemas.openxmlformats.org/drawingml/2006/main">
              <a:ext uri="{FF2B5EF4-FFF2-40B4-BE49-F238E27FC236}">
                <a16:creationId xmlns:a16="http://schemas.microsoft.com/office/drawing/2014/main" id="{934E1AE7-04FB-48CC-AA68-FAE284955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304" y="2560320"/>
            <a:ext cx="283464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80">
                <a:solidFill>
                  <a:srgbClr val="1D2B36"/>
                </a:solidFill>
              </a:rPr>
              <a:t>Framework packs are data-driven (JSON), reducing custom code.</a:t>
            </a:r>
            <a:endParaRPr sz="980"/>
          </a:p>
        </p:txBody>
      </p:sp>
      <p:sp>
        <p:nvSpPr>
          <p:cNvPr id="18" name="Shape 13">
            <a:extLst xmlns:a="http://schemas.openxmlformats.org/drawingml/2006/main">
              <a:ext uri="{FF2B5EF4-FFF2-40B4-BE49-F238E27FC236}">
                <a16:creationId xmlns:a16="http://schemas.microsoft.com/office/drawing/2014/main" id="{D039374A-4F2C-47B5-8203-B6D9B8E30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608" y="1755648"/>
            <a:ext cx="3383280" cy="1691640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FF2E7"/>
          </a:solidFill>
          <a:ln xmlns:a="http://schemas.openxmlformats.org/drawingml/2006/main" w="12700">
            <a:solidFill>
              <a:srgbClr val="FFF2E7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CBD4DA">
                <a:alpha val="14000"/>
              </a:srgbClr>
            </a:outerShdw>
          </a:effectLst>
        </p:spPr>
      </p:sp>
      <p:sp>
        <p:nvSpPr>
          <p:cNvPr id="19" name="Shape 14">
            <a:extLst xmlns:a="http://schemas.openxmlformats.org/drawingml/2006/main">
              <a:ext uri="{FF2B5EF4-FFF2-40B4-BE49-F238E27FC236}">
                <a16:creationId xmlns:a16="http://schemas.microsoft.com/office/drawing/2014/main" id="{57A233B3-2697-4872-8C2B-5C225FD7A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2208" y="1984248"/>
            <a:ext cx="493776" cy="49377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/>
            </a:solidFill>
            <a:prstDash val="solid"/>
          </a:ln>
        </p:spPr>
      </p:sp>
      <p:pic>
        <p:nvPicPr>
          <p:cNvPr id="65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97fe3ae2ff4d00">
            <a:extLst>
              <a:ext uri="{96DAC541-7B7A-43D3-8B79-37D633B846F1}">
                <asvg:svgBlip xmlns:asvg="http://schemas.microsoft.com/office/drawing/2016/SVG/main" r:embed="Rdb4c4aa0ab37433e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18220" y="2080260"/>
            <a:ext cx="301752" cy="301752"/>
          </a:xfrm>
          <a:prstGeom xmlns:a="http://schemas.openxmlformats.org/drawingml/2006/main" prst="rect">
            <a:avLst/>
          </a:prstGeom>
        </p:spPr>
      </p:pic>
      <p:sp>
        <p:nvSpPr>
          <p:cNvPr id="21" name="Text 15">
            <a:extLst xmlns:a="http://schemas.openxmlformats.org/drawingml/2006/main">
              <a:ext uri="{FF2B5EF4-FFF2-40B4-BE49-F238E27FC236}">
                <a16:creationId xmlns:a16="http://schemas.microsoft.com/office/drawing/2014/main" id="{C87706E0-9E29-4648-BE97-75BE08ABD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2288" y="1956816"/>
            <a:ext cx="214884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10" b="1">
                <a:solidFill>
                  <a:srgbClr val="16324F"/>
                </a:solidFill>
              </a:rPr>
              <a:t>Open interfaces</a:t>
            </a:r>
            <a:endParaRPr sz="1310"/>
          </a:p>
        </p:txBody>
      </p:sp>
      <p:sp>
        <p:nvSpPr>
          <p:cNvPr id="22" name="Text 16">
            <a:extLst xmlns:a="http://schemas.openxmlformats.org/drawingml/2006/main">
              <a:ext uri="{FF2B5EF4-FFF2-40B4-BE49-F238E27FC236}">
                <a16:creationId xmlns:a16="http://schemas.microsoft.com/office/drawing/2014/main" id="{0ED661F1-5CA3-4104-903C-B7F839949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2208" y="2560320"/>
            <a:ext cx="283464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80">
                <a:solidFill>
                  <a:srgbClr val="1D2B36"/>
                </a:solidFill>
              </a:rPr>
              <a:t>API-first services allow integration with surrounding systems.</a:t>
            </a:r>
            <a:endParaRPr sz="980"/>
          </a:p>
        </p:txBody>
      </p:sp>
      <p:sp>
        <p:nvSpPr>
          <p:cNvPr id="23" name="Shape 17">
            <a:extLst xmlns:a="http://schemas.openxmlformats.org/drawingml/2006/main">
              <a:ext uri="{FF2B5EF4-FFF2-40B4-BE49-F238E27FC236}">
                <a16:creationId xmlns:a16="http://schemas.microsoft.com/office/drawing/2014/main" id="{5FA67760-3C4B-4359-B36C-6B27E71EA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3048"/>
            <a:ext cx="3383280" cy="1691640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2EEFF"/>
          </a:solidFill>
          <a:ln xmlns:a="http://schemas.openxmlformats.org/drawingml/2006/main" w="12700">
            <a:solidFill>
              <a:srgbClr val="F2EEFF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CBD4DA">
                <a:alpha val="14000"/>
              </a:srgbClr>
            </a:outerShdw>
          </a:effectLst>
        </p:spPr>
      </p:sp>
      <p:sp>
        <p:nvSpPr>
          <p:cNvPr id="24" name="Shape 18">
            <a:extLst xmlns:a="http://schemas.openxmlformats.org/drawingml/2006/main">
              <a:ext uri="{FF2B5EF4-FFF2-40B4-BE49-F238E27FC236}">
                <a16:creationId xmlns:a16="http://schemas.microsoft.com/office/drawing/2014/main" id="{2A4F324C-7327-4C3B-AE93-D81F3C7E0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41648"/>
            <a:ext cx="493776" cy="49377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/>
            </a:solidFill>
            <a:prstDash val="solid"/>
          </a:ln>
        </p:spPr>
      </p:sp>
      <p:pic>
        <p:nvPicPr>
          <p:cNvPr id="70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0dc5231e1742d8">
            <a:extLst>
              <a:ext uri="{96DAC541-7B7A-43D3-8B79-37D633B846F1}">
                <asvg:svgBlip xmlns:asvg="http://schemas.microsoft.com/office/drawing/2016/SVG/main" r:embed="R944b6ecc1ab442fe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10412" y="4137660"/>
            <a:ext cx="301752" cy="301752"/>
          </a:xfrm>
          <a:prstGeom xmlns:a="http://schemas.openxmlformats.org/drawingml/2006/main" prst="rect">
            <a:avLst/>
          </a:prstGeom>
        </p:spPr>
      </p:pic>
      <p:sp>
        <p:nvSpPr>
          <p:cNvPr id="26" name="Text 19">
            <a:extLst xmlns:a="http://schemas.openxmlformats.org/drawingml/2006/main">
              <a:ext uri="{FF2B5EF4-FFF2-40B4-BE49-F238E27FC236}">
                <a16:creationId xmlns:a16="http://schemas.microsoft.com/office/drawing/2014/main" id="{04B398AB-8ED4-461B-A592-3D8758CE1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4014216"/>
            <a:ext cx="214884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10" b="1">
                <a:solidFill>
                  <a:srgbClr val="16324F"/>
                </a:solidFill>
              </a:rPr>
              <a:t>Deployment freedom</a:t>
            </a:r>
            <a:endParaRPr sz="1310"/>
          </a:p>
        </p:txBody>
      </p:sp>
      <p:sp>
        <p:nvSpPr>
          <p:cNvPr id="27" name="Text 20">
            <a:extLst xmlns:a="http://schemas.openxmlformats.org/drawingml/2006/main">
              <a:ext uri="{FF2B5EF4-FFF2-40B4-BE49-F238E27FC236}">
                <a16:creationId xmlns:a16="http://schemas.microsoft.com/office/drawing/2014/main" id="{10141FE8-B19F-4C15-9019-7A1BC4361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17720"/>
            <a:ext cx="283464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80">
                <a:solidFill>
                  <a:srgbClr val="1D2B36"/>
                </a:solidFill>
              </a:rPr>
              <a:t>Run on government cloud, private cloud or on-prem environments.</a:t>
            </a:r>
            <a:endParaRPr sz="980"/>
          </a:p>
        </p:txBody>
      </p:sp>
      <p:sp>
        <p:nvSpPr>
          <p:cNvPr id="28" name="Shape 21">
            <a:extLst xmlns:a="http://schemas.openxmlformats.org/drawingml/2006/main">
              <a:ext uri="{FF2B5EF4-FFF2-40B4-BE49-F238E27FC236}">
                <a16:creationId xmlns:a16="http://schemas.microsoft.com/office/drawing/2014/main" id="{4AC98E1D-1F3A-4EDD-94C1-04E16A86B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3813048"/>
            <a:ext cx="3383280" cy="1691640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EAF8F2"/>
          </a:solidFill>
          <a:ln xmlns:a="http://schemas.openxmlformats.org/drawingml/2006/main" w="12700">
            <a:solidFill>
              <a:srgbClr val="EAF8F2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CBD4DA">
                <a:alpha val="14000"/>
              </a:srgbClr>
            </a:outerShdw>
          </a:effectLst>
        </p:spPr>
      </p:sp>
      <p:sp>
        <p:nvSpPr>
          <p:cNvPr id="29" name="Shape 22">
            <a:extLst xmlns:a="http://schemas.openxmlformats.org/drawingml/2006/main">
              <a:ext uri="{FF2B5EF4-FFF2-40B4-BE49-F238E27FC236}">
                <a16:creationId xmlns:a16="http://schemas.microsoft.com/office/drawing/2014/main" id="{D38DB262-D46D-44EF-A898-9AAA8E3EE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304" y="4041648"/>
            <a:ext cx="493776" cy="49377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/>
            </a:solidFill>
            <a:prstDash val="solid"/>
          </a:ln>
        </p:spPr>
      </p:sp>
      <p:pic>
        <p:nvPicPr>
          <p:cNvPr id="75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738768a24f4f01">
            <a:extLst>
              <a:ext uri="{96DAC541-7B7A-43D3-8B79-37D633B846F1}">
                <asvg:svgBlip xmlns:asvg="http://schemas.microsoft.com/office/drawing/2016/SVG/main" r:embed="R78a7e6cfb12746b0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14316" y="4137660"/>
            <a:ext cx="301752" cy="301752"/>
          </a:xfrm>
          <a:prstGeom xmlns:a="http://schemas.openxmlformats.org/drawingml/2006/main" prst="rect">
            <a:avLst/>
          </a:prstGeom>
        </p:spPr>
      </p:pic>
      <p:sp>
        <p:nvSpPr>
          <p:cNvPr id="31" name="Text 23">
            <a:extLst xmlns:a="http://schemas.openxmlformats.org/drawingml/2006/main">
              <a:ext uri="{FF2B5EF4-FFF2-40B4-BE49-F238E27FC236}">
                <a16:creationId xmlns:a16="http://schemas.microsoft.com/office/drawing/2014/main" id="{883A5F6A-64C4-46CE-84E5-C268DF3FA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8384" y="4014216"/>
            <a:ext cx="214884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10" b="1">
                <a:solidFill>
                  <a:srgbClr val="16324F"/>
                </a:solidFill>
              </a:rPr>
              <a:t>Reusable sector packs</a:t>
            </a:r>
            <a:endParaRPr sz="1310"/>
          </a:p>
        </p:txBody>
      </p:sp>
      <p:sp>
        <p:nvSpPr>
          <p:cNvPr id="32" name="Text 24">
            <a:extLst xmlns:a="http://schemas.openxmlformats.org/drawingml/2006/main">
              <a:ext uri="{FF2B5EF4-FFF2-40B4-BE49-F238E27FC236}">
                <a16:creationId xmlns:a16="http://schemas.microsoft.com/office/drawing/2014/main" id="{E5E4A8AC-0782-47FB-A98B-BC991D0E8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304" y="4617720"/>
            <a:ext cx="283464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80">
                <a:solidFill>
                  <a:srgbClr val="1D2B36"/>
                </a:solidFill>
              </a:rPr>
              <a:t>Health / education / future domains can share one core engine.</a:t>
            </a:r>
            <a:endParaRPr sz="980"/>
          </a:p>
        </p:txBody>
      </p:sp>
      <p:sp>
        <p:nvSpPr>
          <p:cNvPr id="33" name="Shape 25">
            <a:extLst xmlns:a="http://schemas.openxmlformats.org/drawingml/2006/main">
              <a:ext uri="{FF2B5EF4-FFF2-40B4-BE49-F238E27FC236}">
                <a16:creationId xmlns:a16="http://schemas.microsoft.com/office/drawing/2014/main" id="{2A4E8443-549E-46AB-910C-C1D3AD7BD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608" y="3813048"/>
            <a:ext cx="3383280" cy="1691640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DECEF"/>
          </a:solidFill>
          <a:ln xmlns:a="http://schemas.openxmlformats.org/drawingml/2006/main" w="12700">
            <a:solidFill>
              <a:srgbClr val="FDECEF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CBD4DA">
                <a:alpha val="14000"/>
              </a:srgbClr>
            </a:outerShdw>
          </a:effectLst>
        </p:spPr>
      </p:sp>
      <p:sp>
        <p:nvSpPr>
          <p:cNvPr id="34" name="Shape 26">
            <a:extLst xmlns:a="http://schemas.openxmlformats.org/drawingml/2006/main">
              <a:ext uri="{FF2B5EF4-FFF2-40B4-BE49-F238E27FC236}">
                <a16:creationId xmlns:a16="http://schemas.microsoft.com/office/drawing/2014/main" id="{6CCB04C9-0CBE-4150-9477-5D91B5D5C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2208" y="4041648"/>
            <a:ext cx="493776" cy="49377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/>
            </a:solidFill>
            <a:prstDash val="solid"/>
          </a:ln>
        </p:spPr>
      </p:sp>
      <p:pic>
        <p:nvPicPr>
          <p:cNvPr id="80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25e7f1271f401d">
            <a:extLst>
              <a:ext uri="{96DAC541-7B7A-43D3-8B79-37D633B846F1}">
                <asvg:svgBlip xmlns:asvg="http://schemas.microsoft.com/office/drawing/2016/SVG/main" r:embed="R398bbf3a2c78488a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18220" y="4137660"/>
            <a:ext cx="301752" cy="301752"/>
          </a:xfrm>
          <a:prstGeom xmlns:a="http://schemas.openxmlformats.org/drawingml/2006/main" prst="rect">
            <a:avLst/>
          </a:prstGeom>
        </p:spPr>
      </p:pic>
      <p:sp>
        <p:nvSpPr>
          <p:cNvPr id="36" name="Text 27">
            <a:extLst xmlns:a="http://schemas.openxmlformats.org/drawingml/2006/main">
              <a:ext uri="{FF2B5EF4-FFF2-40B4-BE49-F238E27FC236}">
                <a16:creationId xmlns:a16="http://schemas.microsoft.com/office/drawing/2014/main" id="{43B2F412-1C9A-493F-A995-8FEF0BC41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2288" y="4014216"/>
            <a:ext cx="214884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10" b="1">
                <a:solidFill>
                  <a:srgbClr val="16324F"/>
                </a:solidFill>
              </a:rPr>
              <a:t>Transparent improvement</a:t>
            </a:r>
            <a:endParaRPr sz="1310"/>
          </a:p>
        </p:txBody>
      </p:sp>
      <p:sp>
        <p:nvSpPr>
          <p:cNvPr id="37" name="Text 28">
            <a:extLst xmlns:a="http://schemas.openxmlformats.org/drawingml/2006/main">
              <a:ext uri="{FF2B5EF4-FFF2-40B4-BE49-F238E27FC236}">
                <a16:creationId xmlns:a16="http://schemas.microsoft.com/office/drawing/2014/main" id="{5670F387-A6DE-4818-9515-1376F0286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2208" y="4617720"/>
            <a:ext cx="283464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80">
                <a:solidFill>
                  <a:srgbClr val="1D2B36"/>
                </a:solidFill>
              </a:rPr>
              <a:t>Issues, releases, documentation and QA can follow an open contribution process.</a:t>
            </a:r>
            <a:endParaRPr sz="980"/>
          </a:p>
        </p:txBody>
      </p:sp>
      <p:sp>
        <p:nvSpPr>
          <p:cNvPr id="38" name="Shape 29">
            <a:extLst xmlns:a="http://schemas.openxmlformats.org/drawingml/2006/main">
              <a:ext uri="{FF2B5EF4-FFF2-40B4-BE49-F238E27FC236}">
                <a16:creationId xmlns:a16="http://schemas.microsoft.com/office/drawing/2014/main" id="{86D9B783-5442-4965-96DA-3C3EDEB3E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5815584"/>
            <a:ext cx="9509760" cy="438912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6324F"/>
          </a:solidFill>
          <a:ln xmlns:a="http://schemas.openxmlformats.org/drawingml/2006/main" w="12700">
            <a:solidFill>
              <a:srgbClr val="16324F"/>
            </a:solidFill>
            <a:prstDash val="solid"/>
          </a:ln>
        </p:spPr>
      </p:sp>
      <p:sp>
        <p:nvSpPr>
          <p:cNvPr id="39" name="Text 30">
            <a:extLst xmlns:a="http://schemas.openxmlformats.org/drawingml/2006/main">
              <a:ext uri="{FF2B5EF4-FFF2-40B4-BE49-F238E27FC236}">
                <a16:creationId xmlns:a16="http://schemas.microsoft.com/office/drawing/2014/main" id="{F61D8AE8-991B-42F5-B662-AA85A77D3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961888"/>
            <a:ext cx="8961120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80" b="1">
                <a:solidFill>
                  <a:srgbClr val="FFFFFF"/>
                </a:solidFill>
              </a:rPr>
              <a:t>OPEN SOURCE OUTCOME → Local ownership + faster adaptation + lower duplication + easier integration + ecosystem innovation</a:t>
            </a:r>
            <a:endParaRPr sz="98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B257B12F-E7BD-435B-AC74-29306C61A5FC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292840" y="6574536"/>
            <a:ext cx="347472" cy="1645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8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1078125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4D8A3619-A662-4FA1-9538-0D9AB5462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10312"/>
            <a:ext cx="2011680" cy="27432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2F6F6A"/>
          </a:solidFill>
          <a:ln xmlns:a="http://schemas.openxmlformats.org/drawingml/2006/main" w="12700">
            <a:solidFill>
              <a:srgbClr val="2F6F6A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9747E6D-BC50-41E0-A75C-C34F78A20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51460"/>
            <a:ext cx="1865376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60" b="1" spc="80">
                <a:solidFill>
                  <a:srgbClr val="FFFFFF"/>
                </a:solidFill>
              </a:rPr>
              <a:t>WHY OPEN</a:t>
            </a:r>
            <a:endParaRPr sz="76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BAB8BDDF-3E94-46E4-8341-CE45AEEE2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11480"/>
            <a:ext cx="1088136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16324F"/>
                </a:solidFill>
                <a:latin typeface="Aptos Display"/>
                <a:ea typeface="Aptos Display"/>
                <a:cs typeface="Aptos Display"/>
              </a:rPr>
              <a:t>Replace framework-by-framework software projects with a shared public quality platform</a:t>
            </a:r>
            <a:endParaRPr sz="25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CB1E2BCA-BB06-4185-91FE-759382E4E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69264"/>
            <a:ext cx="7315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0">
            <a:solidFill>
              <a:srgbClr val="F18A2A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21051E0-8944-40CD-B597-DF94E71E1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060704"/>
            <a:ext cx="109728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5F7180"/>
                </a:solidFill>
              </a:rPr>
              <a:t>The biggest cost is often not the first build — it is repeated customization, migrations and dependency over many programs.</a:t>
            </a:r>
            <a:endParaRPr sz="1150"/>
          </a:p>
        </p:txBody>
      </p:sp>
      <p:pic>
        <p:nvPicPr>
          <p:cNvPr id="6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002b1ce4474f8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329184"/>
            <a:ext cx="841248" cy="292608"/>
          </a:xfrm>
          <a:prstGeom xmlns:a="http://schemas.openxmlformats.org/drawingml/2006/main" prst="rect">
            <a:avLst/>
          </a:prstGeom>
        </p:spPr>
      </p:pic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9ECBE533-A254-440D-91DF-DCE74F920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1640"/>
            <a:ext cx="5166360" cy="4315968"/>
          </a:xfrm>
          <a:prstGeom xmlns:a="http://schemas.openxmlformats.org/drawingml/2006/main" prst="roundRect">
            <a:avLst>
              <a:gd name="adj" fmla="val 1695"/>
            </a:avLst>
          </a:prstGeom>
          <a:solidFill xmlns:a="http://schemas.openxmlformats.org/drawingml/2006/main">
            <a:srgbClr val="FFF4F5"/>
          </a:solidFill>
          <a:ln xmlns:a="http://schemas.openxmlformats.org/drawingml/2006/main" w="12700">
            <a:solidFill>
              <a:srgbClr val="F5CDD4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CBD4DA">
                <a:alpha val="14000"/>
              </a:srgbClr>
            </a:outerShdw>
          </a:effectLst>
        </p:spPr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DEDB79FD-50FA-41C2-B035-A75B1F107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648" y="1691640"/>
            <a:ext cx="5166360" cy="4315968"/>
          </a:xfrm>
          <a:prstGeom xmlns:a="http://schemas.openxmlformats.org/drawingml/2006/main" prst="roundRect">
            <a:avLst>
              <a:gd name="adj" fmla="val 1695"/>
            </a:avLst>
          </a:prstGeom>
          <a:solidFill xmlns:a="http://schemas.openxmlformats.org/drawingml/2006/main">
            <a:srgbClr val="EEF8F5"/>
          </a:solidFill>
          <a:ln xmlns:a="http://schemas.openxmlformats.org/drawingml/2006/main" w="12700">
            <a:solidFill>
              <a:srgbClr val="CFECE3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CBD4DA">
                <a:alpha val="14000"/>
              </a:srgbClr>
            </a:outerShdw>
          </a:effectLst>
        </p:spPr>
      </p:sp>
      <p:pic>
        <p:nvPicPr>
          <p:cNvPr id="6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b4f64672864a4e">
            <a:extLst>
              <a:ext uri="{96DAC541-7B7A-43D3-8B79-37D633B846F1}">
                <asvg:svgBlip xmlns:asvg="http://schemas.microsoft.com/office/drawing/2016/SVG/main" r:embed="R7ff1147a39b74291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87552" y="1975104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AA638BFA-4FBD-444A-ABB4-417FB2CFF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1956816"/>
            <a:ext cx="3474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E84A5F"/>
                </a:solidFill>
              </a:rPr>
              <a:t>Silo / closed implementation</a:t>
            </a:r>
            <a:endParaRPr sz="1700"/>
          </a:p>
        </p:txBody>
      </p:sp>
      <p:pic>
        <p:nvPicPr>
          <p:cNvPr id="65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2f62c6590a4c01">
            <a:extLst>
              <a:ext uri="{96DAC541-7B7A-43D3-8B79-37D633B846F1}">
                <asvg:svgBlip xmlns:asvg="http://schemas.microsoft.com/office/drawing/2016/SVG/main" r:embed="Rd5a79eef11694eed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29400" y="1975104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13" name="Text 8">
            <a:extLst xmlns:a="http://schemas.openxmlformats.org/drawingml/2006/main">
              <a:ext uri="{FF2B5EF4-FFF2-40B4-BE49-F238E27FC236}">
                <a16:creationId xmlns:a16="http://schemas.microsoft.com/office/drawing/2014/main" id="{EB01FDA4-B21E-42FA-81B9-E468B2CDB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6328" y="1956816"/>
            <a:ext cx="3657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2CB67D"/>
                </a:solidFill>
              </a:rPr>
              <a:t>SaQshi open platform approach</a:t>
            </a:r>
            <a:endParaRPr sz="1700"/>
          </a:p>
        </p:txBody>
      </p:sp>
      <p:pic>
        <p:nvPicPr>
          <p:cNvPr id="67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f79840ce844f25">
            <a:extLst>
              <a:ext uri="{96DAC541-7B7A-43D3-8B79-37D633B846F1}">
                <asvg:svgBlip xmlns:asvg="http://schemas.microsoft.com/office/drawing/2016/SVG/main" r:embed="Rcf313a7c615e4755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24128" y="2670048"/>
            <a:ext cx="164592" cy="164592"/>
          </a:xfrm>
          <a:prstGeom xmlns:a="http://schemas.openxmlformats.org/drawingml/2006/main" prst="rect">
            <a:avLst/>
          </a:prstGeom>
        </p:spPr>
      </p:pic>
      <p:sp>
        <p:nvSpPr>
          <p:cNvPr id="15" name="Text 9">
            <a:extLst xmlns:a="http://schemas.openxmlformats.org/drawingml/2006/main">
              <a:ext uri="{FF2B5EF4-FFF2-40B4-BE49-F238E27FC236}">
                <a16:creationId xmlns:a16="http://schemas.microsoft.com/office/drawing/2014/main" id="{AE7AFBAA-9687-4C6F-B4E0-045742359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2633472"/>
            <a:ext cx="39319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80">
                <a:solidFill>
                  <a:srgbClr val="1D2B36"/>
                </a:solidFill>
              </a:rPr>
              <a:t>New application for each framework</a:t>
            </a:r>
            <a:endParaRPr sz="1080"/>
          </a:p>
        </p:txBody>
      </p:sp>
      <p:pic>
        <p:nvPicPr>
          <p:cNvPr id="69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ea23914f3b42ae">
            <a:extLst>
              <a:ext uri="{96DAC541-7B7A-43D3-8B79-37D633B846F1}">
                <asvg:svgBlip xmlns:asvg="http://schemas.microsoft.com/office/drawing/2016/SVG/main" r:embed="Rdb571c3c0ece4c78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24128" y="3172968"/>
            <a:ext cx="164592" cy="164592"/>
          </a:xfrm>
          <a:prstGeom xmlns:a="http://schemas.openxmlformats.org/drawingml/2006/main" prst="rect">
            <a:avLst/>
          </a:prstGeom>
        </p:spPr>
      </p:pic>
      <p:sp>
        <p:nvSpPr>
          <p:cNvPr id="17" name="Text 10">
            <a:extLst xmlns:a="http://schemas.openxmlformats.org/drawingml/2006/main">
              <a:ext uri="{FF2B5EF4-FFF2-40B4-BE49-F238E27FC236}">
                <a16:creationId xmlns:a16="http://schemas.microsoft.com/office/drawing/2014/main" id="{4E93AB52-A54A-4959-8E6F-7CDB7747B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3136392"/>
            <a:ext cx="39319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80">
                <a:solidFill>
                  <a:srgbClr val="1D2B36"/>
                </a:solidFill>
              </a:rPr>
              <a:t>Hard-coded workflow and scoring</a:t>
            </a:r>
            <a:endParaRPr sz="1080"/>
          </a:p>
        </p:txBody>
      </p:sp>
      <p:pic>
        <p:nvPicPr>
          <p:cNvPr id="71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9d6b5a9e5f4514">
            <a:extLst>
              <a:ext uri="{96DAC541-7B7A-43D3-8B79-37D633B846F1}">
                <asvg:svgBlip xmlns:asvg="http://schemas.microsoft.com/office/drawing/2016/SVG/main" r:embed="Rc8d548fe034842d8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24128" y="3675888"/>
            <a:ext cx="164592" cy="164592"/>
          </a:xfrm>
          <a:prstGeom xmlns:a="http://schemas.openxmlformats.org/drawingml/2006/main" prst="rect">
            <a:avLst/>
          </a:prstGeom>
        </p:spPr>
      </p:pic>
      <p:sp>
        <p:nvSpPr>
          <p:cNvPr id="19" name="Text 11">
            <a:extLst xmlns:a="http://schemas.openxmlformats.org/drawingml/2006/main">
              <a:ext uri="{FF2B5EF4-FFF2-40B4-BE49-F238E27FC236}">
                <a16:creationId xmlns:a16="http://schemas.microsoft.com/office/drawing/2014/main" id="{C8818E26-4723-414E-9F1A-733112FD1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3639312"/>
            <a:ext cx="39319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80">
                <a:solidFill>
                  <a:srgbClr val="1D2B36"/>
                </a:solidFill>
              </a:rPr>
              <a:t>Custom reports for every geography</a:t>
            </a:r>
            <a:endParaRPr sz="1080"/>
          </a:p>
        </p:txBody>
      </p:sp>
      <p:pic>
        <p:nvPicPr>
          <p:cNvPr id="73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383b9d65134768">
            <a:extLst>
              <a:ext uri="{96DAC541-7B7A-43D3-8B79-37D633B846F1}">
                <asvg:svgBlip xmlns:asvg="http://schemas.microsoft.com/office/drawing/2016/SVG/main" r:embed="Rfd37f469da1942a8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24128" y="4178808"/>
            <a:ext cx="164592" cy="164592"/>
          </a:xfrm>
          <a:prstGeom xmlns:a="http://schemas.openxmlformats.org/drawingml/2006/main" prst="rect">
            <a:avLst/>
          </a:prstGeom>
        </p:spPr>
      </p:pic>
      <p:sp>
        <p:nvSpPr>
          <p:cNvPr id="21" name="Text 12">
            <a:extLst xmlns:a="http://schemas.openxmlformats.org/drawingml/2006/main">
              <a:ext uri="{FF2B5EF4-FFF2-40B4-BE49-F238E27FC236}">
                <a16:creationId xmlns:a16="http://schemas.microsoft.com/office/drawing/2014/main" id="{BAC45171-7B46-41F4-B13E-9130A8232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4142232"/>
            <a:ext cx="39319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80">
                <a:solidFill>
                  <a:srgbClr val="1D2B36"/>
                </a:solidFill>
              </a:rPr>
              <a:t>Vendor change becomes a migration project</a:t>
            </a:r>
            <a:endParaRPr sz="1080"/>
          </a:p>
        </p:txBody>
      </p:sp>
      <p:pic>
        <p:nvPicPr>
          <p:cNvPr id="75" name="Imag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61efe5ea4947a9">
            <a:extLst>
              <a:ext uri="{96DAC541-7B7A-43D3-8B79-37D633B846F1}">
                <asvg:svgBlip xmlns:asvg="http://schemas.microsoft.com/office/drawing/2016/SVG/main" r:embed="R8e01318cf2454249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24128" y="4681728"/>
            <a:ext cx="164592" cy="164592"/>
          </a:xfrm>
          <a:prstGeom xmlns:a="http://schemas.openxmlformats.org/drawingml/2006/main" prst="rect">
            <a:avLst/>
          </a:prstGeom>
        </p:spPr>
      </p:pic>
      <p:sp>
        <p:nvSpPr>
          <p:cNvPr id="23" name="Text 13">
            <a:extLst xmlns:a="http://schemas.openxmlformats.org/drawingml/2006/main">
              <a:ext uri="{FF2B5EF4-FFF2-40B4-BE49-F238E27FC236}">
                <a16:creationId xmlns:a16="http://schemas.microsoft.com/office/drawing/2014/main" id="{2DB680BB-3F46-4B2F-B3BC-2CA3BA418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4645152"/>
            <a:ext cx="39319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80">
                <a:solidFill>
                  <a:srgbClr val="1D2B36"/>
                </a:solidFill>
              </a:rPr>
              <a:t>Integration added after deployment</a:t>
            </a:r>
            <a:endParaRPr sz="1080"/>
          </a:p>
        </p:txBody>
      </p:sp>
      <p:pic>
        <p:nvPicPr>
          <p:cNvPr id="77" name="Imag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32843e65c34ffd">
            <a:extLst>
              <a:ext uri="{96DAC541-7B7A-43D3-8B79-37D633B846F1}">
                <asvg:svgBlip xmlns:asvg="http://schemas.microsoft.com/office/drawing/2016/SVG/main" r:embed="Rcc5e60543bf34bb9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24128" y="5184648"/>
            <a:ext cx="164592" cy="164592"/>
          </a:xfrm>
          <a:prstGeom xmlns:a="http://schemas.openxmlformats.org/drawingml/2006/main" prst="rect">
            <a:avLst/>
          </a:prstGeom>
        </p:spPr>
      </p:pic>
      <p:sp>
        <p:nvSpPr>
          <p:cNvPr id="25" name="Text 14">
            <a:extLst xmlns:a="http://schemas.openxmlformats.org/drawingml/2006/main">
              <a:ext uri="{FF2B5EF4-FFF2-40B4-BE49-F238E27FC236}">
                <a16:creationId xmlns:a16="http://schemas.microsoft.com/office/drawing/2014/main" id="{1BFF9A97-2BFA-49B6-8F26-B4179E987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5148072"/>
            <a:ext cx="39319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80">
                <a:solidFill>
                  <a:srgbClr val="1D2B36"/>
                </a:solidFill>
              </a:rPr>
              <a:t>Knowledge remains with implementation team</a:t>
            </a:r>
            <a:endParaRPr sz="1080"/>
          </a:p>
        </p:txBody>
      </p:sp>
      <p:pic>
        <p:nvPicPr>
          <p:cNvPr id="79" name="Imag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13cfc25fb84556">
            <a:extLst>
              <a:ext uri="{96DAC541-7B7A-43D3-8B79-37D633B846F1}">
                <asvg:svgBlip xmlns:asvg="http://schemas.microsoft.com/office/drawing/2016/SVG/main" r:embed="R543d4a8a299e4eb6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75120" y="2670048"/>
            <a:ext cx="164592" cy="164592"/>
          </a:xfrm>
          <a:prstGeom xmlns:a="http://schemas.openxmlformats.org/drawingml/2006/main" prst="rect">
            <a:avLst/>
          </a:prstGeom>
        </p:spPr>
      </p:pic>
      <p:sp>
        <p:nvSpPr>
          <p:cNvPr id="27" name="Text 15">
            <a:extLst xmlns:a="http://schemas.openxmlformats.org/drawingml/2006/main">
              <a:ext uri="{FF2B5EF4-FFF2-40B4-BE49-F238E27FC236}">
                <a16:creationId xmlns:a16="http://schemas.microsoft.com/office/drawing/2014/main" id="{8356062B-80AF-40A2-A4F2-319BA2B97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4304" y="2633472"/>
            <a:ext cx="3977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80">
                <a:solidFill>
                  <a:srgbClr val="1D2B36"/>
                </a:solidFill>
              </a:rPr>
              <a:t>New framework = configuration pack</a:t>
            </a:r>
            <a:endParaRPr sz="1080"/>
          </a:p>
        </p:txBody>
      </p:sp>
      <p:pic>
        <p:nvPicPr>
          <p:cNvPr id="81" name="Imag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a31f7a015d49bb">
            <a:extLst>
              <a:ext uri="{96DAC541-7B7A-43D3-8B79-37D633B846F1}">
                <asvg:svgBlip xmlns:asvg="http://schemas.microsoft.com/office/drawing/2016/SVG/main" r:embed="R6875da323f234e66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75120" y="3172968"/>
            <a:ext cx="164592" cy="164592"/>
          </a:xfrm>
          <a:prstGeom xmlns:a="http://schemas.openxmlformats.org/drawingml/2006/main" prst="rect">
            <a:avLst/>
          </a:prstGeom>
        </p:spPr>
      </p:pic>
      <p:sp>
        <p:nvSpPr>
          <p:cNvPr id="29" name="Text 16">
            <a:extLst xmlns:a="http://schemas.openxmlformats.org/drawingml/2006/main">
              <a:ext uri="{FF2B5EF4-FFF2-40B4-BE49-F238E27FC236}">
                <a16:creationId xmlns:a16="http://schemas.microsoft.com/office/drawing/2014/main" id="{82D55BF9-AF97-48C6-AA76-018B5AF6C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4304" y="3136392"/>
            <a:ext cx="3977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80">
                <a:solidFill>
                  <a:srgbClr val="1D2B36"/>
                </a:solidFill>
              </a:rPr>
              <a:t>Shared workflow + configurable scoring</a:t>
            </a:r>
            <a:endParaRPr sz="1080"/>
          </a:p>
        </p:txBody>
      </p:sp>
      <p:pic>
        <p:nvPicPr>
          <p:cNvPr id="83" name="Imag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b741146bc744a2">
            <a:extLst>
              <a:ext uri="{96DAC541-7B7A-43D3-8B79-37D633B846F1}">
                <asvg:svgBlip xmlns:asvg="http://schemas.microsoft.com/office/drawing/2016/SVG/main" r:embed="R67fe736e0f494709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75120" y="3675888"/>
            <a:ext cx="164592" cy="164592"/>
          </a:xfrm>
          <a:prstGeom xmlns:a="http://schemas.openxmlformats.org/drawingml/2006/main" prst="rect">
            <a:avLst/>
          </a:prstGeom>
        </p:spPr>
      </p:pic>
      <p:sp>
        <p:nvSpPr>
          <p:cNvPr id="31" name="Text 17">
            <a:extLst xmlns:a="http://schemas.openxmlformats.org/drawingml/2006/main">
              <a:ext uri="{FF2B5EF4-FFF2-40B4-BE49-F238E27FC236}">
                <a16:creationId xmlns:a16="http://schemas.microsoft.com/office/drawing/2014/main" id="{84596F8C-016D-44AD-8A8C-6B0036D4E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4304" y="3639312"/>
            <a:ext cx="3977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80">
                <a:solidFill>
                  <a:srgbClr val="1D2B36"/>
                </a:solidFill>
              </a:rPr>
              <a:t>Reusable dashboards + filters + exports</a:t>
            </a:r>
            <a:endParaRPr sz="1080"/>
          </a:p>
        </p:txBody>
      </p:sp>
      <p:pic>
        <p:nvPicPr>
          <p:cNvPr id="85" name="Image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dc9a7000334e9f">
            <a:extLst>
              <a:ext uri="{96DAC541-7B7A-43D3-8B79-37D633B846F1}">
                <asvg:svgBlip xmlns:asvg="http://schemas.microsoft.com/office/drawing/2016/SVG/main" r:embed="Rda1a405b119d4bcf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75120" y="4178808"/>
            <a:ext cx="164592" cy="164592"/>
          </a:xfrm>
          <a:prstGeom xmlns:a="http://schemas.openxmlformats.org/drawingml/2006/main" prst="rect">
            <a:avLst/>
          </a:prstGeom>
        </p:spPr>
      </p:pic>
      <p:sp>
        <p:nvSpPr>
          <p:cNvPr id="33" name="Text 18">
            <a:extLst xmlns:a="http://schemas.openxmlformats.org/drawingml/2006/main">
              <a:ext uri="{FF2B5EF4-FFF2-40B4-BE49-F238E27FC236}">
                <a16:creationId xmlns:a16="http://schemas.microsoft.com/office/drawing/2014/main" id="{0D81BC50-D07B-4C9B-85B2-67930732C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4304" y="4142232"/>
            <a:ext cx="3977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80">
                <a:solidFill>
                  <a:srgbClr val="1D2B36"/>
                </a:solidFill>
              </a:rPr>
              <a:t>Code/config ownership can transfer locally</a:t>
            </a:r>
            <a:endParaRPr sz="1080"/>
          </a:p>
        </p:txBody>
      </p:sp>
      <p:pic>
        <p:nvPicPr>
          <p:cNvPr id="87" name="Imag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7ea31f6f324564">
            <a:extLst>
              <a:ext uri="{96DAC541-7B7A-43D3-8B79-37D633B846F1}">
                <asvg:svgBlip xmlns:asvg="http://schemas.microsoft.com/office/drawing/2016/SVG/main" r:embed="R969b4eebe84649bc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75120" y="4681728"/>
            <a:ext cx="164592" cy="164592"/>
          </a:xfrm>
          <a:prstGeom xmlns:a="http://schemas.openxmlformats.org/drawingml/2006/main" prst="rect">
            <a:avLst/>
          </a:prstGeom>
        </p:spPr>
      </p:pic>
      <p:sp>
        <p:nvSpPr>
          <p:cNvPr id="35" name="Text 19">
            <a:extLst xmlns:a="http://schemas.openxmlformats.org/drawingml/2006/main">
              <a:ext uri="{FF2B5EF4-FFF2-40B4-BE49-F238E27FC236}">
                <a16:creationId xmlns:a16="http://schemas.microsoft.com/office/drawing/2014/main" id="{BF036E56-AF18-42D1-8A34-CA5508075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4304" y="4645152"/>
            <a:ext cx="3977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80">
                <a:solidFill>
                  <a:srgbClr val="1D2B36"/>
                </a:solidFill>
              </a:rPr>
              <a:t>APIs are a core platform layer</a:t>
            </a:r>
            <a:endParaRPr sz="1080"/>
          </a:p>
        </p:txBody>
      </p:sp>
      <p:pic>
        <p:nvPicPr>
          <p:cNvPr id="89" name="Imag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0d83f53f5e421f">
            <a:extLst>
              <a:ext uri="{96DAC541-7B7A-43D3-8B79-37D633B846F1}">
                <asvg:svgBlip xmlns:asvg="http://schemas.microsoft.com/office/drawing/2016/SVG/main" r:embed="Rbcf6ab5e54fa4961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75120" y="5184648"/>
            <a:ext cx="164592" cy="164592"/>
          </a:xfrm>
          <a:prstGeom xmlns:a="http://schemas.openxmlformats.org/drawingml/2006/main" prst="rect">
            <a:avLst/>
          </a:prstGeom>
        </p:spPr>
      </p:pic>
      <p:sp>
        <p:nvSpPr>
          <p:cNvPr id="37" name="Text 20">
            <a:extLst xmlns:a="http://schemas.openxmlformats.org/drawingml/2006/main">
              <a:ext uri="{FF2B5EF4-FFF2-40B4-BE49-F238E27FC236}">
                <a16:creationId xmlns:a16="http://schemas.microsoft.com/office/drawing/2014/main" id="{3188651F-5455-43F7-98AF-2D90ECF77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4304" y="5148072"/>
            <a:ext cx="3977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80">
                <a:solidFill>
                  <a:srgbClr val="1D2B36"/>
                </a:solidFill>
              </a:rPr>
              <a:t>Documentation + versioned contribution model</a:t>
            </a:r>
            <a:endParaRPr sz="1080"/>
          </a:p>
        </p:txBody>
      </p:sp>
      <p:sp>
        <p:nvSpPr>
          <p:cNvPr id="38" name="Text 21">
            <a:extLst xmlns:a="http://schemas.openxmlformats.org/drawingml/2006/main">
              <a:ext uri="{FF2B5EF4-FFF2-40B4-BE49-F238E27FC236}">
                <a16:creationId xmlns:a16="http://schemas.microsoft.com/office/drawing/2014/main" id="{FA1CF903-57CE-4FF3-BA9A-DCB3E736A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806440"/>
            <a:ext cx="850392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16324F"/>
                </a:solidFill>
              </a:rPr>
              <a:t>Strategic principle: invest once in platform capability; spend future effort on quality content and implementation — not rebuilding software plumbing.</a:t>
            </a:r>
            <a:endParaRPr sz="1150"/>
          </a:p>
        </p:txBody>
      </p:sp>
      <p:sp>
        <p:nvSpPr>
          <p:cNvPr id="54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8392612C-4251-4C0D-83DD-353299D1F5B8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292840" y="6574536"/>
            <a:ext cx="347472" cy="1645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8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13337688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C9386499-3E95-41CB-8B5F-D5B29C96A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10312"/>
            <a:ext cx="2011680" cy="27432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2F6F6A"/>
          </a:solidFill>
          <a:ln xmlns:a="http://schemas.openxmlformats.org/drawingml/2006/main" w="12700">
            <a:solidFill>
              <a:srgbClr val="2F6F6A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78B1DB4-FED8-4864-9F04-2A61ACA5A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51460"/>
            <a:ext cx="1865376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60" b="1" spc="80">
                <a:solidFill>
                  <a:srgbClr val="FFFFFF"/>
                </a:solidFill>
              </a:rPr>
              <a:t>ARCHITECTURE</a:t>
            </a:r>
            <a:endParaRPr sz="76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E805D75E-2531-4A19-BB06-626B64BD2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11480"/>
            <a:ext cx="1088136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16324F"/>
                </a:solidFill>
                <a:latin typeface="Aptos Display"/>
                <a:ea typeface="Aptos Display"/>
                <a:cs typeface="Aptos Display"/>
              </a:rPr>
              <a:t>Open-source architecture: modular, configuration-driven and API-first</a:t>
            </a:r>
            <a:endParaRPr sz="25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3A8BA1AE-8F04-4FF2-AFC0-3C2039A80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69264"/>
            <a:ext cx="7315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0">
            <a:solidFill>
              <a:srgbClr val="F18A2A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F8FBE5E9-3D31-47E3-927D-967A6F39C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060704"/>
            <a:ext cx="109728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5F7180"/>
                </a:solidFill>
              </a:rPr>
              <a:t>Current refactor separates core services, framework configuration and assessment APIs so the same engine can serve multiple programs.</a:t>
            </a:r>
            <a:endParaRPr sz="1150"/>
          </a:p>
        </p:txBody>
      </p:sp>
      <p:pic>
        <p:nvPicPr>
          <p:cNvPr id="35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69b0c62a494cf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329184"/>
            <a:ext cx="841248" cy="292608"/>
          </a:xfrm>
          <a:prstGeom xmlns:a="http://schemas.openxmlformats.org/drawingml/2006/main" prst="rect">
            <a:avLst/>
          </a:prstGeom>
        </p:spPr>
      </p:pic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DC532B9C-58D4-4F31-AFE0-96085CEC2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700784"/>
            <a:ext cx="10195560" cy="64008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6324F"/>
          </a:solidFill>
          <a:ln xmlns:a="http://schemas.openxmlformats.org/drawingml/2006/main" w="12700">
            <a:solidFill>
              <a:srgbClr val="16324F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F92DC5C1-976B-4B83-958A-4E8FD0197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1828800"/>
            <a:ext cx="19202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20" b="1">
                <a:solidFill>
                  <a:srgbClr val="FFFFFF"/>
                </a:solidFill>
              </a:rPr>
              <a:t>Experience Layer</a:t>
            </a:r>
            <a:endParaRPr sz="122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050F303A-948C-4C96-8885-1145BDB86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1837944"/>
            <a:ext cx="76352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60">
                <a:solidFill>
                  <a:srgbClr val="F5F8FA"/>
                </a:solidFill>
              </a:rPr>
              <a:t>Responsive Web UI  •  Admin Console  •  Test UI  •  Reports &amp; Exports</a:t>
            </a:r>
            <a:endParaRPr sz="960"/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4EC7FC18-A000-4D11-A9AF-86264EA4E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8192" y="2340864"/>
            <a:ext cx="0" cy="1828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A5B8C5"/>
            </a:solidFill>
            <a:prstDash val="solid"/>
            <a:tailEnd type="triangle"/>
          </a:ln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5A11D654-8A31-4DF7-8184-2FB4D1886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532888"/>
            <a:ext cx="10195560" cy="713232"/>
          </a:xfrm>
          <a:prstGeom xmlns:a="http://schemas.openxmlformats.org/drawingml/2006/main" prst="roundRect">
            <a:avLst>
              <a:gd name="adj" fmla="val 6410"/>
            </a:avLst>
          </a:prstGeom>
          <a:solidFill xmlns:a="http://schemas.openxmlformats.org/drawingml/2006/main">
            <a:srgbClr val="2F6F6A"/>
          </a:solidFill>
          <a:ln xmlns:a="http://schemas.openxmlformats.org/drawingml/2006/main" w="12700">
            <a:solidFill>
              <a:srgbClr val="2F6F6A"/>
            </a:solidFill>
            <a:prstDash val="solid"/>
          </a:ln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66C410E5-C7FD-49CC-BB45-A24C4DE6F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2660904"/>
            <a:ext cx="19202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20" b="1">
                <a:solidFill>
                  <a:srgbClr val="FFFFFF"/>
                </a:solidFill>
              </a:rPr>
              <a:t>Platform API Layer</a:t>
            </a:r>
            <a:endParaRPr sz="1220"/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2D3D3357-D830-44B7-A92D-005787549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2670048"/>
            <a:ext cx="76352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60">
                <a:solidFill>
                  <a:srgbClr val="F5F8FA"/>
                </a:solidFill>
              </a:rPr>
              <a:t>Auth / RBAC  •  Framework APIs  •  Assessment APIs  •  CQI  •  KPI / Outcomes  •  Certification</a:t>
            </a:r>
            <a:endParaRPr sz="960"/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3B20B73B-2D56-44BF-98A3-6178816B0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8192" y="3246120"/>
            <a:ext cx="0" cy="1828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A5B8C5"/>
            </a:solidFill>
            <a:prstDash val="solid"/>
            <a:tailEnd type="triangle"/>
          </a:ln>
        </p:spPr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0DB5CB74-8656-4ABF-BD9A-C6B0EDD55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447288"/>
            <a:ext cx="10195560" cy="713232"/>
          </a:xfrm>
          <a:prstGeom xmlns:a="http://schemas.openxmlformats.org/drawingml/2006/main" prst="roundRect">
            <a:avLst>
              <a:gd name="adj" fmla="val 6410"/>
            </a:avLst>
          </a:prstGeom>
          <a:solidFill xmlns:a="http://schemas.openxmlformats.org/drawingml/2006/main">
            <a:srgbClr val="2D7FF9"/>
          </a:solidFill>
          <a:ln xmlns:a="http://schemas.openxmlformats.org/drawingml/2006/main" w="12700">
            <a:solidFill>
              <a:srgbClr val="2D7FF9"/>
            </a:solidFill>
            <a:prstDash val="solid"/>
          </a:ln>
        </p:spPr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CBE1C4BA-3BAD-431C-B040-B96F6E2E2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3575304"/>
            <a:ext cx="19202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20" b="1">
                <a:solidFill>
                  <a:srgbClr val="FFFFFF"/>
                </a:solidFill>
              </a:rPr>
              <a:t>Reusable Services</a:t>
            </a:r>
            <a:endParaRPr sz="1220"/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C98599B2-A0FA-4D81-AA78-90AAC0A77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3584448"/>
            <a:ext cx="76352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60">
                <a:solidFill>
                  <a:srgbClr val="F5F8FA"/>
                </a:solidFill>
              </a:rPr>
              <a:t>FrameworkEngine  •  DepartmentStatusService  •  DynamicAssessmentService  •  Security / Session / CSRF</a:t>
            </a:r>
            <a:endParaRPr sz="960"/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53209A77-6BEC-43E7-B5DB-7CCD8FA2B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8192" y="4160520"/>
            <a:ext cx="0" cy="1828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A5B8C5"/>
            </a:solidFill>
            <a:prstDash val="solid"/>
            <a:tailEnd type="triangle"/>
          </a:ln>
        </p:spPr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CA7611F1-3C7D-420C-B8A0-B1C2A3F00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361688"/>
            <a:ext cx="10195560" cy="713232"/>
          </a:xfrm>
          <a:prstGeom xmlns:a="http://schemas.openxmlformats.org/drawingml/2006/main" prst="roundRect">
            <a:avLst>
              <a:gd name="adj" fmla="val 6410"/>
            </a:avLst>
          </a:prstGeom>
          <a:solidFill xmlns:a="http://schemas.openxmlformats.org/drawingml/2006/main">
            <a:srgbClr val="F18A2A"/>
          </a:solidFill>
          <a:ln xmlns:a="http://schemas.openxmlformats.org/drawingml/2006/main" w="12700">
            <a:solidFill>
              <a:srgbClr val="F18A2A"/>
            </a:solidFill>
            <a:prstDash val="solid"/>
          </a:ln>
        </p:spPr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EDBEA43B-C9F1-450E-A100-E1AFE7736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4489704"/>
            <a:ext cx="19202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20" b="1">
                <a:solidFill>
                  <a:srgbClr val="FFFFFF"/>
                </a:solidFill>
              </a:rPr>
              <a:t>Configuration Layer</a:t>
            </a:r>
            <a:endParaRPr sz="1220"/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97DA8EF4-0753-4C2A-B7AE-10D5AA39C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4498848"/>
            <a:ext cx="76352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60">
                <a:solidFill>
                  <a:srgbClr val="F5F8FA"/>
                </a:solidFill>
              </a:rPr>
              <a:t>frameworks/*.json  •  masters/*.json  •  facility types  •  domains  •  checkpoints  •  methods</a:t>
            </a:r>
            <a:endParaRPr sz="960"/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835F8131-6BE2-4400-AF72-2C1DCD765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8192" y="5074920"/>
            <a:ext cx="0" cy="1828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A5B8C5"/>
            </a:solidFill>
            <a:prstDash val="solid"/>
            <a:tailEnd type="triangle"/>
          </a:ln>
        </p:spPr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4EF2170C-6168-4553-A8FB-68CF9E537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5276088"/>
            <a:ext cx="10195560" cy="713232"/>
          </a:xfrm>
          <a:prstGeom xmlns:a="http://schemas.openxmlformats.org/drawingml/2006/main" prst="roundRect">
            <a:avLst>
              <a:gd name="adj" fmla="val 6410"/>
            </a:avLst>
          </a:prstGeom>
          <a:solidFill xmlns:a="http://schemas.openxmlformats.org/drawingml/2006/main">
            <a:srgbClr val="7B61FF"/>
          </a:solidFill>
          <a:ln xmlns:a="http://schemas.openxmlformats.org/drawingml/2006/main" w="12700">
            <a:solidFill>
              <a:srgbClr val="7B61FF"/>
            </a:solidFill>
            <a:prstDash val="solid"/>
          </a:ln>
        </p:spPr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7C9EECD5-2280-4394-982A-26EF39450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5404104"/>
            <a:ext cx="19202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20" b="1">
                <a:solidFill>
                  <a:srgbClr val="FFFFFF"/>
                </a:solidFill>
              </a:rPr>
              <a:t>Data &amp; Deployment</a:t>
            </a:r>
            <a:endParaRPr sz="1220"/>
          </a:p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10B6B8B8-BFDC-482E-A009-392AA79DA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5413248"/>
            <a:ext cx="76352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60">
                <a:solidFill>
                  <a:srgbClr val="F5F8FA"/>
                </a:solidFill>
              </a:rPr>
              <a:t>MySQL / relational data  •  file storage  •  APIs  •  container / VM / government cloud / on-prem options</a:t>
            </a:r>
            <a:endParaRPr sz="960"/>
          </a:p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15382787-2DB8-4AAF-A327-1A7248254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6126480"/>
            <a:ext cx="94183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80" b="1">
                <a:solidFill>
                  <a:srgbClr val="2F6F6A"/>
                </a:solidFill>
              </a:rPr>
              <a:t>Key design decision: framework knowledge lives in configuration; common quality-improvement behavior lives in reusable services.</a:t>
            </a:r>
            <a:endParaRPr sz="1080"/>
          </a:p>
        </p:txBody>
      </p:sp>
      <p:sp>
        <p:nvSpPr>
          <p:cNvPr id="29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F740325B-1821-45C5-9A55-507FD23A0C20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292840" y="6574536"/>
            <a:ext cx="347472" cy="1645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8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29975112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5802DB3-C861-4108-A91A-EE079850E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10312"/>
            <a:ext cx="2011680" cy="27432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2F6F6A"/>
          </a:solidFill>
          <a:ln xmlns:a="http://schemas.openxmlformats.org/drawingml/2006/main" w="12700">
            <a:solidFill>
              <a:srgbClr val="2F6F6A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BEC7D42-CC75-43A0-BDB7-28A3DC084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51460"/>
            <a:ext cx="1865376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60" b="1" spc="80">
                <a:solidFill>
                  <a:srgbClr val="FFFFFF"/>
                </a:solidFill>
              </a:rPr>
              <a:t>PLATFORM ENGINEERING</a:t>
            </a:r>
            <a:endParaRPr sz="76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2FDCFD60-F164-4371-B5AC-45DBE8F98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11480"/>
            <a:ext cx="1088136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16324F"/>
                </a:solidFill>
                <a:latin typeface="Aptos Display"/>
                <a:ea typeface="Aptos Display"/>
                <a:cs typeface="Aptos Display"/>
              </a:rPr>
              <a:t>Interoperable, portable and secure by default</a:t>
            </a:r>
            <a:endParaRPr sz="25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F462584F-AADC-46F4-B60E-02DCD9C86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69264"/>
            <a:ext cx="7315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0">
            <a:solidFill>
              <a:srgbClr val="F18A2A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A5499061-C6A2-4897-BC97-A5E8128C7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060704"/>
            <a:ext cx="109728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5F7180"/>
                </a:solidFill>
              </a:rPr>
              <a:t>A quality platform has to coexist with existing government systems, not become another isolated data island.</a:t>
            </a:r>
            <a:endParaRPr sz="1150"/>
          </a:p>
        </p:txBody>
      </p:sp>
      <p:pic>
        <p:nvPicPr>
          <p:cNvPr id="55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eecc437aba4b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329184"/>
            <a:ext cx="841248" cy="292608"/>
          </a:xfrm>
          <a:prstGeom xmlns:a="http://schemas.openxmlformats.org/drawingml/2006/main" prst="rect">
            <a:avLst/>
          </a:prstGeom>
        </p:spPr>
      </p:pic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0D470C5E-479E-413E-AA80-40D49C736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7360"/>
            <a:ext cx="3154680" cy="3977640"/>
          </a:xfrm>
          <a:prstGeom xmlns:a="http://schemas.openxmlformats.org/drawingml/2006/main" prst="roundRect">
            <a:avLst>
              <a:gd name="adj" fmla="val 23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4EA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CBD4DA">
                <a:alpha val="14000"/>
              </a:srgbClr>
            </a:outerShdw>
          </a:effectLst>
        </p:spPr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28CCB997-9304-442F-8867-D03933B14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960" y="2029968"/>
            <a:ext cx="594360" cy="5943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5F3"/>
          </a:solidFill>
          <a:ln xmlns:a="http://schemas.openxmlformats.org/drawingml/2006/main" w="12700">
            <a:solidFill>
              <a:srgbClr val="EAF5F3"/>
            </a:solidFill>
            <a:prstDash val="solid"/>
          </a:ln>
        </p:spPr>
      </p:sp>
      <p:pic>
        <p:nvPicPr>
          <p:cNvPr id="58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a4a6d7442d4c29">
            <a:extLst>
              <a:ext uri="{96DAC541-7B7A-43D3-8B79-37D633B846F1}">
                <asvg:svgBlip xmlns:asvg="http://schemas.microsoft.com/office/drawing/2016/SVG/main" r:embed="R6862858a96ef43aa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61972" y="2125980"/>
            <a:ext cx="402336" cy="402336"/>
          </a:xfrm>
          <a:prstGeom xmlns:a="http://schemas.openxmlformats.org/drawingml/2006/main" prst="rect">
            <a:avLst/>
          </a:prstGeom>
        </p:spPr>
      </p:pic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0D36EAB4-B9C1-494B-ABB0-21359D312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852928"/>
            <a:ext cx="25146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40" b="1">
                <a:solidFill>
                  <a:srgbClr val="2F6F6A"/>
                </a:solidFill>
              </a:rPr>
              <a:t>INTEROPERABILITY</a:t>
            </a:r>
            <a:endParaRPr sz="1340"/>
          </a:p>
        </p:txBody>
      </p:sp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CDE1725C-2F4B-4850-BB5E-B9A7A86CD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" y="3529584"/>
            <a:ext cx="64008" cy="640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6A"/>
          </a:solidFill>
          <a:ln xmlns:a="http://schemas.openxmlformats.org/drawingml/2006/main" w="12700">
            <a:solidFill>
              <a:srgbClr val="2F6F6A"/>
            </a:solidFill>
            <a:prstDash val="solid"/>
          </a:ln>
        </p:spPr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C8D3577C-EA40-45F6-B154-38BAD516F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7864" y="3438144"/>
            <a:ext cx="23317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70">
                <a:solidFill>
                  <a:srgbClr val="1D2B36"/>
                </a:solidFill>
              </a:rPr>
              <a:t>Documented REST-style APIs</a:t>
            </a:r>
            <a:endParaRPr sz="970"/>
          </a:p>
        </p:txBody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A4FBC021-7EAC-42BC-93F0-F296B161A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" y="4032504"/>
            <a:ext cx="64008" cy="640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6A"/>
          </a:solidFill>
          <a:ln xmlns:a="http://schemas.openxmlformats.org/drawingml/2006/main" w="12700">
            <a:solidFill>
              <a:srgbClr val="2F6F6A"/>
            </a:solidFill>
            <a:prstDash val="solid"/>
          </a:ln>
        </p:spPr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3E4F3CD6-C5C5-4E73-9A4E-F49D2E2C6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7864" y="3941064"/>
            <a:ext cx="23317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70">
                <a:solidFill>
                  <a:srgbClr val="1D2B36"/>
                </a:solidFill>
              </a:rPr>
              <a:t>JSON-based framework/config exchange</a:t>
            </a:r>
            <a:endParaRPr sz="970"/>
          </a:p>
        </p:txBody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B9303916-3262-4C15-87A1-8E989EB04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" y="4535424"/>
            <a:ext cx="64008" cy="640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6A"/>
          </a:solidFill>
          <a:ln xmlns:a="http://schemas.openxmlformats.org/drawingml/2006/main" w="12700">
            <a:solidFill>
              <a:srgbClr val="2F6F6A"/>
            </a:solidFill>
            <a:prstDash val="solid"/>
          </a:ln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5101347B-86EB-4379-8443-920BE763B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7864" y="4443984"/>
            <a:ext cx="23317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70">
                <a:solidFill>
                  <a:srgbClr val="1D2B36"/>
                </a:solidFill>
              </a:rPr>
              <a:t>Excel / PDF exports for operational use</a:t>
            </a:r>
            <a:endParaRPr sz="970"/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019CBDAD-B426-414D-BC28-B7532DE8A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" y="5038344"/>
            <a:ext cx="64008" cy="640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6A"/>
          </a:solidFill>
          <a:ln xmlns:a="http://schemas.openxmlformats.org/drawingml/2006/main" w="12700">
            <a:solidFill>
              <a:srgbClr val="2F6F6A"/>
            </a:solidFill>
            <a:prstDash val="solid"/>
          </a:ln>
        </p:spPr>
      </p:sp>
      <p:sp>
        <p:nvSpPr>
          <p:cNvPr id="19" name="Text 15">
            <a:extLst xmlns:a="http://schemas.openxmlformats.org/drawingml/2006/main">
              <a:ext uri="{FF2B5EF4-FFF2-40B4-BE49-F238E27FC236}">
                <a16:creationId xmlns:a16="http://schemas.microsoft.com/office/drawing/2014/main" id="{7D258C09-55F7-4CA5-B2DA-040D4E955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7864" y="4946904"/>
            <a:ext cx="23317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70">
                <a:solidFill>
                  <a:srgbClr val="1D2B36"/>
                </a:solidFill>
              </a:rPr>
              <a:t>Integration-ready master and reporting services</a:t>
            </a:r>
            <a:endParaRPr sz="970"/>
          </a:p>
        </p:txBody>
      </p:sp>
      <p:sp>
        <p:nvSpPr>
          <p:cNvPr id="20" name="Shape 16">
            <a:extLst xmlns:a="http://schemas.openxmlformats.org/drawingml/2006/main">
              <a:ext uri="{FF2B5EF4-FFF2-40B4-BE49-F238E27FC236}">
                <a16:creationId xmlns:a16="http://schemas.microsoft.com/office/drawing/2014/main" id="{DE4057E9-FE1E-41E0-9F5A-42E05EB4C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520" y="1737360"/>
            <a:ext cx="3154680" cy="3977640"/>
          </a:xfrm>
          <a:prstGeom xmlns:a="http://schemas.openxmlformats.org/drawingml/2006/main" prst="roundRect">
            <a:avLst>
              <a:gd name="adj" fmla="val 23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4EA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CBD4DA">
                <a:alpha val="14000"/>
              </a:srgbClr>
            </a:outerShdw>
          </a:effectLst>
        </p:spPr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52594023-0937-4D6A-937A-3D321F59F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0680" y="2029968"/>
            <a:ext cx="594360" cy="5943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DECEF"/>
          </a:solidFill>
          <a:ln xmlns:a="http://schemas.openxmlformats.org/drawingml/2006/main" w="12700">
            <a:solidFill>
              <a:srgbClr val="FDECEF"/>
            </a:solidFill>
            <a:prstDash val="solid"/>
          </a:ln>
        </p:spPr>
      </p:sp>
      <p:pic>
        <p:nvPicPr>
          <p:cNvPr id="70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b543cfde5f491d">
            <a:extLst>
              <a:ext uri="{96DAC541-7B7A-43D3-8B79-37D633B846F1}">
                <asvg:svgBlip xmlns:asvg="http://schemas.microsoft.com/office/drawing/2016/SVG/main" r:embed="R8d2878b7e45e450b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36692" y="2125980"/>
            <a:ext cx="402336" cy="402336"/>
          </a:xfrm>
          <a:prstGeom xmlns:a="http://schemas.openxmlformats.org/drawingml/2006/main" prst="rect">
            <a:avLst/>
          </a:prstGeom>
        </p:spPr>
      </p:pic>
      <p:sp>
        <p:nvSpPr>
          <p:cNvPr id="23" name="Text 18">
            <a:extLst xmlns:a="http://schemas.openxmlformats.org/drawingml/2006/main">
              <a:ext uri="{FF2B5EF4-FFF2-40B4-BE49-F238E27FC236}">
                <a16:creationId xmlns:a16="http://schemas.microsoft.com/office/drawing/2014/main" id="{252B681D-8CA4-42C9-AF0D-616B77369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2852928"/>
            <a:ext cx="25146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40" b="1">
                <a:solidFill>
                  <a:srgbClr val="E84A5F"/>
                </a:solidFill>
              </a:rPr>
              <a:t>SECURITY</a:t>
            </a:r>
            <a:endParaRPr sz="1340"/>
          </a:p>
        </p:txBody>
      </p:sp>
      <p:sp>
        <p:nvSpPr>
          <p:cNvPr id="24" name="Shape 19">
            <a:extLst xmlns:a="http://schemas.openxmlformats.org/drawingml/2006/main">
              <a:ext uri="{FF2B5EF4-FFF2-40B4-BE49-F238E27FC236}">
                <a16:creationId xmlns:a16="http://schemas.microsoft.com/office/drawing/2014/main" id="{3F81BE78-9451-42BF-9206-8C6723932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7992" y="3529584"/>
            <a:ext cx="64008" cy="640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4A5F"/>
          </a:solidFill>
          <a:ln xmlns:a="http://schemas.openxmlformats.org/drawingml/2006/main" w="12700">
            <a:solidFill>
              <a:srgbClr val="E84A5F"/>
            </a:solidFill>
            <a:prstDash val="solid"/>
          </a:ln>
        </p:spPr>
      </p:sp>
      <p:sp>
        <p:nvSpPr>
          <p:cNvPr id="25" name="Text 20">
            <a:extLst xmlns:a="http://schemas.openxmlformats.org/drawingml/2006/main">
              <a:ext uri="{FF2B5EF4-FFF2-40B4-BE49-F238E27FC236}">
                <a16:creationId xmlns:a16="http://schemas.microsoft.com/office/drawing/2014/main" id="{5E8EFB79-8FA0-4407-8BF0-6F795DA46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2584" y="3438144"/>
            <a:ext cx="23317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70">
                <a:solidFill>
                  <a:srgbClr val="1D2B36"/>
                </a:solidFill>
              </a:rPr>
              <a:t>Role-based access &amp; scoped assignment</a:t>
            </a:r>
            <a:endParaRPr sz="970"/>
          </a:p>
        </p:txBody>
      </p:sp>
      <p:sp>
        <p:nvSpPr>
          <p:cNvPr id="26" name="Shape 21">
            <a:extLst xmlns:a="http://schemas.openxmlformats.org/drawingml/2006/main">
              <a:ext uri="{FF2B5EF4-FFF2-40B4-BE49-F238E27FC236}">
                <a16:creationId xmlns:a16="http://schemas.microsoft.com/office/drawing/2014/main" id="{7281CC49-DD0F-4D7C-9E0E-7115ED9D3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7992" y="4032504"/>
            <a:ext cx="64008" cy="640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4A5F"/>
          </a:solidFill>
          <a:ln xmlns:a="http://schemas.openxmlformats.org/drawingml/2006/main" w="12700">
            <a:solidFill>
              <a:srgbClr val="E84A5F"/>
            </a:solidFill>
            <a:prstDash val="solid"/>
          </a:ln>
        </p:spPr>
      </p:sp>
      <p:sp>
        <p:nvSpPr>
          <p:cNvPr id="27" name="Text 22">
            <a:extLst xmlns:a="http://schemas.openxmlformats.org/drawingml/2006/main">
              <a:ext uri="{FF2B5EF4-FFF2-40B4-BE49-F238E27FC236}">
                <a16:creationId xmlns:a16="http://schemas.microsoft.com/office/drawing/2014/main" id="{1930D42C-945B-4D6A-B154-FDD6AC380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2584" y="3941064"/>
            <a:ext cx="23317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70">
                <a:solidFill>
                  <a:srgbClr val="1D2B36"/>
                </a:solidFill>
              </a:rPr>
              <a:t>CSRF and session security controls</a:t>
            </a:r>
            <a:endParaRPr sz="970"/>
          </a:p>
        </p:txBody>
      </p:sp>
      <p:sp>
        <p:nvSpPr>
          <p:cNvPr id="28" name="Shape 23">
            <a:extLst xmlns:a="http://schemas.openxmlformats.org/drawingml/2006/main">
              <a:ext uri="{FF2B5EF4-FFF2-40B4-BE49-F238E27FC236}">
                <a16:creationId xmlns:a16="http://schemas.microsoft.com/office/drawing/2014/main" id="{419231DF-9E8E-4ED3-AD5E-278BB2F54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7992" y="4535424"/>
            <a:ext cx="64008" cy="640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4A5F"/>
          </a:solidFill>
          <a:ln xmlns:a="http://schemas.openxmlformats.org/drawingml/2006/main" w="12700">
            <a:solidFill>
              <a:srgbClr val="E84A5F"/>
            </a:solidFill>
            <a:prstDash val="solid"/>
          </a:ln>
        </p:spPr>
      </p:sp>
      <p:sp>
        <p:nvSpPr>
          <p:cNvPr id="29" name="Text 24">
            <a:extLst xmlns:a="http://schemas.openxmlformats.org/drawingml/2006/main">
              <a:ext uri="{FF2B5EF4-FFF2-40B4-BE49-F238E27FC236}">
                <a16:creationId xmlns:a16="http://schemas.microsoft.com/office/drawing/2014/main" id="{6049D914-DA6A-4713-9C04-76E5CBEDB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2584" y="4443984"/>
            <a:ext cx="23317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70">
                <a:solidFill>
                  <a:srgbClr val="1D2B36"/>
                </a:solidFill>
              </a:rPr>
              <a:t>Login lockout / failed-attempt controls</a:t>
            </a:r>
            <a:endParaRPr sz="970"/>
          </a:p>
        </p:txBody>
      </p:sp>
      <p:sp>
        <p:nvSpPr>
          <p:cNvPr id="30" name="Shape 25">
            <a:extLst xmlns:a="http://schemas.openxmlformats.org/drawingml/2006/main">
              <a:ext uri="{FF2B5EF4-FFF2-40B4-BE49-F238E27FC236}">
                <a16:creationId xmlns:a16="http://schemas.microsoft.com/office/drawing/2014/main" id="{8BC7491A-8602-485D-8E92-5EDD41C8D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7992" y="5038344"/>
            <a:ext cx="64008" cy="640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4A5F"/>
          </a:solidFill>
          <a:ln xmlns:a="http://schemas.openxmlformats.org/drawingml/2006/main" w="12700">
            <a:solidFill>
              <a:srgbClr val="E84A5F"/>
            </a:solidFill>
            <a:prstDash val="solid"/>
          </a:ln>
        </p:spPr>
      </p:sp>
      <p:sp>
        <p:nvSpPr>
          <p:cNvPr id="31" name="Text 26">
            <a:extLst xmlns:a="http://schemas.openxmlformats.org/drawingml/2006/main">
              <a:ext uri="{FF2B5EF4-FFF2-40B4-BE49-F238E27FC236}">
                <a16:creationId xmlns:a16="http://schemas.microsoft.com/office/drawing/2014/main" id="{000E02D7-37A6-4242-B46B-019DFA383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2584" y="4946904"/>
            <a:ext cx="23317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70">
                <a:solidFill>
                  <a:srgbClr val="1D2B36"/>
                </a:solidFill>
              </a:rPr>
              <a:t>Audit-oriented workflow and privilege separation</a:t>
            </a:r>
            <a:endParaRPr sz="970"/>
          </a:p>
        </p:txBody>
      </p:sp>
      <p:sp>
        <p:nvSpPr>
          <p:cNvPr id="32" name="Shape 27">
            <a:extLst xmlns:a="http://schemas.openxmlformats.org/drawingml/2006/main">
              <a:ext uri="{FF2B5EF4-FFF2-40B4-BE49-F238E27FC236}">
                <a16:creationId xmlns:a16="http://schemas.microsoft.com/office/drawing/2014/main" id="{1A057B9A-FABF-4E2C-8233-BE68DDBB1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240" y="1737360"/>
            <a:ext cx="3154680" cy="3977640"/>
          </a:xfrm>
          <a:prstGeom xmlns:a="http://schemas.openxmlformats.org/drawingml/2006/main" prst="roundRect">
            <a:avLst>
              <a:gd name="adj" fmla="val 23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4EA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CBD4DA">
                <a:alpha val="14000"/>
              </a:srgbClr>
            </a:outerShdw>
          </a:effectLst>
        </p:spPr>
      </p:sp>
      <p:sp>
        <p:nvSpPr>
          <p:cNvPr id="33" name="Shape 28">
            <a:extLst xmlns:a="http://schemas.openxmlformats.org/drawingml/2006/main">
              <a:ext uri="{FF2B5EF4-FFF2-40B4-BE49-F238E27FC236}">
                <a16:creationId xmlns:a16="http://schemas.microsoft.com/office/drawing/2014/main" id="{F77E3019-5349-435E-918A-EF432B880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029968"/>
            <a:ext cx="594360" cy="5943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2700">
            <a:solidFill>
              <a:srgbClr val="EAF2FF"/>
            </a:solidFill>
            <a:prstDash val="solid"/>
          </a:ln>
        </p:spPr>
      </p:sp>
      <p:pic>
        <p:nvPicPr>
          <p:cNvPr id="82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f022ee8b5041b6">
            <a:extLst>
              <a:ext uri="{96DAC541-7B7A-43D3-8B79-37D633B846F1}">
                <asvg:svgBlip xmlns:asvg="http://schemas.microsoft.com/office/drawing/2016/SVG/main" r:embed="R94b88eb6775a45da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011412" y="2125980"/>
            <a:ext cx="402336" cy="402336"/>
          </a:xfrm>
          <a:prstGeom xmlns:a="http://schemas.openxmlformats.org/drawingml/2006/main" prst="rect">
            <a:avLst/>
          </a:prstGeom>
        </p:spPr>
      </p:pic>
      <p:sp>
        <p:nvSpPr>
          <p:cNvPr id="35" name="Text 29">
            <a:extLst xmlns:a="http://schemas.openxmlformats.org/drawingml/2006/main">
              <a:ext uri="{FF2B5EF4-FFF2-40B4-BE49-F238E27FC236}">
                <a16:creationId xmlns:a16="http://schemas.microsoft.com/office/drawing/2014/main" id="{08D295B2-C209-4684-99C0-06C7F038D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0" y="2852928"/>
            <a:ext cx="25146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40" b="1">
                <a:solidFill>
                  <a:srgbClr val="2D7FF9"/>
                </a:solidFill>
              </a:rPr>
              <a:t>PORTABILITY</a:t>
            </a:r>
            <a:endParaRPr sz="1340"/>
          </a:p>
        </p:txBody>
      </p:sp>
      <p:sp>
        <p:nvSpPr>
          <p:cNvPr id="36" name="Shape 30">
            <a:extLst xmlns:a="http://schemas.openxmlformats.org/drawingml/2006/main">
              <a:ext uri="{FF2B5EF4-FFF2-40B4-BE49-F238E27FC236}">
                <a16:creationId xmlns:a16="http://schemas.microsoft.com/office/drawing/2014/main" id="{FB7D269E-8AA9-49FC-8971-2628115A2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2712" y="3529584"/>
            <a:ext cx="64008" cy="640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7FF9"/>
          </a:solidFill>
          <a:ln xmlns:a="http://schemas.openxmlformats.org/drawingml/2006/main" w="12700">
            <a:solidFill>
              <a:srgbClr val="2D7FF9"/>
            </a:solidFill>
            <a:prstDash val="solid"/>
          </a:ln>
        </p:spPr>
      </p:sp>
      <p:sp>
        <p:nvSpPr>
          <p:cNvPr id="37" name="Text 31">
            <a:extLst xmlns:a="http://schemas.openxmlformats.org/drawingml/2006/main">
              <a:ext uri="{FF2B5EF4-FFF2-40B4-BE49-F238E27FC236}">
                <a16:creationId xmlns:a16="http://schemas.microsoft.com/office/drawing/2014/main" id="{4A61FACA-AD90-4CB4-B544-F94892FE5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7304" y="3438144"/>
            <a:ext cx="23317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70">
                <a:solidFill>
                  <a:srgbClr val="1D2B36"/>
                </a:solidFill>
              </a:rPr>
              <a:t>Open relational database foundation</a:t>
            </a:r>
            <a:endParaRPr sz="970"/>
          </a:p>
        </p:txBody>
      </p:sp>
      <p:sp>
        <p:nvSpPr>
          <p:cNvPr id="38" name="Shape 32">
            <a:extLst xmlns:a="http://schemas.openxmlformats.org/drawingml/2006/main">
              <a:ext uri="{FF2B5EF4-FFF2-40B4-BE49-F238E27FC236}">
                <a16:creationId xmlns:a16="http://schemas.microsoft.com/office/drawing/2014/main" id="{FC50AD0C-EAF4-48C5-BFA8-A69E269AE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2712" y="4032504"/>
            <a:ext cx="64008" cy="640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7FF9"/>
          </a:solidFill>
          <a:ln xmlns:a="http://schemas.openxmlformats.org/drawingml/2006/main" w="12700">
            <a:solidFill>
              <a:srgbClr val="2D7FF9"/>
            </a:solidFill>
            <a:prstDash val="solid"/>
          </a:ln>
        </p:spPr>
      </p:sp>
      <p:sp>
        <p:nvSpPr>
          <p:cNvPr id="39" name="Text 33">
            <a:extLst xmlns:a="http://schemas.openxmlformats.org/drawingml/2006/main">
              <a:ext uri="{FF2B5EF4-FFF2-40B4-BE49-F238E27FC236}">
                <a16:creationId xmlns:a16="http://schemas.microsoft.com/office/drawing/2014/main" id="{B3319276-2AF6-4C81-AC76-2AE3F725D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7304" y="3941064"/>
            <a:ext cx="23317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70">
                <a:solidFill>
                  <a:srgbClr val="1D2B36"/>
                </a:solidFill>
              </a:rPr>
              <a:t>Deployable on VM / cloud / on-prem</a:t>
            </a:r>
            <a:endParaRPr sz="970"/>
          </a:p>
        </p:txBody>
      </p:sp>
      <p:sp>
        <p:nvSpPr>
          <p:cNvPr id="40" name="Shape 34">
            <a:extLst xmlns:a="http://schemas.openxmlformats.org/drawingml/2006/main">
              <a:ext uri="{FF2B5EF4-FFF2-40B4-BE49-F238E27FC236}">
                <a16:creationId xmlns:a16="http://schemas.microsoft.com/office/drawing/2014/main" id="{FFEF1509-9AB3-4701-AD26-DD3C926FB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2712" y="4535424"/>
            <a:ext cx="64008" cy="640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7FF9"/>
          </a:solidFill>
          <a:ln xmlns:a="http://schemas.openxmlformats.org/drawingml/2006/main" w="12700">
            <a:solidFill>
              <a:srgbClr val="2D7FF9"/>
            </a:solidFill>
            <a:prstDash val="solid"/>
          </a:ln>
        </p:spPr>
      </p:sp>
      <p:sp>
        <p:nvSpPr>
          <p:cNvPr id="41" name="Text 35">
            <a:extLst xmlns:a="http://schemas.openxmlformats.org/drawingml/2006/main">
              <a:ext uri="{FF2B5EF4-FFF2-40B4-BE49-F238E27FC236}">
                <a16:creationId xmlns:a16="http://schemas.microsoft.com/office/drawing/2014/main" id="{7FEFE083-851A-4406-814E-3C8621560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7304" y="4443984"/>
            <a:ext cx="23317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70">
                <a:solidFill>
                  <a:srgbClr val="1D2B36"/>
                </a:solidFill>
              </a:rPr>
              <a:t>Configuration separated from application code</a:t>
            </a:r>
            <a:endParaRPr sz="970"/>
          </a:p>
        </p:txBody>
      </p:sp>
      <p:sp>
        <p:nvSpPr>
          <p:cNvPr id="42" name="Shape 36">
            <a:extLst xmlns:a="http://schemas.openxmlformats.org/drawingml/2006/main">
              <a:ext uri="{FF2B5EF4-FFF2-40B4-BE49-F238E27FC236}">
                <a16:creationId xmlns:a16="http://schemas.microsoft.com/office/drawing/2014/main" id="{38AC97A4-9E1E-4A9A-B7BC-B5BE2DD58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2712" y="5038344"/>
            <a:ext cx="64008" cy="640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7FF9"/>
          </a:solidFill>
          <a:ln xmlns:a="http://schemas.openxmlformats.org/drawingml/2006/main" w="12700">
            <a:solidFill>
              <a:srgbClr val="2D7FF9"/>
            </a:solidFill>
            <a:prstDash val="solid"/>
          </a:ln>
        </p:spPr>
      </p:sp>
      <p:sp>
        <p:nvSpPr>
          <p:cNvPr id="43" name="Text 37">
            <a:extLst xmlns:a="http://schemas.openxmlformats.org/drawingml/2006/main">
              <a:ext uri="{FF2B5EF4-FFF2-40B4-BE49-F238E27FC236}">
                <a16:creationId xmlns:a16="http://schemas.microsoft.com/office/drawing/2014/main" id="{953A6DAC-80F4-4A13-BD2E-C9435EB1B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7304" y="4946904"/>
            <a:ext cx="23317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70">
                <a:solidFill>
                  <a:srgbClr val="1D2B36"/>
                </a:solidFill>
              </a:rPr>
              <a:t>Sector packs can evolve independently</a:t>
            </a:r>
            <a:endParaRPr sz="970"/>
          </a:p>
        </p:txBody>
      </p:sp>
      <p:sp>
        <p:nvSpPr>
          <p:cNvPr id="44" name="Text 38">
            <a:extLst xmlns:a="http://schemas.openxmlformats.org/drawingml/2006/main">
              <a:ext uri="{FF2B5EF4-FFF2-40B4-BE49-F238E27FC236}">
                <a16:creationId xmlns:a16="http://schemas.microsoft.com/office/drawing/2014/main" id="{AFEA3E52-8910-40DB-9464-FD0BAEC3D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4520" y="5943600"/>
            <a:ext cx="85039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10" b="1">
                <a:solidFill>
                  <a:srgbClr val="16324F"/>
                </a:solidFill>
              </a:rPr>
              <a:t>This engineering foundation is what allows SaQshi to become infrastructure, rather than a one-time application.</a:t>
            </a:r>
            <a:endParaRPr sz="1210"/>
          </a:p>
        </p:txBody>
      </p:sp>
      <p:sp>
        <p:nvSpPr>
          <p:cNvPr id="49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C7D6AF90-6D2C-4398-9CC2-98EC8463F110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292840" y="6574536"/>
            <a:ext cx="347472" cy="1645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8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90972920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7FD9E670-7FAC-4804-8514-BCF0331A1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10312"/>
            <a:ext cx="2011680" cy="27432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2F6F6A"/>
          </a:solidFill>
          <a:ln xmlns:a="http://schemas.openxmlformats.org/drawingml/2006/main" w="12700">
            <a:solidFill>
              <a:srgbClr val="2F6F6A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3FEA5CE-A35F-4EA6-B3E9-9A10418CE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51460"/>
            <a:ext cx="1865376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60" b="1" spc="80">
                <a:solidFill>
                  <a:srgbClr val="FFFFFF"/>
                </a:solidFill>
              </a:rPr>
              <a:t>OPEN ECOSYSTEM</a:t>
            </a:r>
            <a:endParaRPr sz="76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8454E368-8B21-41E1-8498-321D442B5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11480"/>
            <a:ext cx="1088136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16324F"/>
                </a:solidFill>
                <a:latin typeface="Aptos Display"/>
                <a:ea typeface="Aptos Display"/>
                <a:cs typeface="Aptos Display"/>
              </a:rPr>
              <a:t>A practical open-source operating model for SaQshi</a:t>
            </a:r>
            <a:endParaRPr sz="25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3B3F3679-03E2-4B0F-9A63-AFF523038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69264"/>
            <a:ext cx="7315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0">
            <a:solidFill>
              <a:srgbClr val="F18A2A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E3E3AA54-408B-4DE6-AC8F-8F708B8B3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060704"/>
            <a:ext cx="109728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5F7180"/>
                </a:solidFill>
              </a:rPr>
              <a:t>Open-source sustainability needs product governance as much as it needs a repository.</a:t>
            </a:r>
            <a:endParaRPr sz="1150"/>
          </a:p>
        </p:txBody>
      </p:sp>
      <p:pic>
        <p:nvPicPr>
          <p:cNvPr id="5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e84ef06111420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329184"/>
            <a:ext cx="841248" cy="292608"/>
          </a:xfrm>
          <a:prstGeom xmlns:a="http://schemas.openxmlformats.org/drawingml/2006/main" prst="rect">
            <a:avLst/>
          </a:prstGeom>
        </p:spPr>
      </p:pic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5267533D-B0EE-41EE-9906-CCFAA8D10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719072"/>
            <a:ext cx="3337560" cy="1755648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EDF2F5"/>
          </a:solidFill>
          <a:ln xmlns:a="http://schemas.openxmlformats.org/drawingml/2006/main" w="12700">
            <a:solidFill>
              <a:srgbClr val="EDF2F5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CBD4DA">
                <a:alpha val="14000"/>
              </a:srgbClr>
            </a:outerShdw>
          </a:effectLst>
        </p:spPr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A19FEA37-7C6C-4C72-8DF3-ED345C80D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1947672"/>
            <a:ext cx="475488" cy="4754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/>
            </a:solidFill>
            <a:prstDash val="solid"/>
          </a:ln>
        </p:spPr>
      </p:sp>
      <p:pic>
        <p:nvPicPr>
          <p:cNvPr id="54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9d7cc12b674c6d">
            <a:extLst>
              <a:ext uri="{96DAC541-7B7A-43D3-8B79-37D633B846F1}">
                <asvg:svgBlip xmlns:asvg="http://schemas.microsoft.com/office/drawing/2016/SVG/main" r:embed="Rcb4995aa1a79484c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37844" y="2043684"/>
            <a:ext cx="283464" cy="283464"/>
          </a:xfrm>
          <a:prstGeom xmlns:a="http://schemas.openxmlformats.org/drawingml/2006/main" prst="rect">
            <a:avLst/>
          </a:prstGeom>
        </p:spPr>
      </p:pic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6AF9DBE8-EBDD-49A6-90E1-7D4F350F4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1947672"/>
            <a:ext cx="2057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70" b="1">
                <a:solidFill>
                  <a:srgbClr val="16324F"/>
                </a:solidFill>
              </a:rPr>
              <a:t>1. Core platform</a:t>
            </a:r>
            <a:endParaRPr sz="1270"/>
          </a:p>
        </p:txBody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ABFBAF7E-A5E8-4C0F-BF05-24324E38E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2542032"/>
            <a:ext cx="274320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70">
                <a:solidFill>
                  <a:srgbClr val="1D2B36"/>
                </a:solidFill>
              </a:rPr>
              <a:t>Stable authentication, workflow, services, reporting and database contracts.</a:t>
            </a:r>
            <a:endParaRPr sz="970"/>
          </a:p>
        </p:txBody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E6351590-8D9E-45AA-A93D-941EDEF8D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7992" y="1719072"/>
            <a:ext cx="3337560" cy="1755648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EAF5F3"/>
          </a:solidFill>
          <a:ln xmlns:a="http://schemas.openxmlformats.org/drawingml/2006/main" w="12700">
            <a:solidFill>
              <a:srgbClr val="EAF5F3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CBD4DA">
                <a:alpha val="14000"/>
              </a:srgbClr>
            </a:outerShdw>
          </a:effectLst>
        </p:spPr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CA45A665-D223-44B9-929C-3E99A7257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6592" y="1947672"/>
            <a:ext cx="475488" cy="4754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/>
            </a:solidFill>
            <a:prstDash val="solid"/>
          </a:ln>
        </p:spPr>
      </p:sp>
      <p:pic>
        <p:nvPicPr>
          <p:cNvPr id="59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51c913fdf24f22">
            <a:extLst>
              <a:ext uri="{96DAC541-7B7A-43D3-8B79-37D633B846F1}">
                <asvg:svgBlip xmlns:asvg="http://schemas.microsoft.com/office/drawing/2016/SVG/main" r:embed="R116361a29060413e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32604" y="2043684"/>
            <a:ext cx="283464" cy="283464"/>
          </a:xfrm>
          <a:prstGeom xmlns:a="http://schemas.openxmlformats.org/drawingml/2006/main" prst="rect">
            <a:avLst/>
          </a:prstGeom>
        </p:spPr>
      </p:pic>
      <p:sp>
        <p:nvSpPr>
          <p:cNvPr id="16" name="Text 11">
            <a:extLst xmlns:a="http://schemas.openxmlformats.org/drawingml/2006/main">
              <a:ext uri="{FF2B5EF4-FFF2-40B4-BE49-F238E27FC236}">
                <a16:creationId xmlns:a16="http://schemas.microsoft.com/office/drawing/2014/main" id="{67F5CB4D-FC06-443A-8634-3A6092A88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9240" y="1947672"/>
            <a:ext cx="2057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70" b="1">
                <a:solidFill>
                  <a:srgbClr val="16324F"/>
                </a:solidFill>
              </a:rPr>
              <a:t>2. Framework packs</a:t>
            </a:r>
            <a:endParaRPr sz="1270"/>
          </a:p>
        </p:txBody>
      </p:sp>
      <p:sp>
        <p:nvSpPr>
          <p:cNvPr id="17" name="Text 12">
            <a:extLst xmlns:a="http://schemas.openxmlformats.org/drawingml/2006/main">
              <a:ext uri="{FF2B5EF4-FFF2-40B4-BE49-F238E27FC236}">
                <a16:creationId xmlns:a16="http://schemas.microsoft.com/office/drawing/2014/main" id="{D5C6B732-766B-4ABA-81DF-4056E3515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6592" y="2542032"/>
            <a:ext cx="274320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70">
                <a:solidFill>
                  <a:srgbClr val="1D2B36"/>
                </a:solidFill>
              </a:rPr>
              <a:t>Versioned health, education and future sector configurations.</a:t>
            </a:r>
            <a:endParaRPr sz="970"/>
          </a:p>
        </p:txBody>
      </p:sp>
      <p:sp>
        <p:nvSpPr>
          <p:cNvPr id="18" name="Shape 13">
            <a:extLst xmlns:a="http://schemas.openxmlformats.org/drawingml/2006/main">
              <a:ext uri="{FF2B5EF4-FFF2-40B4-BE49-F238E27FC236}">
                <a16:creationId xmlns:a16="http://schemas.microsoft.com/office/drawing/2014/main" id="{58A51C59-CBE0-4AD0-849D-1805A50E7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2752" y="1719072"/>
            <a:ext cx="3337560" cy="1755648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2700">
            <a:solidFill>
              <a:srgbClr val="EAF2FF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CBD4DA">
                <a:alpha val="14000"/>
              </a:srgbClr>
            </a:outerShdw>
          </a:effectLst>
        </p:spPr>
      </p:sp>
      <p:sp>
        <p:nvSpPr>
          <p:cNvPr id="19" name="Shape 14">
            <a:extLst xmlns:a="http://schemas.openxmlformats.org/drawingml/2006/main">
              <a:ext uri="{FF2B5EF4-FFF2-40B4-BE49-F238E27FC236}">
                <a16:creationId xmlns:a16="http://schemas.microsoft.com/office/drawing/2014/main" id="{7D8A715A-77FE-48C5-A7D1-B985E88B2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1352" y="1947672"/>
            <a:ext cx="475488" cy="4754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/>
            </a:solidFill>
            <a:prstDash val="solid"/>
          </a:ln>
        </p:spPr>
      </p:sp>
      <p:pic>
        <p:nvPicPr>
          <p:cNvPr id="64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a5fb50fcf341f6">
            <a:extLst>
              <a:ext uri="{96DAC541-7B7A-43D3-8B79-37D633B846F1}">
                <asvg:svgBlip xmlns:asvg="http://schemas.microsoft.com/office/drawing/2016/SVG/main" r:embed="R9b01ea23ecf846b5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27364" y="2043684"/>
            <a:ext cx="283464" cy="283464"/>
          </a:xfrm>
          <a:prstGeom xmlns:a="http://schemas.openxmlformats.org/drawingml/2006/main" prst="rect">
            <a:avLst/>
          </a:prstGeom>
        </p:spPr>
      </p:pic>
      <p:sp>
        <p:nvSpPr>
          <p:cNvPr id="21" name="Text 15">
            <a:extLst xmlns:a="http://schemas.openxmlformats.org/drawingml/2006/main">
              <a:ext uri="{FF2B5EF4-FFF2-40B4-BE49-F238E27FC236}">
                <a16:creationId xmlns:a16="http://schemas.microsoft.com/office/drawing/2014/main" id="{71F7A7EB-B17C-4480-B5ED-8875EA5C6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947672"/>
            <a:ext cx="2057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70" b="1">
                <a:solidFill>
                  <a:srgbClr val="16324F"/>
                </a:solidFill>
              </a:rPr>
              <a:t>3. State / tenant config</a:t>
            </a:r>
            <a:endParaRPr sz="1270"/>
          </a:p>
        </p:txBody>
      </p:sp>
      <p:sp>
        <p:nvSpPr>
          <p:cNvPr id="22" name="Text 16">
            <a:extLst xmlns:a="http://schemas.openxmlformats.org/drawingml/2006/main">
              <a:ext uri="{FF2B5EF4-FFF2-40B4-BE49-F238E27FC236}">
                <a16:creationId xmlns:a16="http://schemas.microsoft.com/office/drawing/2014/main" id="{80C4D715-D183-4CD9-BFFD-39B7197AB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1352" y="2542032"/>
            <a:ext cx="274320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70">
                <a:solidFill>
                  <a:srgbClr val="1D2B36"/>
                </a:solidFill>
              </a:rPr>
              <a:t>Local hierarchy, masters, roles, labels, active modules and deployment settings.</a:t>
            </a:r>
            <a:endParaRPr sz="970"/>
          </a:p>
        </p:txBody>
      </p:sp>
      <p:sp>
        <p:nvSpPr>
          <p:cNvPr id="23" name="Shape 17">
            <a:extLst xmlns:a="http://schemas.openxmlformats.org/drawingml/2006/main">
              <a:ext uri="{FF2B5EF4-FFF2-40B4-BE49-F238E27FC236}">
                <a16:creationId xmlns:a16="http://schemas.microsoft.com/office/drawing/2014/main" id="{8CBA9401-AAC1-4BD9-970A-A2E6E2D42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822192"/>
            <a:ext cx="3337560" cy="1755648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2E7"/>
          </a:solidFill>
          <a:ln xmlns:a="http://schemas.openxmlformats.org/drawingml/2006/main" w="12700">
            <a:solidFill>
              <a:srgbClr val="FFF2E7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CBD4DA">
                <a:alpha val="14000"/>
              </a:srgbClr>
            </a:outerShdw>
          </a:effectLst>
        </p:spPr>
      </p:sp>
      <p:sp>
        <p:nvSpPr>
          <p:cNvPr id="24" name="Shape 18">
            <a:extLst xmlns:a="http://schemas.openxmlformats.org/drawingml/2006/main">
              <a:ext uri="{FF2B5EF4-FFF2-40B4-BE49-F238E27FC236}">
                <a16:creationId xmlns:a16="http://schemas.microsoft.com/office/drawing/2014/main" id="{47394115-28FD-4AEC-B1BF-05E8AE062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4050792"/>
            <a:ext cx="475488" cy="4754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/>
            </a:solidFill>
            <a:prstDash val="solid"/>
          </a:ln>
        </p:spPr>
      </p:sp>
      <p:pic>
        <p:nvPicPr>
          <p:cNvPr id="69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a9fc6307994f8a">
            <a:extLst>
              <a:ext uri="{96DAC541-7B7A-43D3-8B79-37D633B846F1}">
                <asvg:svgBlip xmlns:asvg="http://schemas.microsoft.com/office/drawing/2016/SVG/main" r:embed="Rf38865b36cb9458f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37844" y="4146804"/>
            <a:ext cx="283464" cy="283464"/>
          </a:xfrm>
          <a:prstGeom xmlns:a="http://schemas.openxmlformats.org/drawingml/2006/main" prst="rect">
            <a:avLst/>
          </a:prstGeom>
        </p:spPr>
      </p:pic>
      <p:sp>
        <p:nvSpPr>
          <p:cNvPr id="26" name="Text 19">
            <a:extLst xmlns:a="http://schemas.openxmlformats.org/drawingml/2006/main">
              <a:ext uri="{FF2B5EF4-FFF2-40B4-BE49-F238E27FC236}">
                <a16:creationId xmlns:a16="http://schemas.microsoft.com/office/drawing/2014/main" id="{745D874B-04A8-4D2D-AF01-02564866D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4050792"/>
            <a:ext cx="2057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70" b="1">
                <a:solidFill>
                  <a:srgbClr val="16324F"/>
                </a:solidFill>
              </a:rPr>
              <a:t>4. Contribution flow</a:t>
            </a:r>
            <a:endParaRPr sz="1270"/>
          </a:p>
        </p:txBody>
      </p:sp>
      <p:sp>
        <p:nvSpPr>
          <p:cNvPr id="27" name="Text 20">
            <a:extLst xmlns:a="http://schemas.openxmlformats.org/drawingml/2006/main">
              <a:ext uri="{FF2B5EF4-FFF2-40B4-BE49-F238E27FC236}">
                <a16:creationId xmlns:a16="http://schemas.microsoft.com/office/drawing/2014/main" id="{1946586A-C82A-4B73-AFE5-9CB774D65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4645152"/>
            <a:ext cx="274320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70">
                <a:solidFill>
                  <a:srgbClr val="1D2B36"/>
                </a:solidFill>
              </a:rPr>
              <a:t>Issue → design review → code/config change → test → release notes.</a:t>
            </a:r>
            <a:endParaRPr sz="970"/>
          </a:p>
        </p:txBody>
      </p:sp>
      <p:sp>
        <p:nvSpPr>
          <p:cNvPr id="28" name="Shape 21">
            <a:extLst xmlns:a="http://schemas.openxmlformats.org/drawingml/2006/main">
              <a:ext uri="{FF2B5EF4-FFF2-40B4-BE49-F238E27FC236}">
                <a16:creationId xmlns:a16="http://schemas.microsoft.com/office/drawing/2014/main" id="{4CD78007-A72E-4E09-98A6-ED3AA33D2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7992" y="3822192"/>
            <a:ext cx="3337560" cy="1755648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2EEFF"/>
          </a:solidFill>
          <a:ln xmlns:a="http://schemas.openxmlformats.org/drawingml/2006/main" w="12700">
            <a:solidFill>
              <a:srgbClr val="F2EEFF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CBD4DA">
                <a:alpha val="14000"/>
              </a:srgbClr>
            </a:outerShdw>
          </a:effectLst>
        </p:spPr>
      </p:sp>
      <p:sp>
        <p:nvSpPr>
          <p:cNvPr id="29" name="Shape 22">
            <a:extLst xmlns:a="http://schemas.openxmlformats.org/drawingml/2006/main">
              <a:ext uri="{FF2B5EF4-FFF2-40B4-BE49-F238E27FC236}">
                <a16:creationId xmlns:a16="http://schemas.microsoft.com/office/drawing/2014/main" id="{B07A0DF9-FC57-46A8-94CB-D7BBB7196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6592" y="4050792"/>
            <a:ext cx="475488" cy="4754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/>
            </a:solidFill>
            <a:prstDash val="solid"/>
          </a:ln>
        </p:spPr>
      </p:sp>
      <p:pic>
        <p:nvPicPr>
          <p:cNvPr id="74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9ffb7235e54b98">
            <a:extLst>
              <a:ext uri="{96DAC541-7B7A-43D3-8B79-37D633B846F1}">
                <asvg:svgBlip xmlns:asvg="http://schemas.microsoft.com/office/drawing/2016/SVG/main" r:embed="R243bb638fb014df5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32604" y="4146804"/>
            <a:ext cx="283464" cy="283464"/>
          </a:xfrm>
          <a:prstGeom xmlns:a="http://schemas.openxmlformats.org/drawingml/2006/main" prst="rect">
            <a:avLst/>
          </a:prstGeom>
        </p:spPr>
      </p:pic>
      <p:sp>
        <p:nvSpPr>
          <p:cNvPr id="31" name="Text 23">
            <a:extLst xmlns:a="http://schemas.openxmlformats.org/drawingml/2006/main">
              <a:ext uri="{FF2B5EF4-FFF2-40B4-BE49-F238E27FC236}">
                <a16:creationId xmlns:a16="http://schemas.microsoft.com/office/drawing/2014/main" id="{F6E96F7B-58DE-45B7-9B08-31B88EA31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9240" y="4050792"/>
            <a:ext cx="2057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70" b="1">
                <a:solidFill>
                  <a:srgbClr val="16324F"/>
                </a:solidFill>
              </a:rPr>
              <a:t>5. Documentation</a:t>
            </a:r>
            <a:endParaRPr sz="1270"/>
          </a:p>
        </p:txBody>
      </p:sp>
      <p:sp>
        <p:nvSpPr>
          <p:cNvPr id="32" name="Text 24">
            <a:extLst xmlns:a="http://schemas.openxmlformats.org/drawingml/2006/main">
              <a:ext uri="{FF2B5EF4-FFF2-40B4-BE49-F238E27FC236}">
                <a16:creationId xmlns:a16="http://schemas.microsoft.com/office/drawing/2014/main" id="{C8C63FCE-0838-4E0D-A323-14E24F344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6592" y="4645152"/>
            <a:ext cx="274320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70">
                <a:solidFill>
                  <a:srgbClr val="1D2B36"/>
                </a:solidFill>
              </a:rPr>
              <a:t>User manual, API docs, deployment guide, configuration guide and testing playbook.</a:t>
            </a:r>
            <a:endParaRPr sz="970"/>
          </a:p>
        </p:txBody>
      </p:sp>
      <p:sp>
        <p:nvSpPr>
          <p:cNvPr id="33" name="Shape 25">
            <a:extLst xmlns:a="http://schemas.openxmlformats.org/drawingml/2006/main">
              <a:ext uri="{FF2B5EF4-FFF2-40B4-BE49-F238E27FC236}">
                <a16:creationId xmlns:a16="http://schemas.microsoft.com/office/drawing/2014/main" id="{FA9BD7DB-4116-4AAB-ACFC-B5647113F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2752" y="3822192"/>
            <a:ext cx="3337560" cy="1755648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EAF8F2"/>
          </a:solidFill>
          <a:ln xmlns:a="http://schemas.openxmlformats.org/drawingml/2006/main" w="12700">
            <a:solidFill>
              <a:srgbClr val="EAF8F2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CBD4DA">
                <a:alpha val="14000"/>
              </a:srgbClr>
            </a:outerShdw>
          </a:effectLst>
        </p:spPr>
      </p:sp>
      <p:sp>
        <p:nvSpPr>
          <p:cNvPr id="34" name="Shape 26">
            <a:extLst xmlns:a="http://schemas.openxmlformats.org/drawingml/2006/main">
              <a:ext uri="{FF2B5EF4-FFF2-40B4-BE49-F238E27FC236}">
                <a16:creationId xmlns:a16="http://schemas.microsoft.com/office/drawing/2014/main" id="{B896A176-CACF-4824-B96A-A7ABB5D3C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1352" y="4050792"/>
            <a:ext cx="475488" cy="4754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/>
            </a:solidFill>
            <a:prstDash val="solid"/>
          </a:ln>
        </p:spPr>
      </p:sp>
      <p:pic>
        <p:nvPicPr>
          <p:cNvPr id="79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da0a8c778c40d5">
            <a:extLst>
              <a:ext uri="{96DAC541-7B7A-43D3-8B79-37D633B846F1}">
                <asvg:svgBlip xmlns:asvg="http://schemas.microsoft.com/office/drawing/2016/SVG/main" r:embed="R001c1a6683324b88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27364" y="4146804"/>
            <a:ext cx="283464" cy="283464"/>
          </a:xfrm>
          <a:prstGeom xmlns:a="http://schemas.openxmlformats.org/drawingml/2006/main" prst="rect">
            <a:avLst/>
          </a:prstGeom>
        </p:spPr>
      </p:pic>
      <p:sp>
        <p:nvSpPr>
          <p:cNvPr id="36" name="Text 27">
            <a:extLst xmlns:a="http://schemas.openxmlformats.org/drawingml/2006/main">
              <a:ext uri="{FF2B5EF4-FFF2-40B4-BE49-F238E27FC236}">
                <a16:creationId xmlns:a16="http://schemas.microsoft.com/office/drawing/2014/main" id="{A5521D36-9371-44E2-9F6D-2C6826CCD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50792"/>
            <a:ext cx="2057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70" b="1">
                <a:solidFill>
                  <a:srgbClr val="16324F"/>
                </a:solidFill>
              </a:rPr>
              <a:t>6. Release governance</a:t>
            </a:r>
            <a:endParaRPr sz="1270"/>
          </a:p>
        </p:txBody>
      </p:sp>
      <p:sp>
        <p:nvSpPr>
          <p:cNvPr id="37" name="Text 28">
            <a:extLst xmlns:a="http://schemas.openxmlformats.org/drawingml/2006/main">
              <a:ext uri="{FF2B5EF4-FFF2-40B4-BE49-F238E27FC236}">
                <a16:creationId xmlns:a16="http://schemas.microsoft.com/office/drawing/2014/main" id="{CAB9E15C-2310-4720-B1F9-11B23A61B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1352" y="4645152"/>
            <a:ext cx="274320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70">
                <a:solidFill>
                  <a:srgbClr val="1D2B36"/>
                </a:solidFill>
              </a:rPr>
              <a:t>Versioning, security review, compatibility checks and upgrade path.</a:t>
            </a:r>
            <a:endParaRPr sz="970"/>
          </a:p>
        </p:txBody>
      </p:sp>
      <p:sp>
        <p:nvSpPr>
          <p:cNvPr id="38" name="Text 29">
            <a:extLst xmlns:a="http://schemas.openxmlformats.org/drawingml/2006/main">
              <a:ext uri="{FF2B5EF4-FFF2-40B4-BE49-F238E27FC236}">
                <a16:creationId xmlns:a16="http://schemas.microsoft.com/office/drawing/2014/main" id="{D1AB1791-57B3-49FF-B2C1-E702A96A7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5943600"/>
            <a:ext cx="84124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70" b="1">
                <a:solidFill>
                  <a:srgbClr val="2F6F6A"/>
                </a:solidFill>
              </a:rPr>
              <a:t>Goal: let multiple implementers contribute without fragmenting the product into incompatible forks.</a:t>
            </a:r>
            <a:endParaRPr sz="117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84850684-32FB-4B9F-9F00-08039BEAEF01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292840" y="6574536"/>
            <a:ext cx="347472" cy="1645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8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10487203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C623F411-3AF2-4892-BC84-2D1519706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10312"/>
            <a:ext cx="2011680" cy="27432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2F6F6A"/>
          </a:solidFill>
          <a:ln xmlns:a="http://schemas.openxmlformats.org/drawingml/2006/main" w="12700">
            <a:solidFill>
              <a:srgbClr val="2F6F6A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5135F6A-BB23-4965-AA91-C72C4EC18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51460"/>
            <a:ext cx="1865376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60" b="1" spc="80">
                <a:solidFill>
                  <a:srgbClr val="FFFFFF"/>
                </a:solidFill>
              </a:rPr>
              <a:t>ROADMAP</a:t>
            </a:r>
            <a:endParaRPr sz="76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85295C82-6940-48C7-A800-F07EB2868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11480"/>
            <a:ext cx="1088136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16324F"/>
                </a:solidFill>
                <a:latin typeface="Aptos Display"/>
                <a:ea typeface="Aptos Display"/>
                <a:cs typeface="Aptos Display"/>
              </a:rPr>
              <a:t>Evolution roadmap: from legacy assessment to open digital quality infrastructure</a:t>
            </a:r>
            <a:endParaRPr sz="25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316714C0-686F-46C1-8064-E270E9BB3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69264"/>
            <a:ext cx="7315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0">
            <a:solidFill>
              <a:srgbClr val="F18A2A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E4BEC011-0CCD-4CFD-9B88-338047193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060704"/>
            <a:ext cx="109728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5F7180"/>
                </a:solidFill>
              </a:rPr>
              <a:t>The roadmap shows how functionality matures from digitization into an interoperable, reusable platform.</a:t>
            </a:r>
            <a:endParaRPr sz="1150"/>
          </a:p>
        </p:txBody>
      </p:sp>
      <p:pic>
        <p:nvPicPr>
          <p:cNvPr id="6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aff8d85e9a40f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329184"/>
            <a:ext cx="841248" cy="292608"/>
          </a:xfrm>
          <a:prstGeom xmlns:a="http://schemas.openxmlformats.org/drawingml/2006/main" prst="rect">
            <a:avLst/>
          </a:prstGeom>
        </p:spPr>
      </p:pic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74B6B6D8-BF0A-4969-993F-D5765FE36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1828800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6A"/>
          </a:solidFill>
          <a:ln xmlns:a="http://schemas.openxmlformats.org/drawingml/2006/main" w="12700">
            <a:solidFill>
              <a:srgbClr val="2F6F6A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6C2D744C-05A2-417B-BC84-42B6D5377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2011680"/>
            <a:ext cx="566928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</a:rPr>
              <a:t>0</a:t>
            </a:r>
            <a:endParaRPr sz="850"/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9AEE1314-9DA9-4AA7-8934-DBC86AA41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7592" y="2112264"/>
            <a:ext cx="74980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B6C4CD"/>
            </a:solidFill>
            <a:prstDash val="solid"/>
            <a:tailEnd type="triangle"/>
          </a:ln>
        </p:spPr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9BAD6AFA-1833-41CC-9D56-C1649B7E7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33472"/>
            <a:ext cx="11430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30" b="1">
                <a:solidFill>
                  <a:srgbClr val="16324F"/>
                </a:solidFill>
              </a:rPr>
              <a:t>Legacy</a:t>
            </a:r>
            <a:endParaRPr sz="103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ADE79DCD-790C-436A-85D2-0314D2712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" y="3081528"/>
            <a:ext cx="12801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10">
                <a:solidFill>
                  <a:srgbClr val="5F7180"/>
                </a:solidFill>
              </a:rPr>
              <a:t>Paper / Excel</a:t>
            </a:r>
            <a:endParaRPr sz="810"/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CBDDA15F-2CA7-4624-988E-DA10FA059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9112" y="1828800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6A"/>
          </a:solidFill>
          <a:ln xmlns:a="http://schemas.openxmlformats.org/drawingml/2006/main" w="12700">
            <a:solidFill>
              <a:srgbClr val="2F6F6A"/>
            </a:solidFill>
            <a:prstDash val="solid"/>
          </a:ln>
        </p:spPr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1B699E20-348D-4A76-B465-53BC652B1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9112" y="2011680"/>
            <a:ext cx="566928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</a:rPr>
              <a:t>1</a:t>
            </a:r>
            <a:endParaRPr sz="850"/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5BFC8278-2DEB-4E33-AB13-44CE1013C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6040" y="2112264"/>
            <a:ext cx="74980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B6C4CD"/>
            </a:solidFill>
            <a:prstDash val="solid"/>
            <a:tailEnd type="triangle"/>
          </a:ln>
        </p:spPr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20580983-F2A0-431F-A66F-6267C1D8D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5648" y="2633472"/>
            <a:ext cx="11430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30" b="1">
                <a:solidFill>
                  <a:srgbClr val="16324F"/>
                </a:solidFill>
              </a:rPr>
              <a:t>Digital</a:t>
            </a:r>
            <a:endParaRPr sz="1030"/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661D9A13-DD86-4A63-8404-9346C541F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3081528"/>
            <a:ext cx="12801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10">
                <a:solidFill>
                  <a:srgbClr val="5F7180"/>
                </a:solidFill>
              </a:rPr>
              <a:t>Assessment engine</a:t>
            </a:r>
            <a:endParaRPr sz="810"/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D7864FE1-28C2-4A89-A92E-BCA67A6F3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7560" y="1828800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6A"/>
          </a:solidFill>
          <a:ln xmlns:a="http://schemas.openxmlformats.org/drawingml/2006/main" w="12700">
            <a:solidFill>
              <a:srgbClr val="2F6F6A"/>
            </a:solidFill>
            <a:prstDash val="solid"/>
          </a:ln>
        </p:spPr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E0649676-7643-4FD1-8FA0-0BB2DD552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7560" y="2011680"/>
            <a:ext cx="566928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</a:rPr>
              <a:t>2</a:t>
            </a:r>
            <a:endParaRPr sz="850"/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BB31E188-ABB0-41A0-8502-896279BB5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4488" y="2112264"/>
            <a:ext cx="74980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B6C4CD"/>
            </a:solidFill>
            <a:prstDash val="solid"/>
            <a:tailEnd type="triangle"/>
          </a:ln>
        </p:spPr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7CD0C9D6-096A-4487-887A-70E5894A4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4096" y="2633472"/>
            <a:ext cx="11430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30" b="1">
                <a:solidFill>
                  <a:srgbClr val="16324F"/>
                </a:solidFill>
              </a:rPr>
              <a:t>Framework</a:t>
            </a:r>
            <a:endParaRPr sz="1030"/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9FAFEDAF-9133-49F9-827A-7E8C4711B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088" y="3081528"/>
            <a:ext cx="12801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10">
                <a:solidFill>
                  <a:srgbClr val="5F7180"/>
                </a:solidFill>
              </a:rPr>
              <a:t>JSON-driven configuration</a:t>
            </a:r>
            <a:endParaRPr sz="810"/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6E4EADCF-A05B-4936-B11D-E57556A4E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6008" y="1828800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7FF9"/>
          </a:solidFill>
          <a:ln xmlns:a="http://schemas.openxmlformats.org/drawingml/2006/main" w="12700">
            <a:solidFill>
              <a:srgbClr val="2D7FF9"/>
            </a:solidFill>
            <a:prstDash val="solid"/>
          </a:ln>
        </p:spPr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16C28237-E399-4A54-9595-D3B6777E4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6008" y="2011680"/>
            <a:ext cx="566928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</a:rPr>
              <a:t>3</a:t>
            </a:r>
            <a:endParaRPr sz="850"/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F43BF4C3-47B3-4176-A7B5-B4EFDC26A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2936" y="2112264"/>
            <a:ext cx="74980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B6C4CD"/>
            </a:solidFill>
            <a:prstDash val="solid"/>
            <a:tailEnd type="triangle"/>
          </a:ln>
        </p:spPr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A8A67817-16D5-4BFE-B550-666D91B24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544" y="2633472"/>
            <a:ext cx="11430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30" b="1">
                <a:solidFill>
                  <a:srgbClr val="16324F"/>
                </a:solidFill>
              </a:rPr>
              <a:t>CQI</a:t>
            </a:r>
            <a:endParaRPr sz="1030"/>
          </a:p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655F2B7F-E234-470B-9580-6468F1E4C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8536" y="3081528"/>
            <a:ext cx="12801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10">
                <a:solidFill>
                  <a:srgbClr val="5F7180"/>
                </a:solidFill>
              </a:rPr>
              <a:t>Gap → action → closure</a:t>
            </a:r>
            <a:endParaRPr sz="810"/>
          </a:p>
        </p:txBody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0F2EBE55-357D-4459-886B-1C7C1A58B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456" y="1828800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7FF9"/>
          </a:solidFill>
          <a:ln xmlns:a="http://schemas.openxmlformats.org/drawingml/2006/main" w="12700">
            <a:solidFill>
              <a:srgbClr val="2D7FF9"/>
            </a:solidFill>
            <a:prstDash val="solid"/>
          </a:ln>
        </p:spPr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94AEA2F5-B05C-4C80-A4EA-52AA5776B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456" y="2011680"/>
            <a:ext cx="566928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</a:rPr>
              <a:t>4</a:t>
            </a:r>
            <a:endParaRPr sz="850"/>
          </a:p>
        </p:txBody>
      </p:sp>
      <p:sp>
        <p:nvSpPr>
          <p:cNvPr id="30" name="Shape 27">
            <a:extLst xmlns:a="http://schemas.openxmlformats.org/drawingml/2006/main">
              <a:ext uri="{FF2B5EF4-FFF2-40B4-BE49-F238E27FC236}">
                <a16:creationId xmlns:a16="http://schemas.microsoft.com/office/drawing/2014/main" id="{EAA06895-9A5B-4DB1-9CF2-2D61E39A3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1384" y="2112264"/>
            <a:ext cx="74980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B6C4CD"/>
            </a:solidFill>
            <a:prstDash val="solid"/>
            <a:tailEnd type="triangle"/>
          </a:ln>
        </p:spPr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7BD28020-889C-490A-A2D0-C90D4B7DF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0992" y="2633472"/>
            <a:ext cx="11430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30" b="1">
                <a:solidFill>
                  <a:srgbClr val="16324F"/>
                </a:solidFill>
              </a:rPr>
              <a:t>Performance</a:t>
            </a:r>
            <a:endParaRPr sz="1030"/>
          </a:p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8A0F90B8-6DA5-4776-B2E1-4C20B0B1D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6984" y="3081528"/>
            <a:ext cx="12801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10">
                <a:solidFill>
                  <a:srgbClr val="5F7180"/>
                </a:solidFill>
              </a:rPr>
              <a:t>KPI / outcomes</a:t>
            </a:r>
            <a:endParaRPr sz="810"/>
          </a:p>
        </p:txBody>
      </p:sp>
      <p:sp>
        <p:nvSpPr>
          <p:cNvPr id="33" name="Shape 30">
            <a:extLst xmlns:a="http://schemas.openxmlformats.org/drawingml/2006/main">
              <a:ext uri="{FF2B5EF4-FFF2-40B4-BE49-F238E27FC236}">
                <a16:creationId xmlns:a16="http://schemas.microsoft.com/office/drawing/2014/main" id="{08ABE762-747F-40EA-80D7-02098B7C3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2904" y="1828800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7FF9"/>
          </a:solidFill>
          <a:ln xmlns:a="http://schemas.openxmlformats.org/drawingml/2006/main" w="12700">
            <a:solidFill>
              <a:srgbClr val="2D7FF9"/>
            </a:solidFill>
            <a:prstDash val="solid"/>
          </a:ln>
        </p:spPr>
      </p:sp>
      <p:sp>
        <p:nvSpPr>
          <p:cNvPr id="34" name="Text 31">
            <a:extLst xmlns:a="http://schemas.openxmlformats.org/drawingml/2006/main">
              <a:ext uri="{FF2B5EF4-FFF2-40B4-BE49-F238E27FC236}">
                <a16:creationId xmlns:a16="http://schemas.microsoft.com/office/drawing/2014/main" id="{8FC3BC0E-C2D5-425E-BAE2-69878BE72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2904" y="2011680"/>
            <a:ext cx="566928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</a:rPr>
              <a:t>5</a:t>
            </a:r>
            <a:endParaRPr sz="850"/>
          </a:p>
        </p:txBody>
      </p:sp>
      <p:sp>
        <p:nvSpPr>
          <p:cNvPr id="35" name="Shape 32">
            <a:extLst xmlns:a="http://schemas.openxmlformats.org/drawingml/2006/main">
              <a:ext uri="{FF2B5EF4-FFF2-40B4-BE49-F238E27FC236}">
                <a16:creationId xmlns:a16="http://schemas.microsoft.com/office/drawing/2014/main" id="{19382F30-5033-48B8-A6EC-3B464F5CA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9832" y="2112264"/>
            <a:ext cx="74980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B6C4CD"/>
            </a:solidFill>
            <a:prstDash val="solid"/>
            <a:tailEnd type="triangle"/>
          </a:ln>
        </p:spPr>
      </p:sp>
      <p:sp>
        <p:nvSpPr>
          <p:cNvPr id="36" name="Text 33">
            <a:extLst xmlns:a="http://schemas.openxmlformats.org/drawingml/2006/main">
              <a:ext uri="{FF2B5EF4-FFF2-40B4-BE49-F238E27FC236}">
                <a16:creationId xmlns:a16="http://schemas.microsoft.com/office/drawing/2014/main" id="{A0C54DD0-3DFD-4CE5-B1B7-3C250761B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2633472"/>
            <a:ext cx="11430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30" b="1">
                <a:solidFill>
                  <a:srgbClr val="16324F"/>
                </a:solidFill>
              </a:rPr>
              <a:t>Certification</a:t>
            </a:r>
            <a:endParaRPr sz="1030"/>
          </a:p>
        </p:txBody>
      </p:sp>
      <p:sp>
        <p:nvSpPr>
          <p:cNvPr id="37" name="Text 34">
            <a:extLst xmlns:a="http://schemas.openxmlformats.org/drawingml/2006/main">
              <a:ext uri="{FF2B5EF4-FFF2-40B4-BE49-F238E27FC236}">
                <a16:creationId xmlns:a16="http://schemas.microsoft.com/office/drawing/2014/main" id="{910C2F02-50C4-4796-A24A-A937B1047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5432" y="3081528"/>
            <a:ext cx="12801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10">
                <a:solidFill>
                  <a:srgbClr val="5F7180"/>
                </a:solidFill>
              </a:rPr>
              <a:t>Validity &amp; renewal</a:t>
            </a:r>
            <a:endParaRPr sz="810"/>
          </a:p>
        </p:txBody>
      </p:sp>
      <p:sp>
        <p:nvSpPr>
          <p:cNvPr id="38" name="Shape 35">
            <a:extLst xmlns:a="http://schemas.openxmlformats.org/drawingml/2006/main">
              <a:ext uri="{FF2B5EF4-FFF2-40B4-BE49-F238E27FC236}">
                <a16:creationId xmlns:a16="http://schemas.microsoft.com/office/drawing/2014/main" id="{D73FE34A-E669-4F4B-A4C9-6178DFE55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1352" y="1828800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12700">
            <a:solidFill>
              <a:srgbClr val="16324F"/>
            </a:solidFill>
            <a:prstDash val="solid"/>
          </a:ln>
        </p:spPr>
      </p:sp>
      <p:sp>
        <p:nvSpPr>
          <p:cNvPr id="39" name="Text 36">
            <a:extLst xmlns:a="http://schemas.openxmlformats.org/drawingml/2006/main">
              <a:ext uri="{FF2B5EF4-FFF2-40B4-BE49-F238E27FC236}">
                <a16:creationId xmlns:a16="http://schemas.microsoft.com/office/drawing/2014/main" id="{3B79992E-9732-4474-A3D4-904A37A63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1352" y="2011680"/>
            <a:ext cx="566928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</a:rPr>
              <a:t>6</a:t>
            </a:r>
            <a:endParaRPr sz="850"/>
          </a:p>
        </p:txBody>
      </p:sp>
      <p:sp>
        <p:nvSpPr>
          <p:cNvPr id="40" name="Shape 37">
            <a:extLst xmlns:a="http://schemas.openxmlformats.org/drawingml/2006/main">
              <a:ext uri="{FF2B5EF4-FFF2-40B4-BE49-F238E27FC236}">
                <a16:creationId xmlns:a16="http://schemas.microsoft.com/office/drawing/2014/main" id="{D61FF408-9848-4049-8A8D-EEC356B66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8280" y="2112264"/>
            <a:ext cx="74980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B6C4CD"/>
            </a:solidFill>
            <a:prstDash val="solid"/>
            <a:tailEnd type="triangle"/>
          </a:ln>
        </p:spPr>
      </p:sp>
      <p:sp>
        <p:nvSpPr>
          <p:cNvPr id="41" name="Text 38">
            <a:extLst xmlns:a="http://schemas.openxmlformats.org/drawingml/2006/main">
              <a:ext uri="{FF2B5EF4-FFF2-40B4-BE49-F238E27FC236}">
                <a16:creationId xmlns:a16="http://schemas.microsoft.com/office/drawing/2014/main" id="{03A49AB3-4924-45D7-9C44-A646334BE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7888" y="2633472"/>
            <a:ext cx="11430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30" b="1">
                <a:solidFill>
                  <a:srgbClr val="16324F"/>
                </a:solidFill>
              </a:rPr>
              <a:t>Dashboards</a:t>
            </a:r>
            <a:endParaRPr sz="1030"/>
          </a:p>
        </p:txBody>
      </p:sp>
      <p:sp>
        <p:nvSpPr>
          <p:cNvPr id="42" name="Text 39">
            <a:extLst xmlns:a="http://schemas.openxmlformats.org/drawingml/2006/main">
              <a:ext uri="{FF2B5EF4-FFF2-40B4-BE49-F238E27FC236}">
                <a16:creationId xmlns:a16="http://schemas.microsoft.com/office/drawing/2014/main" id="{927DA95B-EAF7-4761-A0B8-BAEAFECDB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3081528"/>
            <a:ext cx="12801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10">
                <a:solidFill>
                  <a:srgbClr val="5F7180"/>
                </a:solidFill>
              </a:rPr>
              <a:t>Monitoring &amp; drill-down</a:t>
            </a:r>
            <a:endParaRPr sz="810"/>
          </a:p>
        </p:txBody>
      </p:sp>
      <p:sp>
        <p:nvSpPr>
          <p:cNvPr id="43" name="Shape 40">
            <a:extLst xmlns:a="http://schemas.openxmlformats.org/drawingml/2006/main">
              <a:ext uri="{FF2B5EF4-FFF2-40B4-BE49-F238E27FC236}">
                <a16:creationId xmlns:a16="http://schemas.microsoft.com/office/drawing/2014/main" id="{0569E3D8-BBF5-4328-8A89-E7101D628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1828800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12700">
            <a:solidFill>
              <a:srgbClr val="16324F"/>
            </a:solidFill>
            <a:prstDash val="solid"/>
          </a:ln>
        </p:spPr>
      </p:sp>
      <p:sp>
        <p:nvSpPr>
          <p:cNvPr id="44" name="Text 41">
            <a:extLst xmlns:a="http://schemas.openxmlformats.org/drawingml/2006/main">
              <a:ext uri="{FF2B5EF4-FFF2-40B4-BE49-F238E27FC236}">
                <a16:creationId xmlns:a16="http://schemas.microsoft.com/office/drawing/2014/main" id="{FAF4F58B-B11F-444B-8937-308BBB3B6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011680"/>
            <a:ext cx="566928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</a:rPr>
              <a:t>7</a:t>
            </a:r>
            <a:endParaRPr sz="850"/>
          </a:p>
        </p:txBody>
      </p:sp>
      <p:sp>
        <p:nvSpPr>
          <p:cNvPr id="45" name="Shape 42">
            <a:extLst xmlns:a="http://schemas.openxmlformats.org/drawingml/2006/main">
              <a:ext uri="{FF2B5EF4-FFF2-40B4-BE49-F238E27FC236}">
                <a16:creationId xmlns:a16="http://schemas.microsoft.com/office/drawing/2014/main" id="{26DD49FD-E6DA-4E77-A644-23579C451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2112264"/>
            <a:ext cx="74980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B6C4CD"/>
            </a:solidFill>
            <a:prstDash val="solid"/>
            <a:tailEnd type="triangle"/>
          </a:ln>
        </p:spPr>
      </p:sp>
      <p:sp>
        <p:nvSpPr>
          <p:cNvPr id="46" name="Text 43">
            <a:extLst xmlns:a="http://schemas.openxmlformats.org/drawingml/2006/main">
              <a:ext uri="{FF2B5EF4-FFF2-40B4-BE49-F238E27FC236}">
                <a16:creationId xmlns:a16="http://schemas.microsoft.com/office/drawing/2014/main" id="{55CC61F2-7969-43EC-98A9-F9DFF1852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6336" y="2633472"/>
            <a:ext cx="11430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30" b="1">
                <a:solidFill>
                  <a:srgbClr val="16324F"/>
                </a:solidFill>
              </a:rPr>
              <a:t>Analytics</a:t>
            </a:r>
            <a:endParaRPr sz="1030"/>
          </a:p>
        </p:txBody>
      </p:sp>
      <p:sp>
        <p:nvSpPr>
          <p:cNvPr id="47" name="Text 44">
            <a:extLst xmlns:a="http://schemas.openxmlformats.org/drawingml/2006/main">
              <a:ext uri="{FF2B5EF4-FFF2-40B4-BE49-F238E27FC236}">
                <a16:creationId xmlns:a16="http://schemas.microsoft.com/office/drawing/2014/main" id="{82B47BA4-BBA3-481D-BBAD-3B82E44AF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328" y="3081528"/>
            <a:ext cx="12801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10">
                <a:solidFill>
                  <a:srgbClr val="5F7180"/>
                </a:solidFill>
              </a:rPr>
              <a:t>Trends &amp; exports</a:t>
            </a:r>
            <a:endParaRPr sz="810"/>
          </a:p>
        </p:txBody>
      </p:sp>
      <p:sp>
        <p:nvSpPr>
          <p:cNvPr id="48" name="Shape 45">
            <a:extLst xmlns:a="http://schemas.openxmlformats.org/drawingml/2006/main">
              <a:ext uri="{FF2B5EF4-FFF2-40B4-BE49-F238E27FC236}">
                <a16:creationId xmlns:a16="http://schemas.microsoft.com/office/drawing/2014/main" id="{2016EA31-C8F1-4086-99E2-B4C05E92F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8248" y="1828800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8A2A"/>
          </a:solidFill>
          <a:ln xmlns:a="http://schemas.openxmlformats.org/drawingml/2006/main" w="12700">
            <a:solidFill>
              <a:srgbClr val="F18A2A"/>
            </a:solidFill>
            <a:prstDash val="solid"/>
          </a:ln>
        </p:spPr>
      </p:sp>
      <p:sp>
        <p:nvSpPr>
          <p:cNvPr id="49" name="Text 46">
            <a:extLst xmlns:a="http://schemas.openxmlformats.org/drawingml/2006/main">
              <a:ext uri="{FF2B5EF4-FFF2-40B4-BE49-F238E27FC236}">
                <a16:creationId xmlns:a16="http://schemas.microsoft.com/office/drawing/2014/main" id="{8F056D91-9BCF-4378-9AB2-0CDA602BA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8248" y="2011680"/>
            <a:ext cx="566928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</a:rPr>
              <a:t>8</a:t>
            </a:r>
            <a:endParaRPr sz="850"/>
          </a:p>
        </p:txBody>
      </p:sp>
      <p:sp>
        <p:nvSpPr>
          <p:cNvPr id="50" name="Text 47">
            <a:extLst xmlns:a="http://schemas.openxmlformats.org/drawingml/2006/main">
              <a:ext uri="{FF2B5EF4-FFF2-40B4-BE49-F238E27FC236}">
                <a16:creationId xmlns:a16="http://schemas.microsoft.com/office/drawing/2014/main" id="{06072642-9014-4E1B-905D-370906596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44784" y="2633472"/>
            <a:ext cx="11430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30" b="1">
                <a:solidFill>
                  <a:srgbClr val="16324F"/>
                </a:solidFill>
              </a:rPr>
              <a:t>Open ecosystem</a:t>
            </a:r>
            <a:endParaRPr sz="1030"/>
          </a:p>
        </p:txBody>
      </p:sp>
      <p:sp>
        <p:nvSpPr>
          <p:cNvPr id="51" name="Text 48">
            <a:extLst xmlns:a="http://schemas.openxmlformats.org/drawingml/2006/main">
              <a:ext uri="{FF2B5EF4-FFF2-40B4-BE49-F238E27FC236}">
                <a16:creationId xmlns:a16="http://schemas.microsoft.com/office/drawing/2014/main" id="{11FF54ED-54B6-4896-89DA-DD66103DF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0776" y="3081528"/>
            <a:ext cx="12801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10">
                <a:solidFill>
                  <a:srgbClr val="5F7180"/>
                </a:solidFill>
              </a:rPr>
              <a:t>APIs • sector packs • contributions</a:t>
            </a:r>
            <a:endParaRPr sz="810"/>
          </a:p>
        </p:txBody>
      </p:sp>
      <p:sp>
        <p:nvSpPr>
          <p:cNvPr id="52" name="Shape 49">
            <a:extLst xmlns:a="http://schemas.openxmlformats.org/drawingml/2006/main">
              <a:ext uri="{FF2B5EF4-FFF2-40B4-BE49-F238E27FC236}">
                <a16:creationId xmlns:a16="http://schemas.microsoft.com/office/drawing/2014/main" id="{6D1DE054-4644-4438-8B4F-2569510DC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251960"/>
            <a:ext cx="10652760" cy="1325880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16324F"/>
          </a:solidFill>
          <a:ln xmlns:a="http://schemas.openxmlformats.org/drawingml/2006/main" w="12700">
            <a:solidFill>
              <a:srgbClr val="16324F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CBD4DA">
                <a:alpha val="14000"/>
              </a:srgbClr>
            </a:outerShdw>
          </a:effectLst>
        </p:spPr>
      </p:sp>
      <p:sp>
        <p:nvSpPr>
          <p:cNvPr id="53" name="Text 50">
            <a:extLst xmlns:a="http://schemas.openxmlformats.org/drawingml/2006/main">
              <a:ext uri="{FF2B5EF4-FFF2-40B4-BE49-F238E27FC236}">
                <a16:creationId xmlns:a16="http://schemas.microsoft.com/office/drawing/2014/main" id="{95F52407-38BB-40B8-8A47-510865063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53712"/>
            <a:ext cx="29260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FFFFFF"/>
                </a:solidFill>
              </a:rPr>
              <a:t>What makes Phase 8 different?</a:t>
            </a:r>
            <a:endParaRPr sz="1700"/>
          </a:p>
        </p:txBody>
      </p:sp>
      <p:sp>
        <p:nvSpPr>
          <p:cNvPr id="54" name="Text 51">
            <a:extLst xmlns:a="http://schemas.openxmlformats.org/drawingml/2006/main">
              <a:ext uri="{FF2B5EF4-FFF2-40B4-BE49-F238E27FC236}">
                <a16:creationId xmlns:a16="http://schemas.microsoft.com/office/drawing/2014/main" id="{14A2CF97-5D01-402F-9857-C68DF902A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507992"/>
            <a:ext cx="690372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30">
                <a:solidFill>
                  <a:srgbClr val="DDE7ED"/>
                </a:solidFill>
              </a:rPr>
              <a:t>The platform is no longer “a SaQshi deployment.” It becomes a reusable ecosystem where new frameworks, sectors, states and implementers can extend a stable common core.</a:t>
            </a:r>
            <a:endParaRPr sz="1130"/>
          </a:p>
        </p:txBody>
      </p:sp>
      <p:sp>
        <p:nvSpPr>
          <p:cNvPr id="55" name="Shape 52">
            <a:extLst xmlns:a="http://schemas.openxmlformats.org/drawingml/2006/main">
              <a:ext uri="{FF2B5EF4-FFF2-40B4-BE49-F238E27FC236}">
                <a16:creationId xmlns:a16="http://schemas.microsoft.com/office/drawing/2014/main" id="{21F31097-C2D5-4336-AB44-CBA3A5329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0" y="5074920"/>
            <a:ext cx="2148840" cy="310896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2F6F6A"/>
          </a:solidFill>
          <a:ln xmlns:a="http://schemas.openxmlformats.org/drawingml/2006/main" w="12700">
            <a:solidFill>
              <a:srgbClr val="2F6F6A"/>
            </a:solidFill>
            <a:prstDash val="solid"/>
          </a:ln>
        </p:spPr>
      </p:sp>
      <p:sp>
        <p:nvSpPr>
          <p:cNvPr id="56" name="Text 53">
            <a:extLst xmlns:a="http://schemas.openxmlformats.org/drawingml/2006/main">
              <a:ext uri="{FF2B5EF4-FFF2-40B4-BE49-F238E27FC236}">
                <a16:creationId xmlns:a16="http://schemas.microsoft.com/office/drawing/2014/main" id="{010D1DF3-95F2-4DCE-8506-B8D3A107A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5072" y="5138928"/>
            <a:ext cx="200253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80" b="1">
                <a:solidFill>
                  <a:srgbClr val="FFFFFF"/>
                </a:solidFill>
              </a:rPr>
              <a:t>CONFIGURATION OVER CUSTOM CODE</a:t>
            </a:r>
            <a:endParaRPr sz="880"/>
          </a:p>
        </p:txBody>
      </p:sp>
      <p:sp>
        <p:nvSpPr>
          <p:cNvPr id="57" name="Shape 54">
            <a:extLst xmlns:a="http://schemas.openxmlformats.org/drawingml/2006/main">
              <a:ext uri="{FF2B5EF4-FFF2-40B4-BE49-F238E27FC236}">
                <a16:creationId xmlns:a16="http://schemas.microsoft.com/office/drawing/2014/main" id="{94AAF7A7-A88E-4501-8C63-65D7868F2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5074920"/>
            <a:ext cx="1325880" cy="310896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2D7FF9"/>
          </a:solidFill>
          <a:ln xmlns:a="http://schemas.openxmlformats.org/drawingml/2006/main" w="12700">
            <a:solidFill>
              <a:srgbClr val="2D7FF9"/>
            </a:solidFill>
            <a:prstDash val="solid"/>
          </a:ln>
        </p:spPr>
      </p:sp>
      <p:sp>
        <p:nvSpPr>
          <p:cNvPr id="58" name="Text 55">
            <a:extLst xmlns:a="http://schemas.openxmlformats.org/drawingml/2006/main">
              <a:ext uri="{FF2B5EF4-FFF2-40B4-BE49-F238E27FC236}">
                <a16:creationId xmlns:a16="http://schemas.microsoft.com/office/drawing/2014/main" id="{9E03231D-6186-493F-BA5F-5FD846279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6792" y="5138928"/>
            <a:ext cx="117957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80" b="1">
                <a:solidFill>
                  <a:srgbClr val="FFFFFF"/>
                </a:solidFill>
              </a:rPr>
              <a:t>OPEN APIS</a:t>
            </a:r>
            <a:endParaRPr sz="880"/>
          </a:p>
        </p:txBody>
      </p:sp>
      <p:sp>
        <p:nvSpPr>
          <p:cNvPr id="59" name="Shape 56">
            <a:extLst xmlns:a="http://schemas.openxmlformats.org/drawingml/2006/main">
              <a:ext uri="{FF2B5EF4-FFF2-40B4-BE49-F238E27FC236}">
                <a16:creationId xmlns:a16="http://schemas.microsoft.com/office/drawing/2014/main" id="{D39EB3F6-213D-44D8-BDE9-1468BC498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074920"/>
            <a:ext cx="2057400" cy="310896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F18A2A"/>
          </a:solidFill>
          <a:ln xmlns:a="http://schemas.openxmlformats.org/drawingml/2006/main" w="12700">
            <a:solidFill>
              <a:srgbClr val="F18A2A"/>
            </a:solidFill>
            <a:prstDash val="solid"/>
          </a:ln>
        </p:spPr>
      </p:sp>
      <p:sp>
        <p:nvSpPr>
          <p:cNvPr id="60" name="Text 57">
            <a:extLst xmlns:a="http://schemas.openxmlformats.org/drawingml/2006/main">
              <a:ext uri="{FF2B5EF4-FFF2-40B4-BE49-F238E27FC236}">
                <a16:creationId xmlns:a16="http://schemas.microsoft.com/office/drawing/2014/main" id="{60778205-31F9-4A65-BB33-E25AC6EE6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5552" y="5138928"/>
            <a:ext cx="191109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80" b="1">
                <a:solidFill>
                  <a:srgbClr val="FFFFFF"/>
                </a:solidFill>
              </a:rPr>
              <a:t>REUSABLE SECTOR PACKS</a:t>
            </a:r>
            <a:endParaRPr sz="880"/>
          </a:p>
        </p:txBody>
      </p:sp>
      <p:sp>
        <p:nvSpPr>
          <p:cNvPr id="62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83D2342F-E011-475D-BDA7-228BEFD01038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292840" y="6574536"/>
            <a:ext cx="347472" cy="1645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8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83550487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0E24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5d7a1832054cf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8368" y="530352"/>
            <a:ext cx="2148840" cy="740664"/>
          </a:xfrm>
          <a:prstGeom xmlns:a="http://schemas.openxmlformats.org/drawingml/2006/main" prst="rect">
            <a:avLst/>
          </a:prstGeom>
        </p:spPr>
      </p:pic>
      <p:sp>
        <p:nvSpPr>
          <p:cNvPr id="3" name="Shape 0">
            <a:extLst xmlns:a="http://schemas.openxmlformats.org/drawingml/2006/main">
              <a:ext uri="{FF2B5EF4-FFF2-40B4-BE49-F238E27FC236}">
                <a16:creationId xmlns:a16="http://schemas.microsoft.com/office/drawing/2014/main" id="{B258E282-4227-4E10-BE0A-545B26D96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554480"/>
            <a:ext cx="2697480" cy="310896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F18A2A"/>
          </a:solidFill>
          <a:ln xmlns:a="http://schemas.openxmlformats.org/drawingml/2006/main" w="12700">
            <a:solidFill>
              <a:srgbClr val="F18A2A"/>
            </a:solidFill>
            <a:prstDash val="solid"/>
          </a:ln>
        </p:spPr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C8DAE1EC-5AF7-4052-9297-40A3334C4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618488"/>
            <a:ext cx="255117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80" b="1">
                <a:solidFill>
                  <a:srgbClr val="FFFFFF"/>
                </a:solidFill>
              </a:rPr>
              <a:t>QUALITY IMPROVEMENT INFRASTRUCTURE</a:t>
            </a:r>
            <a:endParaRPr sz="88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40058941-6031-4AAF-A3A1-A59FF02FD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148840"/>
            <a:ext cx="790956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FFFFFF"/>
                </a:solidFill>
              </a:rPr>
              <a:t>SaQshi connects standards, people, evidence and outcomes in one continuous digital loop.</a:t>
            </a:r>
            <a:endParaRPr sz="3000"/>
          </a:p>
        </p:txBody>
      </p:sp>
      <p:pic>
        <p:nvPicPr>
          <p:cNvPr id="29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89fa4c60384490">
            <a:extLst>
              <a:ext uri="{96DAC541-7B7A-43D3-8B79-37D633B846F1}">
                <asvg:svgBlip xmlns:asvg="http://schemas.microsoft.com/office/drawing/2016/SVG/main" r:embed="R1e894763448044ad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3232" y="3858768"/>
            <a:ext cx="320040" cy="320040"/>
          </a:xfrm>
          <a:prstGeom xmlns:a="http://schemas.openxmlformats.org/drawingml/2006/main" prst="rect">
            <a:avLst/>
          </a:prstGeom>
        </p:spPr>
      </p:pic>
      <p:sp>
        <p:nvSpPr>
          <p:cNvPr id="7" name="Text 3">
            <a:extLst xmlns:a="http://schemas.openxmlformats.org/drawingml/2006/main">
              <a:ext uri="{FF2B5EF4-FFF2-40B4-BE49-F238E27FC236}">
                <a16:creationId xmlns:a16="http://schemas.microsoft.com/office/drawing/2014/main" id="{E580E3F7-52C1-40A3-9E91-5EF0055A1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152" y="3849624"/>
            <a:ext cx="1234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DDEBE8"/>
                </a:solidFill>
              </a:rPr>
              <a:t>Cross-sector</a:t>
            </a:r>
            <a:endParaRPr sz="1150"/>
          </a:p>
        </p:txBody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5CAFB20B-646E-4929-85DE-6651BAB79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3160" y="3849624"/>
            <a:ext cx="63093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20">
                <a:solidFill>
                  <a:srgbClr val="BBD0D9"/>
                </a:solidFill>
              </a:rPr>
              <a:t>Health today. Education now. More sectors without rebuilding the core.</a:t>
            </a:r>
            <a:endParaRPr sz="1020"/>
          </a:p>
        </p:txBody>
      </p:sp>
      <p:pic>
        <p:nvPicPr>
          <p:cNvPr id="32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7a1faa9f374365">
            <a:extLst>
              <a:ext uri="{96DAC541-7B7A-43D3-8B79-37D633B846F1}">
                <asvg:svgBlip xmlns:asvg="http://schemas.microsoft.com/office/drawing/2016/SVG/main" r:embed="Rc9ddc748ec6e49ef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3232" y="4572000"/>
            <a:ext cx="320040" cy="320040"/>
          </a:xfrm>
          <a:prstGeom xmlns:a="http://schemas.openxmlformats.org/drawingml/2006/main" prst="rect">
            <a:avLst/>
          </a:prstGeom>
        </p:spPr>
      </p:pic>
      <p:sp>
        <p:nvSpPr>
          <p:cNvPr id="10" name="Text 5">
            <a:extLst xmlns:a="http://schemas.openxmlformats.org/drawingml/2006/main">
              <a:ext uri="{FF2B5EF4-FFF2-40B4-BE49-F238E27FC236}">
                <a16:creationId xmlns:a16="http://schemas.microsoft.com/office/drawing/2014/main" id="{354D862D-DFDC-4013-A658-5BB14FA02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152" y="4562856"/>
            <a:ext cx="1234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DDEBE8"/>
                </a:solidFill>
              </a:rPr>
              <a:t>Open by design</a:t>
            </a:r>
            <a:endParaRPr sz="1150"/>
          </a:p>
        </p:txBody>
      </p:sp>
      <p:sp>
        <p:nvSpPr>
          <p:cNvPr id="11" name="Text 6">
            <a:extLst xmlns:a="http://schemas.openxmlformats.org/drawingml/2006/main">
              <a:ext uri="{FF2B5EF4-FFF2-40B4-BE49-F238E27FC236}">
                <a16:creationId xmlns:a16="http://schemas.microsoft.com/office/drawing/2014/main" id="{BFE40BE8-E66F-4DFF-BA38-BB216BB94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3160" y="4562856"/>
            <a:ext cx="63093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20">
                <a:solidFill>
                  <a:srgbClr val="BBD0D9"/>
                </a:solidFill>
              </a:rPr>
              <a:t>Configurable, auditable, portable and extendable — reducing long-term lock-in.</a:t>
            </a:r>
            <a:endParaRPr sz="1020"/>
          </a:p>
        </p:txBody>
      </p:sp>
      <p:pic>
        <p:nvPicPr>
          <p:cNvPr id="35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3391629bec4137">
            <a:extLst>
              <a:ext uri="{96DAC541-7B7A-43D3-8B79-37D633B846F1}">
                <asvg:svgBlip xmlns:asvg="http://schemas.microsoft.com/office/drawing/2016/SVG/main" r:embed="Rf723746fc1474355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3232" y="5285232"/>
            <a:ext cx="320040" cy="320040"/>
          </a:xfrm>
          <a:prstGeom xmlns:a="http://schemas.openxmlformats.org/drawingml/2006/main" prst="rect">
            <a:avLst/>
          </a:prstGeom>
        </p:spPr>
      </p:pic>
      <p:sp>
        <p:nvSpPr>
          <p:cNvPr id="13" name="Text 7">
            <a:extLst xmlns:a="http://schemas.openxmlformats.org/drawingml/2006/main">
              <a:ext uri="{FF2B5EF4-FFF2-40B4-BE49-F238E27FC236}">
                <a16:creationId xmlns:a16="http://schemas.microsoft.com/office/drawing/2014/main" id="{E6983DDD-4AAC-4AB9-A340-74B327CCC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152" y="5276088"/>
            <a:ext cx="1234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DDEBE8"/>
                </a:solidFill>
              </a:rPr>
              <a:t>Improvement-first</a:t>
            </a:r>
            <a:endParaRPr sz="1150"/>
          </a:p>
        </p:txBody>
      </p:sp>
      <p:sp>
        <p:nvSpPr>
          <p:cNvPr id="14" name="Text 8">
            <a:extLst xmlns:a="http://schemas.openxmlformats.org/drawingml/2006/main">
              <a:ext uri="{FF2B5EF4-FFF2-40B4-BE49-F238E27FC236}">
                <a16:creationId xmlns:a16="http://schemas.microsoft.com/office/drawing/2014/main" id="{A2B5F459-A584-458B-814B-2370426AE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3160" y="5276088"/>
            <a:ext cx="63093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20">
                <a:solidFill>
                  <a:srgbClr val="BBD0D9"/>
                </a:solidFill>
              </a:rPr>
              <a:t>Assessment is the starting point; action, outcomes and learning are the destination.</a:t>
            </a:r>
            <a:endParaRPr sz="1020"/>
          </a:p>
        </p:txBody>
      </p:sp>
      <p:sp>
        <p:nvSpPr>
          <p:cNvPr id="15" name="Shape 9">
            <a:extLst xmlns:a="http://schemas.openxmlformats.org/drawingml/2006/main">
              <a:ext uri="{FF2B5EF4-FFF2-40B4-BE49-F238E27FC236}">
                <a16:creationId xmlns:a16="http://schemas.microsoft.com/office/drawing/2014/main" id="{09E2C3D2-4609-4046-9F3A-058AEFC9C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2520" y="1572768"/>
            <a:ext cx="2743200" cy="402336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>
              <a:alpha val="95000"/>
            </a:srgbClr>
          </a:solidFill>
          <a:ln xmlns:a="http://schemas.openxmlformats.org/drawingml/2006/main" w="12700">
            <a:solidFill>
              <a:srgbClr val="FFFFFF">
                <a:alpha val="18000"/>
              </a:srgbClr>
            </a:solidFill>
            <a:prstDash val="solid"/>
          </a:ln>
        </p:spPr>
      </p:sp>
      <p:pic>
        <p:nvPicPr>
          <p:cNvPr id="39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dea1208c034164">
            <a:extLst>
              <a:ext uri="{96DAC541-7B7A-43D3-8B79-37D633B846F1}">
                <asvg:svgBlip xmlns:asvg="http://schemas.microsoft.com/office/drawing/2016/SVG/main" r:embed="Rde92f33b943f4605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628632" y="2057400"/>
            <a:ext cx="960120" cy="960120"/>
          </a:xfrm>
          <a:prstGeom xmlns:a="http://schemas.openxmlformats.org/drawingml/2006/main" prst="rect">
            <a:avLst/>
          </a:prstGeom>
        </p:spPr>
      </p:pic>
      <p:sp>
        <p:nvSpPr>
          <p:cNvPr id="17" name="Text 10">
            <a:extLst xmlns:a="http://schemas.openxmlformats.org/drawingml/2006/main">
              <a:ext uri="{FF2B5EF4-FFF2-40B4-BE49-F238E27FC236}">
                <a16:creationId xmlns:a16="http://schemas.microsoft.com/office/drawing/2014/main" id="{ED1DB9DB-DC98-49E7-9101-F7065D75C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8280" y="3246120"/>
            <a:ext cx="20116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</a:rPr>
              <a:t>ASSESS → IMPROVE → MONITOR → LEARN</a:t>
            </a:r>
            <a:endParaRPr sz="1500"/>
          </a:p>
        </p:txBody>
      </p:sp>
      <p:sp>
        <p:nvSpPr>
          <p:cNvPr id="18" name="Text 11">
            <a:extLst xmlns:a="http://schemas.openxmlformats.org/drawingml/2006/main">
              <a:ext uri="{FF2B5EF4-FFF2-40B4-BE49-F238E27FC236}">
                <a16:creationId xmlns:a16="http://schemas.microsoft.com/office/drawing/2014/main" id="{D2C1ECC6-F7E3-4F3A-866F-FF4380180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8280" y="4160520"/>
            <a:ext cx="2011680" cy="713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D4E1E7"/>
                </a:solidFill>
              </a:rPr>
              <a:t>Repeat across every framework and every service-delivery system.</a:t>
            </a:r>
            <a:endParaRPr sz="1020"/>
          </a:p>
        </p:txBody>
      </p:sp>
      <p:sp>
        <p:nvSpPr>
          <p:cNvPr id="19" name="Text 12">
            <a:extLst xmlns:a="http://schemas.openxmlformats.org/drawingml/2006/main">
              <a:ext uri="{FF2B5EF4-FFF2-40B4-BE49-F238E27FC236}">
                <a16:creationId xmlns:a16="http://schemas.microsoft.com/office/drawing/2014/main" id="{3D6A1592-E3CF-4171-8197-A20A1FB4F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" y="6053328"/>
            <a:ext cx="107899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40" b="1">
                <a:solidFill>
                  <a:srgbClr val="91B9B3"/>
                </a:solidFill>
              </a:rPr>
              <a:t>SaQshi — Your Saathi for Quality Assessment. Built to become the open platform for quality improvement.</a:t>
            </a:r>
            <a:endParaRPr sz="1140"/>
          </a:p>
        </p:txBody>
      </p:sp>
    </p:spTree>
    <p:extLst>
      <p:ext uri="{BB962C8B-B14F-4D97-AF65-F5344CB8AC3E}">
        <p14:creationId xmlns:p14="http://schemas.microsoft.com/office/powerpoint/2010/main" val="2101628276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AB4392E-0C4F-4DB9-895B-C836FD90D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9550"/>
            <a:ext cx="20193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2E786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98BFFE-79BB-4119-A9E0-3341151EA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9550"/>
            <a:ext cx="20193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HEALTHCARE PLATFORM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625F71-0367-4866-AD19-AEADC9591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2925"/>
            <a:ext cx="10287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785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3B5B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73B5B"/>
                </a:solidFill>
                <a:latin typeface="Aptos"/>
                <a:ea typeface="Aptos"/>
                <a:cs typeface="Aptos"/>
              </a:rPr>
              <a:t>SaQshi connects assessment, action and oversight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80FBEE-9130-4FE5-84D0-695EABF3A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42975"/>
            <a:ext cx="7334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8B2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B5B871-DFBC-42A4-97A7-89109B677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90625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F748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7488"/>
                </a:solidFill>
                <a:latin typeface="Aptos"/>
                <a:ea typeface="Aptos"/>
                <a:cs typeface="Aptos"/>
              </a:rPr>
              <a:t>The health deployment brings assessment, CQI, performance monitoring, certification and reporting into one platform.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AE4B97-D054-423E-A2C8-7E8F058E5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3415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5B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95C2D1-9DC5-4E2C-BE92-8A2C141D0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722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SaQshi | Open Digital Quality Improvement Platform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3AEDF8-FE0C-4A49-923C-E1BA466B6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722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24</a:t>
            </a:r>
          </a:p>
        </p:txBody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70f93b1b504d94"/>
          <a:stretch xmlns:a="http://schemas.openxmlformats.org/drawingml/2006/main"/>
        </p:blipFill>
        <p:spPr>
          <a:xfrm xmlns:a="http://schemas.openxmlformats.org/drawingml/2006/main">
            <a:off x="10877550" y="339140"/>
            <a:ext cx="838200" cy="264695"/>
          </a:xfrm>
          <a:prstGeom xmlns:a="http://schemas.openxmlformats.org/drawingml/2006/main" prst="rect">
            <a:avLst/>
          </a:prstGeom>
        </p:spPr>
      </p:pic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adaee1dc63414b"/>
          <a:stretch xmlns:a="http://schemas.openxmlformats.org/drawingml/2006/main"/>
        </p:blipFill>
        <p:spPr>
          <a:xfrm xmlns:a="http://schemas.openxmlformats.org/drawingml/2006/main">
            <a:off x="7334250" y="1797844"/>
            <a:ext cx="4095750" cy="3071813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4E91B9-F84E-4FB2-8352-900AA84C0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27813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E8F5F0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BE4FF0-DBEA-415F-AE89-A28A97456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19300"/>
            <a:ext cx="2343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1296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3B5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3B5B"/>
                </a:solidFill>
                <a:latin typeface="Aptos"/>
                <a:ea typeface="Aptos"/>
                <a:cs typeface="Aptos"/>
              </a:rPr>
              <a:t>Structured assessment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C3A909-F180-4FC6-9155-96004C214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52675"/>
            <a:ext cx="23431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F748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7488"/>
                </a:solidFill>
                <a:latin typeface="Aptos"/>
                <a:ea typeface="Aptos"/>
                <a:cs typeface="Aptos"/>
              </a:rPr>
              <a:t>Create or resume assessments, activate applicable departments and capture checkpoint responses.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D83983-1963-4178-AAFB-552719AE2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1809750"/>
            <a:ext cx="27813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E69081-B929-4DDF-8EF9-9A3666F52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019300"/>
            <a:ext cx="2343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1296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3B5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3B5B"/>
                </a:solidFill>
                <a:latin typeface="Aptos"/>
                <a:ea typeface="Aptos"/>
                <a:cs typeface="Aptos"/>
              </a:rPr>
              <a:t>CQI action management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BABD1C-B874-467C-8486-9455CD9FE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352675"/>
            <a:ext cx="23431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732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F748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7488"/>
                </a:solidFill>
                <a:latin typeface="Aptos"/>
                <a:ea typeface="Aptos"/>
                <a:cs typeface="Aptos"/>
              </a:rPr>
              <a:t>Turn gaps into action plans with ownership, target dates, evidence and closure updates.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B56B90-F00D-4625-A44B-28C44B10F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71850"/>
            <a:ext cx="27813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2EDFF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2A36FB-61F8-4CD6-888E-5D4C31A15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81400"/>
            <a:ext cx="2343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1296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3B5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3B5B"/>
                </a:solidFill>
                <a:latin typeface="Aptos"/>
                <a:ea typeface="Aptos"/>
                <a:cs typeface="Aptos"/>
              </a:rPr>
              <a:t>Performance monitoring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6A0540-C004-494E-AA4A-EF5D8C545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14775"/>
            <a:ext cx="23431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F748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7488"/>
                </a:solidFill>
                <a:latin typeface="Aptos"/>
                <a:ea typeface="Aptos"/>
                <a:cs typeface="Aptos"/>
              </a:rPr>
              <a:t>Record monthly KPI and outcome data, calculate results and review trends.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317BA6-B958-4D9A-835D-55EDEE08A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371850"/>
            <a:ext cx="27813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DECEF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989930-176C-47CC-8972-F2EAB40CB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581400"/>
            <a:ext cx="2343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1296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3B5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3B5B"/>
                </a:solidFill>
                <a:latin typeface="Aptos"/>
                <a:ea typeface="Aptos"/>
                <a:cs typeface="Aptos"/>
              </a:rPr>
              <a:t>Certification and reports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B4367BB-013E-4F74-AFCD-7C70026AE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914775"/>
            <a:ext cx="23431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F748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7488"/>
                </a:solidFill>
                <a:latin typeface="Aptos"/>
                <a:ea typeface="Aptos"/>
                <a:cs typeface="Aptos"/>
              </a:rPr>
              <a:t>Track certification status and history, then use reports to support follow-up.</a:t>
            </a:r>
          </a:p>
        </p:txBody>
      </p:sp>
    </p:spTree>
    <p:extLst>
      <p:ext uri="{BB962C8B-B14F-4D97-AF65-F5344CB8AC3E}">
        <p14:creationId xmlns:p14="http://schemas.microsoft.com/office/powerpoint/2010/main" val="1350129439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61BBBB3-5093-4B9A-A14C-C5DC2B77C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9550"/>
            <a:ext cx="20193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2E786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6E062A-7D97-4DBD-A0B3-7352CFDF4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9550"/>
            <a:ext cx="20193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ROLE-BASED OPERATIONS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1B89AE-496C-46B9-85BD-8BE2F41D3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2925"/>
            <a:ext cx="10287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785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3B5B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73B5B"/>
                </a:solidFill>
                <a:latin typeface="Aptos"/>
                <a:ea typeface="Aptos"/>
                <a:cs typeface="Aptos"/>
              </a:rPr>
              <a:t>The right view for each person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983F83-EC94-4FC7-99FE-5E20B8D86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42975"/>
            <a:ext cx="7334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8B2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A955DE-1E77-481E-8A19-D9EE1E02A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90625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F748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7488"/>
                </a:solidFill>
                <a:latin typeface="Aptos"/>
                <a:ea typeface="Aptos"/>
                <a:cs typeface="Aptos"/>
              </a:rPr>
              <a:t>SaQshi separates facility work from supervisory monitoring while keeping every assessment traceable to its scope.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095FB5-0C4F-49CA-BC90-7164B7CE6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3415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5B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857663-F996-4B78-848A-AB6B4F3BE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722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SaQshi | Open Digital Quality Improvement Platform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D9AF95-F081-4D3E-944B-C0D197740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722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25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9ffc0a031641bc"/>
          <a:stretch xmlns:a="http://schemas.openxmlformats.org/drawingml/2006/main"/>
        </p:blipFill>
        <p:spPr>
          <a:xfrm xmlns:a="http://schemas.openxmlformats.org/drawingml/2006/main">
            <a:off x="10877550" y="339140"/>
            <a:ext cx="838200" cy="264695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CB70F4-1423-4D24-8F1D-4249CAA09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508635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BC76F4-CB97-45D6-9C74-B8D578B21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952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8B2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7806F2-C2D1-40C4-8A14-EEE0BEBF6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28825"/>
            <a:ext cx="438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7544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3B5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3B5B"/>
                </a:solidFill>
                <a:latin typeface="Aptos"/>
                <a:ea typeface="Aptos"/>
                <a:cs typeface="Aptos"/>
              </a:rPr>
              <a:t>Facility team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D6E7AD-42F0-4D20-AF7B-574C2CDD1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400300"/>
            <a:ext cx="438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F748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7488"/>
                </a:solidFill>
                <a:latin typeface="Aptos"/>
                <a:ea typeface="Aptos"/>
                <a:cs typeface="Aptos"/>
              </a:rPr>
              <a:t>Assessment entry, CQI actions, evidence, KPI/outcome entry and facility reports.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72D0F2-41FC-4D68-99A0-70F04273B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809750"/>
            <a:ext cx="508635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82735D-BB92-4F85-9560-CC39EF075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809750"/>
            <a:ext cx="952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8B25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72F7F8-7AC2-4DF8-A959-A63496661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2028825"/>
            <a:ext cx="438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7544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3B5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3B5B"/>
                </a:solidFill>
                <a:latin typeface="Aptos"/>
                <a:ea typeface="Aptos"/>
                <a:cs typeface="Aptos"/>
              </a:rPr>
              <a:t>Assessor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9B9F65-C13D-478E-8864-F029EA902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2400300"/>
            <a:ext cx="438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F748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7488"/>
                </a:solidFill>
                <a:latin typeface="Aptos"/>
                <a:ea typeface="Aptos"/>
                <a:cs typeface="Aptos"/>
              </a:rPr>
              <a:t>Assigned facility assessments and allocated department or class work.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6D02A6-7B1D-4E7F-9557-8431BF950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508635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4D46D5-2E3C-4DB2-B206-C79F41B68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952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86F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B42491-1F86-40EC-8596-DD87A5D32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933825"/>
            <a:ext cx="438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7544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3B5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3B5B"/>
                </a:solidFill>
                <a:latin typeface="Aptos"/>
                <a:ea typeface="Aptos"/>
                <a:cs typeface="Aptos"/>
              </a:rPr>
              <a:t>District and division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14E372-E9A1-4D26-AF54-73E08D953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305300"/>
            <a:ext cx="438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F748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7488"/>
                </a:solidFill>
                <a:latin typeface="Aptos"/>
                <a:ea typeface="Aptos"/>
                <a:cs typeface="Aptos"/>
              </a:rPr>
              <a:t>Progress, CQI and performance monitoring for assigned geography.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69E300-A390-42B7-88E5-174D85397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714750"/>
            <a:ext cx="508635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58F9D3B-2E38-4863-BE0A-EC0349620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714750"/>
            <a:ext cx="952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86F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1CBE915-FA35-4969-AA2F-F07B0FCB6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3933825"/>
            <a:ext cx="438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7544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3B5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3B5B"/>
                </a:solidFill>
                <a:latin typeface="Aptos"/>
                <a:ea typeface="Aptos"/>
                <a:cs typeface="Aptos"/>
              </a:rPr>
              <a:t>State administration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629D11F-44FE-4A86-A70E-A71D6CE2D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4305300"/>
            <a:ext cx="438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F748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7488"/>
                </a:solidFill>
                <a:latin typeface="Aptos"/>
                <a:ea typeface="Aptos"/>
                <a:cs typeface="Aptos"/>
              </a:rPr>
              <a:t>Statewide dashboards, certification views, assessor management, exports and reports.</a:t>
            </a:r>
          </a:p>
        </p:txBody>
      </p:sp>
    </p:spTree>
    <p:extLst>
      <p:ext uri="{BB962C8B-B14F-4D97-AF65-F5344CB8AC3E}">
        <p14:creationId xmlns:p14="http://schemas.microsoft.com/office/powerpoint/2010/main" val="1706849168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8DAFE4B-C063-44E7-977C-1BC4D9265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9550"/>
            <a:ext cx="20193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2E786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E35F74-8D0B-4A71-8DD9-38AE8989E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9550"/>
            <a:ext cx="20193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CONTINUOUS QUALITY IMPROVEMENT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E6671F-A3AF-4B3E-8DB1-440CA386F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2925"/>
            <a:ext cx="10287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785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3B5B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73B5B"/>
                </a:solidFill>
                <a:latin typeface="Aptos"/>
                <a:ea typeface="Aptos"/>
                <a:cs typeface="Aptos"/>
              </a:rPr>
              <a:t>A score creates a clear next action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2E0397-B5E2-4762-A4ED-762DB7D58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42975"/>
            <a:ext cx="7334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8B2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AE19C2-19B4-4A94-8625-A1BEC6AA8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90625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F748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7488"/>
                </a:solidFill>
                <a:latin typeface="Aptos"/>
                <a:ea typeface="Aptos"/>
                <a:cs typeface="Aptos"/>
              </a:rPr>
              <a:t>SaQshi keeps the corrective-action trail connected to the assessment result rather than separating it into files.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BE44F3-F662-440C-B7DF-BF97DCE80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3415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5B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1A4980-4BD4-4E61-A289-B606A0461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722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SaQshi | Open Digital Quality Improvement Platform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EAD56F-1757-4F08-A60E-96D0EBBA7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722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26</a:t>
            </a:r>
          </a:p>
        </p:txBody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4c06c014e74b85"/>
          <a:stretch xmlns:a="http://schemas.openxmlformats.org/drawingml/2006/main"/>
        </p:blipFill>
        <p:spPr>
          <a:xfrm xmlns:a="http://schemas.openxmlformats.org/drawingml/2006/main">
            <a:off x="10877550" y="339140"/>
            <a:ext cx="838200" cy="264695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69B04F-4DEB-4496-9DD3-0494D3EBC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43225"/>
            <a:ext cx="9715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7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8EEAD8-B0C2-4FCE-B468-238F188C7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43175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8B2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C13A86-01E1-407C-A547-3C94C9896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43175"/>
            <a:ext cx="723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EEF05F-90FF-44F6-8438-22630BF08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524250"/>
            <a:ext cx="1095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294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3B5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3B5B"/>
                </a:solidFill>
                <a:latin typeface="Aptos"/>
                <a:ea typeface="Aptos"/>
                <a:cs typeface="Aptos"/>
              </a:rPr>
              <a:t>Score checklist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5351B2-63B0-471C-BA29-B9C1B49C5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876675"/>
            <a:ext cx="128587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64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F748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7488"/>
                </a:solidFill>
                <a:latin typeface="Aptos"/>
                <a:ea typeface="Aptos"/>
                <a:cs typeface="Aptos"/>
              </a:rPr>
              <a:t>Non-compliance and partial-compliance checkpoints become gaps.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46B642-6A13-4497-9E5A-98EAFE4BD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543175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78F6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4CB0E0-BBDB-44D2-86DC-D7F99456C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543175"/>
            <a:ext cx="723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5DB53F-D03A-475A-9335-E32400F74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3524250"/>
            <a:ext cx="1095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294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3B5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3B5B"/>
                </a:solidFill>
                <a:latin typeface="Aptos"/>
                <a:ea typeface="Aptos"/>
                <a:cs typeface="Aptos"/>
              </a:rPr>
              <a:t>Set action plan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9377AB-5061-4980-9402-4F12D5CE0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3876675"/>
            <a:ext cx="128587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F748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7488"/>
                </a:solidFill>
                <a:latin typeface="Aptos"/>
                <a:ea typeface="Aptos"/>
                <a:cs typeface="Aptos"/>
              </a:rPr>
              <a:t>Assign responsible person and target date for each gap.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4C04D6-3188-4867-9F66-EA0EE2779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543175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B67D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4DAADC-0EBA-46B4-BDD3-9D08B6CE1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543175"/>
            <a:ext cx="723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B751792-936C-4454-B8CB-D5D9E0FD6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3524250"/>
            <a:ext cx="1095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294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3B5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3B5B"/>
                </a:solidFill>
                <a:latin typeface="Aptos"/>
                <a:ea typeface="Aptos"/>
                <a:cs typeface="Aptos"/>
              </a:rPr>
              <a:t>Add evidence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5ADB867-1CF9-4B4B-8100-12174BC34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3876675"/>
            <a:ext cx="128587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F748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7488"/>
                </a:solidFill>
                <a:latin typeface="Aptos"/>
                <a:ea typeface="Aptos"/>
                <a:cs typeface="Aptos"/>
              </a:rPr>
              <a:t>Attach supporting evidence and record closure remarks.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22B00A-7B10-46ED-9DE0-EABA5A6C1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2543175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5AF8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FCABB0C-6E6E-4438-AEB1-77977D170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2543175"/>
            <a:ext cx="723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CA9E70D-2A45-4288-8B30-820C40DB3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3524250"/>
            <a:ext cx="1095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5209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3B5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3B5B"/>
                </a:solidFill>
                <a:latin typeface="Aptos"/>
                <a:ea typeface="Aptos"/>
                <a:cs typeface="Aptos"/>
              </a:rPr>
              <a:t>Review revised score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5F443E2-C88B-445B-8B25-AA6DD39EA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3876675"/>
            <a:ext cx="128587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2725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F748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7488"/>
                </a:solidFill>
                <a:latin typeface="Aptos"/>
                <a:ea typeface="Aptos"/>
                <a:cs typeface="Aptos"/>
              </a:rPr>
              <a:t>Use closure status and revised score in progress reports and monitoring.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4219CEF-D3DF-48D8-89BA-D237C4EBC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191125"/>
            <a:ext cx="8953500" cy="600075"/>
          </a:xfrm>
          <a:prstGeom xmlns:a="http://schemas.openxmlformats.org/drawingml/2006/main" prst="roundRect">
            <a:avLst>
              <a:gd name="adj" fmla="val 12698"/>
            </a:avLst>
          </a:prstGeom>
          <a:solidFill xmlns:a="http://schemas.openxmlformats.org/drawingml/2006/main">
            <a:srgbClr val="E8F5F0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D582233-865A-46F4-B1AE-524EA1694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362575"/>
            <a:ext cx="828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208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3B5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3B5B"/>
                </a:solidFill>
                <a:latin typeface="Aptos"/>
                <a:ea typeface="Aptos"/>
                <a:cs typeface="Aptos"/>
              </a:rPr>
              <a:t>Monitoring teams can identify open, overdue and high-priority actions without changing the facility’s underlying action plan.</a:t>
            </a:r>
          </a:p>
        </p:txBody>
      </p:sp>
    </p:spTree>
    <p:extLst>
      <p:ext uri="{BB962C8B-B14F-4D97-AF65-F5344CB8AC3E}">
        <p14:creationId xmlns:p14="http://schemas.microsoft.com/office/powerpoint/2010/main" val="2147164563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08E1A00-320A-4E83-B7D2-8F0B682C2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9550"/>
            <a:ext cx="20193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2E786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33FF50-510F-4111-921B-C4576C98E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9550"/>
            <a:ext cx="20193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IMPLEMENTATION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A1E5BC-186B-4E95-A4BF-90733AE5F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2925"/>
            <a:ext cx="10287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785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3B5B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73B5B"/>
                </a:solidFill>
                <a:latin typeface="Aptos"/>
                <a:ea typeface="Aptos"/>
                <a:cs typeface="Aptos"/>
              </a:rPr>
              <a:t>A practical path to a SaQshi rollout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A58E39-48EB-4F6B-BA03-AB905F9DC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42975"/>
            <a:ext cx="7334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8B2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D200A4-D376-42C7-BE47-33BCCCA8D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90625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F748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7488"/>
                </a:solidFill>
                <a:latin typeface="Aptos"/>
                <a:ea typeface="Aptos"/>
                <a:cs typeface="Aptos"/>
              </a:rPr>
              <a:t>The platform supports local programme configuration. A client rollout begins by aligning its scope and operating model.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6B246C-CEA7-4580-8C17-AF0EE6C16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3415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5B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BA41BA-C1EE-4BA0-9349-3CC7349F3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722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SaQshi | Open Digital Quality Improvement Platform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D91278-92E3-4735-81A0-9E5B7D9CC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722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27</a:t>
            </a:r>
          </a:p>
        </p:txBody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6f09c548f746db"/>
          <a:stretch xmlns:a="http://schemas.openxmlformats.org/drawingml/2006/main"/>
        </p:blipFill>
        <p:spPr>
          <a:xfrm xmlns:a="http://schemas.openxmlformats.org/drawingml/2006/main">
            <a:off x="10877550" y="339140"/>
            <a:ext cx="838200" cy="264695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3A0F0F-3F24-4E0C-B7FE-D846697EB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240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8B25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CD0493-27F3-4FFC-B50E-0A218617B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240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0AABF8-6424-4168-A49E-E7D5997C2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724025"/>
            <a:ext cx="2524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7544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3B5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3B5B"/>
                </a:solidFill>
                <a:latin typeface="Aptos"/>
                <a:ea typeface="Aptos"/>
                <a:cs typeface="Aptos"/>
              </a:rPr>
              <a:t>Confirm scope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43677A-92F1-4404-BC5B-4DED65D5A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1724025"/>
            <a:ext cx="685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F748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7488"/>
                </a:solidFill>
                <a:latin typeface="Aptos"/>
                <a:ea typeface="Aptos"/>
                <a:cs typeface="Aptos"/>
              </a:rPr>
              <a:t>Agree facility types, geography, framework, indicators and reporting needs.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DA6C98-C9A1-40EE-9461-45F0A5215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8B25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1E58D7-8F69-4EF6-9FE9-EACE8A9FA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E2E7C2-EF77-47E7-BAF0-DD68F0991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705100"/>
            <a:ext cx="2524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7544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3B5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3B5B"/>
                </a:solidFill>
                <a:latin typeface="Aptos"/>
                <a:ea typeface="Aptos"/>
                <a:cs typeface="Aptos"/>
              </a:rPr>
              <a:t>Configure platform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2D3F18-4FDD-4916-A7E7-BA993678A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705100"/>
            <a:ext cx="685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F748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7488"/>
                </a:solidFill>
                <a:latin typeface="Aptos"/>
                <a:ea typeface="Aptos"/>
                <a:cs typeface="Aptos"/>
              </a:rPr>
              <a:t>Set up masters, roles, workflow rules, checklist and monitoring views.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3E2816-9F1B-419B-991A-5CAACB2FC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861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8B25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8D2AA4-EB21-4BF9-B759-703BDB9ED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8617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63B180-F907-4210-8899-585B1BCBD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86175"/>
            <a:ext cx="2524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7544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3B5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3B5B"/>
                </a:solidFill>
                <a:latin typeface="Aptos"/>
                <a:ea typeface="Aptos"/>
                <a:cs typeface="Aptos"/>
              </a:rPr>
              <a:t>Pilot with users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1D23DF7-7F36-44E1-8761-9D1D42986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686175"/>
            <a:ext cx="685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F748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7488"/>
                </a:solidFill>
                <a:latin typeface="Aptos"/>
                <a:ea typeface="Aptos"/>
                <a:cs typeface="Aptos"/>
              </a:rPr>
              <a:t>Run a controlled pilot with facility teams and monitoring users, then refine.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C7BF5FD-AB78-4F6F-BC03-60683B928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8B25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5F89925-CF82-4AB8-8CA5-66C4EB199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E5573A-C9FD-4176-9D99-F6F179497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667250"/>
            <a:ext cx="2524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7544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3B5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3B5B"/>
                </a:solidFill>
                <a:latin typeface="Aptos"/>
                <a:ea typeface="Aptos"/>
                <a:cs typeface="Aptos"/>
              </a:rPr>
              <a:t>Scale with governance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7511594-66D7-4FA4-B336-AA5AC1198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4667250"/>
            <a:ext cx="685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F748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7488"/>
                </a:solidFill>
                <a:latin typeface="Aptos"/>
                <a:ea typeface="Aptos"/>
                <a:cs typeface="Aptos"/>
              </a:rPr>
              <a:t>Use adoption support, dashboards and CQI follow-up to guide expansion.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7AE6D39-921B-401F-BC00-9325F84C9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10096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73B5B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B1F75F9-9679-4FEE-AA78-BB240D286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943600"/>
            <a:ext cx="9667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Client discussion: select the first programme, facilities and users for a focused pilot.</a:t>
            </a:r>
          </a:p>
        </p:txBody>
      </p:sp>
    </p:spTree>
    <p:extLst>
      <p:ext uri="{BB962C8B-B14F-4D97-AF65-F5344CB8AC3E}">
        <p14:creationId xmlns:p14="http://schemas.microsoft.com/office/powerpoint/2010/main" val="1922053584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2026-09-07T13:55:53.1250000Z</dcterms:created>
  <dcterms:modified xsi:type="dcterms:W3CDTF">2026-09-07T13:55:53.1250000Z</dcterms:modified>
</coreProperties>
</file>