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QSHI_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9282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SaQshi | Open Digital Quality Improvement Platform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image" Target="../media/image-5-18.png"/><Relationship Id="rId19" Type="http://schemas.openxmlformats.org/officeDocument/2006/relationships/image" Target="../media/image-5-19.svg"/><Relationship Id="rId20" Type="http://schemas.openxmlformats.org/officeDocument/2006/relationships/image" Target="../media/image-5-20.png"/><Relationship Id="rId21" Type="http://schemas.openxmlformats.org/officeDocument/2006/relationships/image" Target="../media/image-5-21.svg"/><Relationship Id="rId22" Type="http://schemas.openxmlformats.org/officeDocument/2006/relationships/image" Target="../media/image-5-22.png"/><Relationship Id="rId23" Type="http://schemas.openxmlformats.org/officeDocument/2006/relationships/image" Target="../media/image-5-23.svg"/><Relationship Id="rId24" Type="http://schemas.openxmlformats.org/officeDocument/2006/relationships/image" Target="../media/image-5-24.png"/><Relationship Id="rId25" Type="http://schemas.openxmlformats.org/officeDocument/2006/relationships/image" Target="../media/image-5-25.svg"/><Relationship Id="rId26" Type="http://schemas.openxmlformats.org/officeDocument/2006/relationships/slideLayout" Target="../slideLayouts/slideLayout2.xml"/><Relationship Id="rId2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14.png"/><Relationship Id="rId15" Type="http://schemas.openxmlformats.org/officeDocument/2006/relationships/image" Target="../media/image-9-15.svg"/><Relationship Id="rId16" Type="http://schemas.openxmlformats.org/officeDocument/2006/relationships/image" Target="../media/image-9-16.png"/><Relationship Id="rId17" Type="http://schemas.openxmlformats.org/officeDocument/2006/relationships/image" Target="../media/image-9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sv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sv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sv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sv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sv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sv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image" Target="../media/image-14-6.png"/><Relationship Id="rId7" Type="http://schemas.openxmlformats.org/officeDocument/2006/relationships/image" Target="../media/image-14-7.svg"/><Relationship Id="rId8" Type="http://schemas.openxmlformats.org/officeDocument/2006/relationships/image" Target="../media/image-14-8.png"/><Relationship Id="rId9" Type="http://schemas.openxmlformats.org/officeDocument/2006/relationships/image" Target="../media/image-14-9.sv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sv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svg"/><Relationship Id="rId4" Type="http://schemas.openxmlformats.org/officeDocument/2006/relationships/image" Target="../media/image-15-4.png"/><Relationship Id="rId5" Type="http://schemas.openxmlformats.org/officeDocument/2006/relationships/image" Target="../media/image-15-5.svg"/><Relationship Id="rId6" Type="http://schemas.openxmlformats.org/officeDocument/2006/relationships/image" Target="../media/image-15-6.png"/><Relationship Id="rId7" Type="http://schemas.openxmlformats.org/officeDocument/2006/relationships/image" Target="../media/image-15-7.svg"/><Relationship Id="rId8" Type="http://schemas.openxmlformats.org/officeDocument/2006/relationships/image" Target="../media/image-15-8.png"/><Relationship Id="rId9" Type="http://schemas.openxmlformats.org/officeDocument/2006/relationships/image" Target="../media/image-15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svg"/><Relationship Id="rId4" Type="http://schemas.openxmlformats.org/officeDocument/2006/relationships/image" Target="../media/image-17-4.png"/><Relationship Id="rId5" Type="http://schemas.openxmlformats.org/officeDocument/2006/relationships/image" Target="../media/image-17-5.svg"/><Relationship Id="rId6" Type="http://schemas.openxmlformats.org/officeDocument/2006/relationships/image" Target="../media/image-17-6.png"/><Relationship Id="rId7" Type="http://schemas.openxmlformats.org/officeDocument/2006/relationships/image" Target="../media/image-17-7.svg"/><Relationship Id="rId8" Type="http://schemas.openxmlformats.org/officeDocument/2006/relationships/image" Target="../media/image-17-8.png"/><Relationship Id="rId9" Type="http://schemas.openxmlformats.org/officeDocument/2006/relationships/image" Target="../media/image-17-9.sv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sv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image" Target="../media/image-18-4.png"/><Relationship Id="rId5" Type="http://schemas.openxmlformats.org/officeDocument/2006/relationships/image" Target="../media/image-18-5.svg"/><Relationship Id="rId6" Type="http://schemas.openxmlformats.org/officeDocument/2006/relationships/image" Target="../media/image-18-6.png"/><Relationship Id="rId7" Type="http://schemas.openxmlformats.org/officeDocument/2006/relationships/image" Target="../media/image-18-7.svg"/><Relationship Id="rId8" Type="http://schemas.openxmlformats.org/officeDocument/2006/relationships/image" Target="../media/image-18-8.png"/><Relationship Id="rId9" Type="http://schemas.openxmlformats.org/officeDocument/2006/relationships/image" Target="../media/image-18-9.sv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sv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sv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sv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sv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svg"/><Relationship Id="rId20" Type="http://schemas.openxmlformats.org/officeDocument/2006/relationships/image" Target="../media/image-18-20.png"/><Relationship Id="rId21" Type="http://schemas.openxmlformats.org/officeDocument/2006/relationships/image" Target="../media/image-18-21.svg"/><Relationship Id="rId22" Type="http://schemas.openxmlformats.org/officeDocument/2006/relationships/image" Target="../media/image-18-22.png"/><Relationship Id="rId23" Type="http://schemas.openxmlformats.org/officeDocument/2006/relationships/image" Target="../media/image-18-23.svg"/><Relationship Id="rId24" Type="http://schemas.openxmlformats.org/officeDocument/2006/relationships/image" Target="../media/image-18-24.png"/><Relationship Id="rId25" Type="http://schemas.openxmlformats.org/officeDocument/2006/relationships/image" Target="../media/image-18-25.svg"/><Relationship Id="rId26" Type="http://schemas.openxmlformats.org/officeDocument/2006/relationships/image" Target="../media/image-18-26.png"/><Relationship Id="rId27" Type="http://schemas.openxmlformats.org/officeDocument/2006/relationships/image" Target="../media/image-18-27.svg"/><Relationship Id="rId28" Type="http://schemas.openxmlformats.org/officeDocument/2006/relationships/image" Target="../media/image-18-28.png"/><Relationship Id="rId29" Type="http://schemas.openxmlformats.org/officeDocument/2006/relationships/image" Target="../media/image-18-29.svg"/><Relationship Id="rId30" Type="http://schemas.openxmlformats.org/officeDocument/2006/relationships/slideLayout" Target="../slideLayouts/slideLayout2.xml"/><Relationship Id="rId3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4.png"/><Relationship Id="rId5" Type="http://schemas.openxmlformats.org/officeDocument/2006/relationships/image" Target="../media/image-20-5.svg"/><Relationship Id="rId6" Type="http://schemas.openxmlformats.org/officeDocument/2006/relationships/image" Target="../media/image-20-6.png"/><Relationship Id="rId7" Type="http://schemas.openxmlformats.org/officeDocument/2006/relationships/image" Target="../media/image-20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image" Target="../media/image-21-4.png"/><Relationship Id="rId5" Type="http://schemas.openxmlformats.org/officeDocument/2006/relationships/image" Target="../media/image-21-5.svg"/><Relationship Id="rId6" Type="http://schemas.openxmlformats.org/officeDocument/2006/relationships/image" Target="../media/image-21-6.png"/><Relationship Id="rId7" Type="http://schemas.openxmlformats.org/officeDocument/2006/relationships/image" Target="../media/image-21-7.svg"/><Relationship Id="rId8" Type="http://schemas.openxmlformats.org/officeDocument/2006/relationships/image" Target="../media/image-21-8.png"/><Relationship Id="rId9" Type="http://schemas.openxmlformats.org/officeDocument/2006/relationships/image" Target="../media/image-21-9.sv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sv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image" Target="../media/image-23-4.png"/><Relationship Id="rId5" Type="http://schemas.openxmlformats.org/officeDocument/2006/relationships/image" Target="../media/image-23-5.svg"/><Relationship Id="rId6" Type="http://schemas.openxmlformats.org/officeDocument/2006/relationships/image" Target="../media/image-23-6.png"/><Relationship Id="rId7" Type="http://schemas.openxmlformats.org/officeDocument/2006/relationships/image" Target="../media/image-23-7.svg"/><Relationship Id="rId8" Type="http://schemas.openxmlformats.org/officeDocument/2006/relationships/image" Target="../media/image-23-8.png"/><Relationship Id="rId9" Type="http://schemas.openxmlformats.org/officeDocument/2006/relationships/image" Target="../media/image-23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41080" y="73152"/>
            <a:ext cx="3429000" cy="3429000"/>
          </a:xfrm>
          <a:prstGeom prst="ellipse">
            <a:avLst/>
          </a:prstGeom>
          <a:solidFill>
            <a:srgbClr val="2F6F6A">
              <a:alpha val="78000"/>
            </a:srgbClr>
          </a:solidFill>
          <a:ln w="12700">
            <a:solidFill>
              <a:srgbClr val="2F6F6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3657600"/>
            <a:ext cx="2697480" cy="2697480"/>
          </a:xfrm>
          <a:prstGeom prst="ellipse">
            <a:avLst/>
          </a:prstGeom>
          <a:solidFill>
            <a:srgbClr val="F18A2A">
              <a:alpha val="88000"/>
            </a:srgbClr>
          </a:solidFill>
          <a:ln w="12700">
            <a:solidFill>
              <a:srgbClr val="F18A2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1143000"/>
            <a:ext cx="2926080" cy="4480560"/>
          </a:xfrm>
          <a:prstGeom prst="line">
            <a:avLst/>
          </a:prstGeom>
          <a:noFill/>
          <a:ln w="19050">
            <a:solidFill>
              <a:srgbClr val="5EA49D">
                <a:alpha val="50000"/>
              </a:srgbClr>
            </a:solidFill>
            <a:prstDash val="solid"/>
          </a:ln>
        </p:spPr>
      </p:sp>
      <p:pic>
        <p:nvPicPr>
          <p:cNvPr id="5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76072"/>
            <a:ext cx="2331720" cy="8046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581912"/>
            <a:ext cx="3017520" cy="310896"/>
          </a:xfrm>
          <a:prstGeom prst="roundRect">
            <a:avLst>
              <a:gd name="adj" fmla="val 47059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645920"/>
            <a:ext cx="2871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OPEN SOURCE • CONFIGURABLE • CROSS-SECTOR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658368" y="2029968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SaQshi</a:t>
            </a:r>
            <a:endParaRPr lang="en-US" sz="3700" dirty="0"/>
          </a:p>
        </p:txBody>
      </p:sp>
      <p:sp>
        <p:nvSpPr>
          <p:cNvPr id="9" name="Text 6"/>
          <p:cNvSpPr/>
          <p:nvPr/>
        </p:nvSpPr>
        <p:spPr>
          <a:xfrm>
            <a:off x="658368" y="2651760"/>
            <a:ext cx="6492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DDEBE8"/>
                </a:solidFill>
              </a:rPr>
              <a:t>Open Digital Quality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DDEBE8"/>
                </a:solidFill>
              </a:rPr>
              <a:t>Improvement Platform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676656" y="4160520"/>
            <a:ext cx="6446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5D7E0"/>
                </a:solidFill>
              </a:rPr>
              <a:t>From assessment → action → outcomes → certification — across health, education and other public-service quality programs.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887968" y="1664208"/>
            <a:ext cx="2249424" cy="22494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28632" y="2212848"/>
            <a:ext cx="768096" cy="768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08592" y="301752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PLATFORM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1143000"/>
            <a:ext cx="1051560" cy="1051560"/>
          </a:xfrm>
          <a:prstGeom prst="ellipse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2CB67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3024" y="1325880"/>
            <a:ext cx="484632" cy="4846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223113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EEF3"/>
                </a:solidFill>
              </a:rPr>
              <a:t>Health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10927080" y="658368"/>
            <a:ext cx="1051560" cy="1051560"/>
          </a:xfrm>
          <a:prstGeom prst="ellipse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2D7FF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10544" y="841248"/>
            <a:ext cx="484632" cy="4846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0" y="174650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EEF3"/>
                </a:solidFill>
              </a:rPr>
              <a:t>Education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11018520" y="4251960"/>
            <a:ext cx="1051560" cy="1051560"/>
          </a:xfrm>
          <a:prstGeom prst="ellipse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F18A2A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01984" y="4434840"/>
            <a:ext cx="484632" cy="4846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881360" y="53400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EEF3"/>
                </a:solidFill>
              </a:rPr>
              <a:t>Feedback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7818120" y="4389120"/>
            <a:ext cx="1051560" cy="1051560"/>
          </a:xfrm>
          <a:prstGeom prst="ellipse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7B61FF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01584" y="4572000"/>
            <a:ext cx="484632" cy="4846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680960" y="547725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EEF3"/>
                </a:solidFill>
              </a:rPr>
              <a:t>Analytics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676656" y="5806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C5D0"/>
                </a:solidFill>
              </a:rPr>
              <a:t>Your Saathi for Quality Assessment — evolved into a reusable digital public quality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EXECUTIVE PROPOSITION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SaQshi is not another checklist application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It is a configurable quality-improvement operating layer that turns standards into repeatable digital workflows.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828800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41832" y="20574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844" y="2153412"/>
            <a:ext cx="374904" cy="3749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" y="27889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Standards become digital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41832" y="3364992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D2B36"/>
                </a:solidFill>
              </a:rPr>
              <a:t>Frameworks, domains, checkpoints, scoring rules and facility/entity types become configuration — not hard-coded forms.</a:t>
            </a:r>
            <a:endParaRPr lang="en-US" sz="1110" dirty="0"/>
          </a:p>
        </p:txBody>
      </p:sp>
      <p:sp>
        <p:nvSpPr>
          <p:cNvPr id="13" name="Shape 9"/>
          <p:cNvSpPr/>
          <p:nvPr/>
        </p:nvSpPr>
        <p:spPr>
          <a:xfrm>
            <a:off x="4489704" y="1828800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45736" y="20574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1748" y="2153412"/>
            <a:ext cx="374904" cy="3749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45736" y="27889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Assessments become workflows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745736" y="3364992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D2B36"/>
                </a:solidFill>
              </a:rPr>
              <a:t>Pause/resume, evidence, scoring, gaps, action plans, responsibility, target dates, closure and reassessment stay connected.</a:t>
            </a:r>
            <a:endParaRPr lang="en-US" sz="1110" dirty="0"/>
          </a:p>
        </p:txBody>
      </p:sp>
      <p:sp>
        <p:nvSpPr>
          <p:cNvPr id="18" name="Shape 13"/>
          <p:cNvSpPr/>
          <p:nvPr/>
        </p:nvSpPr>
        <p:spPr>
          <a:xfrm>
            <a:off x="8293608" y="1828800"/>
            <a:ext cx="3401568" cy="3063240"/>
          </a:xfrm>
          <a:prstGeom prst="roundRect">
            <a:avLst>
              <a:gd name="adj" fmla="val 238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49640" y="205740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45652" y="2153412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49640" y="278892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</a:rPr>
              <a:t>Data becomes improvement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549640" y="3364992"/>
            <a:ext cx="2852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D2B36"/>
                </a:solidFill>
              </a:rPr>
              <a:t>Dashboards, KPI/outcome trends, certification status and comparative analysis show whether quality is actually changing.</a:t>
            </a:r>
            <a:endParaRPr lang="en-US" sz="1110" dirty="0"/>
          </a:p>
        </p:txBody>
      </p:sp>
      <p:sp>
        <p:nvSpPr>
          <p:cNvPr id="23" name="Shape 17"/>
          <p:cNvSpPr/>
          <p:nvPr/>
        </p:nvSpPr>
        <p:spPr>
          <a:xfrm>
            <a:off x="1463040" y="5285232"/>
            <a:ext cx="9235440" cy="713232"/>
          </a:xfrm>
          <a:prstGeom prst="roundRect">
            <a:avLst>
              <a:gd name="adj" fmla="val 10256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1737360" y="54864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THE PLATFORM IDEA  →  Configure once. Reuse across frameworks, facilities, schools, departments, classes and geographies.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PROBLEM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 assurance is still fragmented between paper, Excel and isolated applications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The original SaQshi concept note identifies manual assessment, limited digital functionality, weak action planning and poor comparative analysis.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719072"/>
            <a:ext cx="3429000" cy="1847088"/>
          </a:xfrm>
          <a:prstGeom prst="roundRect">
            <a:avLst>
              <a:gd name="adj" fmla="val 3960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6968" y="19385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980" y="203454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81328" y="192938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Paper → Excel → manual scoring</a:t>
            </a:r>
            <a:endParaRPr lang="en-US" sz="1320" dirty="0"/>
          </a:p>
        </p:txBody>
      </p:sp>
      <p:sp>
        <p:nvSpPr>
          <p:cNvPr id="12" name="Text 8"/>
          <p:cNvSpPr/>
          <p:nvPr/>
        </p:nvSpPr>
        <p:spPr>
          <a:xfrm>
            <a:off x="886968" y="2560320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36"/>
                </a:solidFill>
              </a:rPr>
              <a:t>Printing, re-entry and score collation consume time and introduce avoidable errors.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53128" y="1719072"/>
            <a:ext cx="3429000" cy="1847088"/>
          </a:xfrm>
          <a:prstGeom prst="roundRect">
            <a:avLst>
              <a:gd name="adj" fmla="val 3960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81728" y="19385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77740" y="203454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76088" y="192938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Digital forms without workflow</a:t>
            </a:r>
            <a:endParaRPr lang="en-US" sz="1320" dirty="0"/>
          </a:p>
        </p:txBody>
      </p:sp>
      <p:sp>
        <p:nvSpPr>
          <p:cNvPr id="17" name="Text 12"/>
          <p:cNvSpPr/>
          <p:nvPr/>
        </p:nvSpPr>
        <p:spPr>
          <a:xfrm>
            <a:off x="4681728" y="2560320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36"/>
                </a:solidFill>
              </a:rPr>
              <a:t>Capturing answers alone does not create real-time gap visibility or accountability for closure.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247888" y="1719072"/>
            <a:ext cx="3429000" cy="1847088"/>
          </a:xfrm>
          <a:prstGeom prst="roundRect">
            <a:avLst>
              <a:gd name="adj" fmla="val 3960"/>
            </a:avLst>
          </a:prstGeom>
          <a:solidFill>
            <a:srgbClr val="FFF9DF"/>
          </a:solidFill>
          <a:ln w="12700">
            <a:solidFill>
              <a:srgbClr val="FFF9D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76488" y="1938528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72500" y="2034540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70848" y="192938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Action plans disconnected from evidence</a:t>
            </a:r>
            <a:endParaRPr lang="en-US" sz="1320" dirty="0"/>
          </a:p>
        </p:txBody>
      </p:sp>
      <p:sp>
        <p:nvSpPr>
          <p:cNvPr id="22" name="Text 16"/>
          <p:cNvSpPr/>
          <p:nvPr/>
        </p:nvSpPr>
        <p:spPr>
          <a:xfrm>
            <a:off x="8476488" y="2560320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36"/>
                </a:solidFill>
              </a:rPr>
              <a:t>Owner, due date, closure evidence and revised score are often managed outside the assessment.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658368" y="3895344"/>
            <a:ext cx="3429000" cy="1847088"/>
          </a:xfrm>
          <a:prstGeom prst="roundRect">
            <a:avLst>
              <a:gd name="adj" fmla="val 3960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86968" y="41148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2980" y="4210812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81328" y="410565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No continuous improvement memory</a:t>
            </a:r>
            <a:endParaRPr lang="en-US" sz="1320" dirty="0"/>
          </a:p>
        </p:txBody>
      </p:sp>
      <p:sp>
        <p:nvSpPr>
          <p:cNvPr id="27" name="Text 20"/>
          <p:cNvSpPr/>
          <p:nvPr/>
        </p:nvSpPr>
        <p:spPr>
          <a:xfrm>
            <a:off x="886968" y="4736592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36"/>
                </a:solidFill>
              </a:rPr>
              <a:t>Baseline, reassessment and current status are difficult to compare consistently over time.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453128" y="3895344"/>
            <a:ext cx="3429000" cy="1847088"/>
          </a:xfrm>
          <a:prstGeom prst="roundRect">
            <a:avLst>
              <a:gd name="adj" fmla="val 396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81728" y="41148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77740" y="4210812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76088" y="410565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Framework silos</a:t>
            </a:r>
            <a:endParaRPr lang="en-US" sz="1320" dirty="0"/>
          </a:p>
        </p:txBody>
      </p:sp>
      <p:sp>
        <p:nvSpPr>
          <p:cNvPr id="32" name="Text 24"/>
          <p:cNvSpPr/>
          <p:nvPr/>
        </p:nvSpPr>
        <p:spPr>
          <a:xfrm>
            <a:off x="4681728" y="4736592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36"/>
                </a:solidFill>
              </a:rPr>
              <a:t>Every program, facility type or sector tends to create a new workflow and a new technology stack.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247888" y="3895344"/>
            <a:ext cx="3429000" cy="1847088"/>
          </a:xfrm>
          <a:prstGeom prst="roundRect">
            <a:avLst>
              <a:gd name="adj" fmla="val 3960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476488" y="411480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72500" y="4210812"/>
            <a:ext cx="283464" cy="28346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70848" y="410565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Vendor &amp; customization dependency</a:t>
            </a:r>
            <a:endParaRPr lang="en-US" sz="1320" dirty="0"/>
          </a:p>
        </p:txBody>
      </p:sp>
      <p:sp>
        <p:nvSpPr>
          <p:cNvPr id="37" name="Text 28"/>
          <p:cNvSpPr/>
          <p:nvPr/>
        </p:nvSpPr>
        <p:spPr>
          <a:xfrm>
            <a:off x="8476488" y="4736592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B36"/>
                </a:solidFill>
              </a:rPr>
              <a:t>Closed or hard-coded systems make adaptation, integration and long-term ownership expensive.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STRATEGIC SHIFT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shift: from digitizing a checklist to operating a quality-improvement system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SaQshi connects the full improvement loop instead of stopping after data capture.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901952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F6F6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7824" y="2148840"/>
            <a:ext cx="521208" cy="521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6968" y="27432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6F6A"/>
                </a:solidFill>
              </a:rPr>
              <a:t>01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38328" y="3227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Configure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74320" y="363931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Framework, entity types, domains, checkpoints, scoring</a:t>
            </a:r>
            <a:endParaRPr lang="en-US" sz="940" dirty="0"/>
          </a:p>
        </p:txBody>
      </p:sp>
      <p:sp>
        <p:nvSpPr>
          <p:cNvPr id="13" name="Shape 9"/>
          <p:cNvSpPr/>
          <p:nvPr/>
        </p:nvSpPr>
        <p:spPr>
          <a:xfrm>
            <a:off x="1728216" y="2468880"/>
            <a:ext cx="694944" cy="0"/>
          </a:xfrm>
          <a:prstGeom prst="line">
            <a:avLst/>
          </a:prstGeom>
          <a:noFill/>
          <a:ln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441448" y="1901952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D7FF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2344" y="2148840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61488" y="27432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D7FF9"/>
                </a:solidFill>
              </a:rPr>
              <a:t>02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2212848" y="3227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Assess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148840" y="363931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Digital response, evidence, progress, pause/resume</a:t>
            </a:r>
            <a:endParaRPr lang="en-US" sz="940" dirty="0"/>
          </a:p>
        </p:txBody>
      </p:sp>
      <p:sp>
        <p:nvSpPr>
          <p:cNvPr id="19" name="Shape 14"/>
          <p:cNvSpPr/>
          <p:nvPr/>
        </p:nvSpPr>
        <p:spPr>
          <a:xfrm>
            <a:off x="3602736" y="2468880"/>
            <a:ext cx="694944" cy="0"/>
          </a:xfrm>
          <a:prstGeom prst="line">
            <a:avLst/>
          </a:prstGeom>
          <a:noFill/>
          <a:ln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315968" y="1901952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F18A2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6864" y="2148840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36008" y="27432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18A2A"/>
                </a:solidFill>
              </a:rPr>
              <a:t>03</a:t>
            </a:r>
            <a:endParaRPr lang="en-US" sz="750" dirty="0"/>
          </a:p>
        </p:txBody>
      </p:sp>
      <p:sp>
        <p:nvSpPr>
          <p:cNvPr id="23" name="Text 17"/>
          <p:cNvSpPr/>
          <p:nvPr/>
        </p:nvSpPr>
        <p:spPr>
          <a:xfrm>
            <a:off x="4087368" y="3227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Improve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023360" y="363931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Gap analysis, action plan, owner, target date, closure</a:t>
            </a:r>
            <a:endParaRPr lang="en-US" sz="940" dirty="0"/>
          </a:p>
        </p:txBody>
      </p:sp>
      <p:sp>
        <p:nvSpPr>
          <p:cNvPr id="25" name="Shape 19"/>
          <p:cNvSpPr/>
          <p:nvPr/>
        </p:nvSpPr>
        <p:spPr>
          <a:xfrm>
            <a:off x="5477256" y="2468880"/>
            <a:ext cx="694944" cy="0"/>
          </a:xfrm>
          <a:prstGeom prst="line">
            <a:avLst/>
          </a:prstGeom>
          <a:noFill/>
          <a:ln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190488" y="1901952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7B61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01384" y="2148840"/>
            <a:ext cx="521208" cy="5212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510528" y="27432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B61FF"/>
                </a:solidFill>
              </a:rPr>
              <a:t>04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5961888" y="3227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Monitor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897880" y="363931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KPI / outcome entry, formulas, validation and trends</a:t>
            </a:r>
            <a:endParaRPr lang="en-US" sz="940" dirty="0"/>
          </a:p>
        </p:txBody>
      </p:sp>
      <p:sp>
        <p:nvSpPr>
          <p:cNvPr id="31" name="Shape 24"/>
          <p:cNvSpPr/>
          <p:nvPr/>
        </p:nvSpPr>
        <p:spPr>
          <a:xfrm>
            <a:off x="7351776" y="2468880"/>
            <a:ext cx="694944" cy="0"/>
          </a:xfrm>
          <a:prstGeom prst="line">
            <a:avLst/>
          </a:prstGeom>
          <a:noFill/>
          <a:ln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8065008" y="1901952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2CB67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75904" y="2148840"/>
            <a:ext cx="521208" cy="5212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85048" y="27432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CB67D"/>
                </a:solidFill>
              </a:rPr>
              <a:t>05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7836408" y="3227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Certify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7772400" y="363931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Certification type, validity, renewal and history</a:t>
            </a:r>
            <a:endParaRPr lang="en-US" sz="940" dirty="0"/>
          </a:p>
        </p:txBody>
      </p:sp>
      <p:sp>
        <p:nvSpPr>
          <p:cNvPr id="37" name="Shape 29"/>
          <p:cNvSpPr/>
          <p:nvPr/>
        </p:nvSpPr>
        <p:spPr>
          <a:xfrm>
            <a:off x="9226296" y="2468880"/>
            <a:ext cx="694944" cy="0"/>
          </a:xfrm>
          <a:prstGeom prst="line">
            <a:avLst/>
          </a:prstGeom>
          <a:noFill/>
          <a:ln w="2794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9939528" y="1901952"/>
            <a:ext cx="1143000" cy="11430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E84A5F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50424" y="2148840"/>
            <a:ext cx="521208" cy="52120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259568" y="27432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4A5F"/>
                </a:solidFill>
              </a:rPr>
              <a:t>06</a:t>
            </a:r>
            <a:endParaRPr lang="en-US" sz="750" dirty="0"/>
          </a:p>
        </p:txBody>
      </p:sp>
      <p:sp>
        <p:nvSpPr>
          <p:cNvPr id="41" name="Text 32"/>
          <p:cNvSpPr/>
          <p:nvPr/>
        </p:nvSpPr>
        <p:spPr>
          <a:xfrm>
            <a:off x="9710928" y="32278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Learn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9646920" y="3639312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Dashboards, drill-down, reports and resource feedback</a:t>
            </a:r>
            <a:endParaRPr lang="en-US" sz="940" dirty="0"/>
          </a:p>
        </p:txBody>
      </p:sp>
      <p:sp>
        <p:nvSpPr>
          <p:cNvPr id="43" name="Shape 34"/>
          <p:cNvSpPr/>
          <p:nvPr/>
        </p:nvSpPr>
        <p:spPr>
          <a:xfrm>
            <a:off x="1417320" y="5138928"/>
            <a:ext cx="9372600" cy="713232"/>
          </a:xfrm>
          <a:prstGeom prst="roundRect">
            <a:avLst>
              <a:gd name="adj" fmla="val 10256"/>
            </a:avLst>
          </a:prstGeom>
          <a:solidFill>
            <a:srgbClr val="EAF5F3"/>
          </a:solidFill>
          <a:ln w="12700">
            <a:solidFill>
              <a:srgbClr val="CFE8E4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1737360" y="53675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F6F6A"/>
                </a:solidFill>
              </a:rPr>
              <a:t>Continuous Quality Improvement (CQI) loop: each reassessment creates a new evidence-backed improvement history instead of replacing the past.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PLATFORM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core engine, many sectors and frameworks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The reusable platform separates common capabilities from sector-specific configuration.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60520" y="1920240"/>
            <a:ext cx="3886200" cy="3566160"/>
          </a:xfrm>
          <a:prstGeom prst="roundRect">
            <a:avLst>
              <a:gd name="adj" fmla="val 205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81728" y="2212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SaQshi Core Platform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443984" y="2852928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24415B"/>
          </a:solidFill>
          <a:ln w="12700">
            <a:solidFill>
              <a:srgbClr val="38566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4568" y="298094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8032" y="297180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Identity &amp; RBAC</a:t>
            </a:r>
            <a:endParaRPr lang="en-US" sz="890" dirty="0"/>
          </a:p>
        </p:txBody>
      </p:sp>
      <p:sp>
        <p:nvSpPr>
          <p:cNvPr id="13" name="Shape 9"/>
          <p:cNvSpPr/>
          <p:nvPr/>
        </p:nvSpPr>
        <p:spPr>
          <a:xfrm>
            <a:off x="6144768" y="2852928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24415B"/>
          </a:solidFill>
          <a:ln w="12700">
            <a:solidFill>
              <a:srgbClr val="38566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5352" y="2980944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28816" y="297180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Framework Engine</a:t>
            </a:r>
            <a:endParaRPr lang="en-US" sz="890" dirty="0"/>
          </a:p>
        </p:txBody>
      </p:sp>
      <p:sp>
        <p:nvSpPr>
          <p:cNvPr id="16" name="Shape 11"/>
          <p:cNvSpPr/>
          <p:nvPr/>
        </p:nvSpPr>
        <p:spPr>
          <a:xfrm>
            <a:off x="4443984" y="356616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24415B"/>
          </a:solidFill>
          <a:ln w="12700">
            <a:solidFill>
              <a:srgbClr val="38566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44568" y="3694176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28032" y="368503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Assessment &amp; Scoring</a:t>
            </a:r>
            <a:endParaRPr lang="en-US" sz="890" dirty="0"/>
          </a:p>
        </p:txBody>
      </p:sp>
      <p:sp>
        <p:nvSpPr>
          <p:cNvPr id="19" name="Shape 13"/>
          <p:cNvSpPr/>
          <p:nvPr/>
        </p:nvSpPr>
        <p:spPr>
          <a:xfrm>
            <a:off x="6144768" y="3566160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24415B"/>
          </a:solidFill>
          <a:ln w="12700">
            <a:solidFill>
              <a:srgbClr val="38566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5352" y="3694176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28816" y="368503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CQI / Action Plan</a:t>
            </a:r>
            <a:endParaRPr lang="en-US" sz="890" dirty="0"/>
          </a:p>
        </p:txBody>
      </p:sp>
      <p:sp>
        <p:nvSpPr>
          <p:cNvPr id="22" name="Shape 15"/>
          <p:cNvSpPr/>
          <p:nvPr/>
        </p:nvSpPr>
        <p:spPr>
          <a:xfrm>
            <a:off x="4443984" y="4279392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24415B"/>
          </a:solidFill>
          <a:ln w="12700">
            <a:solidFill>
              <a:srgbClr val="38566F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44568" y="4407408"/>
            <a:ext cx="228600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828032" y="439826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KPI / Outcomes</a:t>
            </a:r>
            <a:endParaRPr lang="en-US" sz="890" dirty="0"/>
          </a:p>
        </p:txBody>
      </p:sp>
      <p:sp>
        <p:nvSpPr>
          <p:cNvPr id="25" name="Shape 17"/>
          <p:cNvSpPr/>
          <p:nvPr/>
        </p:nvSpPr>
        <p:spPr>
          <a:xfrm>
            <a:off x="6144768" y="4279392"/>
            <a:ext cx="1444752" cy="530352"/>
          </a:xfrm>
          <a:prstGeom prst="roundRect">
            <a:avLst>
              <a:gd name="adj" fmla="val 10345"/>
            </a:avLst>
          </a:prstGeom>
          <a:solidFill>
            <a:srgbClr val="24415B"/>
          </a:solidFill>
          <a:ln w="12700">
            <a:solidFill>
              <a:srgbClr val="38566F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45352" y="4407408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28816" y="439826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Analytics &amp; Export</a:t>
            </a:r>
            <a:endParaRPr lang="en-US" sz="890" dirty="0"/>
          </a:p>
        </p:txBody>
      </p:sp>
      <p:sp>
        <p:nvSpPr>
          <p:cNvPr id="28" name="Shape 19"/>
          <p:cNvSpPr/>
          <p:nvPr/>
        </p:nvSpPr>
        <p:spPr>
          <a:xfrm>
            <a:off x="685800" y="196596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896112" y="2194560"/>
            <a:ext cx="493776" cy="493776"/>
          </a:xfrm>
          <a:prstGeom prst="ellipse">
            <a:avLst/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2124" y="2290572"/>
            <a:ext cx="301752" cy="30175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527048" y="215798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Health</a:t>
            </a:r>
            <a:endParaRPr lang="en-US" sz="1320" dirty="0"/>
          </a:p>
        </p:txBody>
      </p:sp>
      <p:sp>
        <p:nvSpPr>
          <p:cNvPr id="32" name="Text 22"/>
          <p:cNvSpPr/>
          <p:nvPr/>
        </p:nvSpPr>
        <p:spPr>
          <a:xfrm>
            <a:off x="1527048" y="249631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NQAS • MusQan • LaQshya</a:t>
            </a:r>
            <a:endParaRPr lang="en-US" sz="920" dirty="0"/>
          </a:p>
        </p:txBody>
      </p:sp>
      <p:sp>
        <p:nvSpPr>
          <p:cNvPr id="33" name="Shape 23"/>
          <p:cNvSpPr/>
          <p:nvPr/>
        </p:nvSpPr>
        <p:spPr>
          <a:xfrm>
            <a:off x="3529584" y="2441448"/>
            <a:ext cx="566928" cy="0"/>
          </a:xfrm>
          <a:prstGeom prst="line">
            <a:avLst/>
          </a:prstGeom>
          <a:noFill/>
          <a:ln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34" name="Shape 24"/>
          <p:cNvSpPr/>
          <p:nvPr/>
        </p:nvSpPr>
        <p:spPr>
          <a:xfrm>
            <a:off x="685800" y="32918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896112" y="3520440"/>
            <a:ext cx="493776" cy="493776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2124" y="3616452"/>
            <a:ext cx="301752" cy="30175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1527048" y="348386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Education</a:t>
            </a:r>
            <a:endParaRPr lang="en-US" sz="1320" dirty="0"/>
          </a:p>
        </p:txBody>
      </p:sp>
      <p:sp>
        <p:nvSpPr>
          <p:cNvPr id="38" name="Text 27"/>
          <p:cNvSpPr/>
          <p:nvPr/>
        </p:nvSpPr>
        <p:spPr>
          <a:xfrm>
            <a:off x="1527048" y="382219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School • Class • Domain</a:t>
            </a:r>
            <a:endParaRPr lang="en-US" sz="920" dirty="0"/>
          </a:p>
        </p:txBody>
      </p:sp>
      <p:sp>
        <p:nvSpPr>
          <p:cNvPr id="39" name="Shape 28"/>
          <p:cNvSpPr/>
          <p:nvPr/>
        </p:nvSpPr>
        <p:spPr>
          <a:xfrm>
            <a:off x="3529584" y="3767328"/>
            <a:ext cx="566928" cy="0"/>
          </a:xfrm>
          <a:prstGeom prst="line">
            <a:avLst/>
          </a:prstGeom>
          <a:noFill/>
          <a:ln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40" name="Shape 29"/>
          <p:cNvSpPr/>
          <p:nvPr/>
        </p:nvSpPr>
        <p:spPr>
          <a:xfrm>
            <a:off x="685800" y="461772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896112" y="4846320"/>
            <a:ext cx="493776" cy="493776"/>
          </a:xfrm>
          <a:prstGeom prst="ellipse">
            <a:avLst/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2124" y="4942332"/>
            <a:ext cx="301752" cy="30175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527048" y="4809744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Beneficiary Experience</a:t>
            </a:r>
            <a:endParaRPr lang="en-US" sz="1320" dirty="0"/>
          </a:p>
        </p:txBody>
      </p:sp>
      <p:sp>
        <p:nvSpPr>
          <p:cNvPr id="44" name="Text 32"/>
          <p:cNvSpPr/>
          <p:nvPr/>
        </p:nvSpPr>
        <p:spPr>
          <a:xfrm>
            <a:off x="1527048" y="514807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Feedback • Social audit</a:t>
            </a:r>
            <a:endParaRPr lang="en-US" sz="920" dirty="0"/>
          </a:p>
        </p:txBody>
      </p:sp>
      <p:sp>
        <p:nvSpPr>
          <p:cNvPr id="45" name="Shape 33"/>
          <p:cNvSpPr/>
          <p:nvPr/>
        </p:nvSpPr>
        <p:spPr>
          <a:xfrm>
            <a:off x="3529584" y="5093208"/>
            <a:ext cx="566928" cy="0"/>
          </a:xfrm>
          <a:prstGeom prst="line">
            <a:avLst/>
          </a:prstGeom>
          <a:noFill/>
          <a:ln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46" name="Shape 34"/>
          <p:cNvSpPr/>
          <p:nvPr/>
        </p:nvSpPr>
        <p:spPr>
          <a:xfrm>
            <a:off x="8065008" y="2441448"/>
            <a:ext cx="548640" cy="0"/>
          </a:xfrm>
          <a:prstGeom prst="line">
            <a:avLst/>
          </a:prstGeom>
          <a:noFill/>
          <a:ln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47" name="Shape 35"/>
          <p:cNvSpPr/>
          <p:nvPr/>
        </p:nvSpPr>
        <p:spPr>
          <a:xfrm>
            <a:off x="8668512" y="196596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48" name="Shape 36"/>
          <p:cNvSpPr/>
          <p:nvPr/>
        </p:nvSpPr>
        <p:spPr>
          <a:xfrm>
            <a:off x="8869680" y="2194560"/>
            <a:ext cx="493776" cy="493776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65692" y="2290572"/>
            <a:ext cx="301752" cy="301752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9500616" y="21579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Framework Pack</a:t>
            </a:r>
            <a:endParaRPr lang="en-US" sz="1300" dirty="0"/>
          </a:p>
        </p:txBody>
      </p:sp>
      <p:sp>
        <p:nvSpPr>
          <p:cNvPr id="51" name="Text 38"/>
          <p:cNvSpPr/>
          <p:nvPr/>
        </p:nvSpPr>
        <p:spPr>
          <a:xfrm>
            <a:off x="9500616" y="249631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JSON configuration</a:t>
            </a:r>
            <a:endParaRPr lang="en-US" sz="920" dirty="0"/>
          </a:p>
        </p:txBody>
      </p:sp>
      <p:sp>
        <p:nvSpPr>
          <p:cNvPr id="52" name="Shape 39"/>
          <p:cNvSpPr/>
          <p:nvPr/>
        </p:nvSpPr>
        <p:spPr>
          <a:xfrm>
            <a:off x="8065008" y="3767328"/>
            <a:ext cx="548640" cy="0"/>
          </a:xfrm>
          <a:prstGeom prst="line">
            <a:avLst/>
          </a:prstGeom>
          <a:noFill/>
          <a:ln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53" name="Shape 40"/>
          <p:cNvSpPr/>
          <p:nvPr/>
        </p:nvSpPr>
        <p:spPr>
          <a:xfrm>
            <a:off x="8668512" y="329184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54" name="Shape 41"/>
          <p:cNvSpPr/>
          <p:nvPr/>
        </p:nvSpPr>
        <p:spPr>
          <a:xfrm>
            <a:off x="8869680" y="3520440"/>
            <a:ext cx="493776" cy="493776"/>
          </a:xfrm>
          <a:prstGeom prst="ellipse">
            <a:avLst/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965692" y="3616452"/>
            <a:ext cx="301752" cy="301752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9500616" y="348386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Geography &amp; Hierarchy</a:t>
            </a:r>
            <a:endParaRPr lang="en-US" sz="1300" dirty="0"/>
          </a:p>
        </p:txBody>
      </p:sp>
      <p:sp>
        <p:nvSpPr>
          <p:cNvPr id="57" name="Text 43"/>
          <p:cNvSpPr/>
          <p:nvPr/>
        </p:nvSpPr>
        <p:spPr>
          <a:xfrm>
            <a:off x="9500616" y="382219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State → district → entity</a:t>
            </a:r>
            <a:endParaRPr lang="en-US" sz="920" dirty="0"/>
          </a:p>
        </p:txBody>
      </p:sp>
      <p:sp>
        <p:nvSpPr>
          <p:cNvPr id="58" name="Shape 44"/>
          <p:cNvSpPr/>
          <p:nvPr/>
        </p:nvSpPr>
        <p:spPr>
          <a:xfrm>
            <a:off x="8065008" y="5093208"/>
            <a:ext cx="548640" cy="0"/>
          </a:xfrm>
          <a:prstGeom prst="line">
            <a:avLst/>
          </a:prstGeom>
          <a:noFill/>
          <a:ln w="1905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59" name="Shape 45"/>
          <p:cNvSpPr/>
          <p:nvPr/>
        </p:nvSpPr>
        <p:spPr>
          <a:xfrm>
            <a:off x="8668512" y="46177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60" name="Shape 46"/>
          <p:cNvSpPr/>
          <p:nvPr/>
        </p:nvSpPr>
        <p:spPr>
          <a:xfrm>
            <a:off x="8869680" y="4846320"/>
            <a:ext cx="493776" cy="493776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65692" y="4942332"/>
            <a:ext cx="301752" cy="301752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9500616" y="480974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Deployment Profile</a:t>
            </a:r>
            <a:endParaRPr lang="en-US" sz="1300" dirty="0"/>
          </a:p>
        </p:txBody>
      </p:sp>
      <p:sp>
        <p:nvSpPr>
          <p:cNvPr id="63" name="Text 48"/>
          <p:cNvSpPr/>
          <p:nvPr/>
        </p:nvSpPr>
        <p:spPr>
          <a:xfrm>
            <a:off x="9500616" y="514807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Cloud / on-prem / tenant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CROSS-SECTOR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 → Education → any structured quality program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SaQshi works because the underlying quality-assurance pattern is the same even when the vocabulary changes.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" y="1737360"/>
            <a:ext cx="2148840" cy="566928"/>
          </a:xfrm>
          <a:prstGeom prst="roundRect">
            <a:avLst>
              <a:gd name="adj" fmla="val 4839"/>
            </a:avLst>
          </a:prstGeom>
          <a:solidFill>
            <a:srgbClr val="1632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911096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Quality concept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2807208" y="1737360"/>
            <a:ext cx="2743200" cy="566928"/>
          </a:xfrm>
          <a:prstGeom prst="roundRect">
            <a:avLst>
              <a:gd name="adj" fmla="val 4839"/>
            </a:avLst>
          </a:prstGeom>
          <a:solidFill>
            <a:srgbClr val="2CB67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880360" y="191109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HEALTH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5596128" y="1737360"/>
            <a:ext cx="2743200" cy="566928"/>
          </a:xfrm>
          <a:prstGeom prst="roundRect">
            <a:avLst>
              <a:gd name="adj" fmla="val 4839"/>
            </a:avLst>
          </a:prstGeom>
          <a:solidFill>
            <a:srgbClr val="2D7F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0" y="191109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EDUCATION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8385048" y="1737360"/>
            <a:ext cx="3383280" cy="566928"/>
          </a:xfrm>
          <a:prstGeom prst="roundRect">
            <a:avLst>
              <a:gd name="adj" fmla="val 4839"/>
            </a:avLst>
          </a:prstGeom>
          <a:solidFill>
            <a:srgbClr val="2F6F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1911096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SAQSHI CONFIGURATION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12648" y="2395728"/>
            <a:ext cx="21488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505456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24F"/>
                </a:solidFill>
              </a:rPr>
              <a:t>Quality entity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2807208" y="2395728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80360" y="250545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Health facility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5596128" y="2395728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69280" y="250545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School / institution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8385048" y="2395728"/>
            <a:ext cx="3383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58200" y="2505456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Facility types / entity types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12648" y="2926080"/>
            <a:ext cx="214884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5800" y="3035808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24F"/>
                </a:solidFill>
              </a:rPr>
              <a:t>Operational unit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2807208" y="2926080"/>
            <a:ext cx="274320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80360" y="30358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Department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5596128" y="2926080"/>
            <a:ext cx="274320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0" y="303580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Class / grade / unit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8385048" y="2926080"/>
            <a:ext cx="338328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58200" y="303580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Departments / sub-entities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612648" y="3456432"/>
            <a:ext cx="21488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85800" y="3566160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24F"/>
                </a:solidFill>
              </a:rPr>
              <a:t>Quality dimension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2807208" y="3456432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880360" y="356616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Area of concern / standard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5596128" y="3456432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0" y="356616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Domain / theme</a:t>
            </a:r>
            <a:endParaRPr lang="en-US" sz="960" dirty="0"/>
          </a:p>
        </p:txBody>
      </p:sp>
      <p:sp>
        <p:nvSpPr>
          <p:cNvPr id="38" name="Shape 35"/>
          <p:cNvSpPr/>
          <p:nvPr/>
        </p:nvSpPr>
        <p:spPr>
          <a:xfrm>
            <a:off x="8385048" y="3456432"/>
            <a:ext cx="3383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458200" y="356616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Framework domains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612648" y="3986784"/>
            <a:ext cx="214884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" y="4096512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24F"/>
                </a:solidFill>
              </a:rPr>
              <a:t>Assessment item</a:t>
            </a:r>
            <a:endParaRPr lang="en-US" sz="960" dirty="0"/>
          </a:p>
        </p:txBody>
      </p:sp>
      <p:sp>
        <p:nvSpPr>
          <p:cNvPr id="42" name="Shape 39"/>
          <p:cNvSpPr/>
          <p:nvPr/>
        </p:nvSpPr>
        <p:spPr>
          <a:xfrm>
            <a:off x="2807208" y="3986784"/>
            <a:ext cx="274320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880360" y="409651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Checkpoint</a:t>
            </a:r>
            <a:endParaRPr lang="en-US" sz="960" dirty="0"/>
          </a:p>
        </p:txBody>
      </p:sp>
      <p:sp>
        <p:nvSpPr>
          <p:cNvPr id="44" name="Shape 41"/>
          <p:cNvSpPr/>
          <p:nvPr/>
        </p:nvSpPr>
        <p:spPr>
          <a:xfrm>
            <a:off x="5596128" y="3986784"/>
            <a:ext cx="274320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669280" y="409651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Observation / indicator</a:t>
            </a:r>
            <a:endParaRPr lang="en-US" sz="960" dirty="0"/>
          </a:p>
        </p:txBody>
      </p:sp>
      <p:sp>
        <p:nvSpPr>
          <p:cNvPr id="46" name="Shape 43"/>
          <p:cNvSpPr/>
          <p:nvPr/>
        </p:nvSpPr>
        <p:spPr>
          <a:xfrm>
            <a:off x="8385048" y="3986784"/>
            <a:ext cx="338328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58200" y="4096512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Configurable checkpoint</a:t>
            </a:r>
            <a:endParaRPr lang="en-US" sz="960" dirty="0"/>
          </a:p>
        </p:txBody>
      </p:sp>
      <p:sp>
        <p:nvSpPr>
          <p:cNvPr id="48" name="Shape 45"/>
          <p:cNvSpPr/>
          <p:nvPr/>
        </p:nvSpPr>
        <p:spPr>
          <a:xfrm>
            <a:off x="612648" y="4517136"/>
            <a:ext cx="21488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85800" y="4626864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24F"/>
                </a:solidFill>
              </a:rPr>
              <a:t>Evidence</a:t>
            </a:r>
            <a:endParaRPr lang="en-US" sz="960" dirty="0"/>
          </a:p>
        </p:txBody>
      </p:sp>
      <p:sp>
        <p:nvSpPr>
          <p:cNvPr id="50" name="Shape 47"/>
          <p:cNvSpPr/>
          <p:nvPr/>
        </p:nvSpPr>
        <p:spPr>
          <a:xfrm>
            <a:off x="2807208" y="4517136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880360" y="46268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Document / observation</a:t>
            </a:r>
            <a:endParaRPr lang="en-US" sz="960" dirty="0"/>
          </a:p>
        </p:txBody>
      </p:sp>
      <p:sp>
        <p:nvSpPr>
          <p:cNvPr id="52" name="Shape 49"/>
          <p:cNvSpPr/>
          <p:nvPr/>
        </p:nvSpPr>
        <p:spPr>
          <a:xfrm>
            <a:off x="5596128" y="4517136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669280" y="46268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Classroom evidence / records</a:t>
            </a:r>
            <a:endParaRPr lang="en-US" sz="960" dirty="0"/>
          </a:p>
        </p:txBody>
      </p:sp>
      <p:sp>
        <p:nvSpPr>
          <p:cNvPr id="54" name="Shape 51"/>
          <p:cNvSpPr/>
          <p:nvPr/>
        </p:nvSpPr>
        <p:spPr>
          <a:xfrm>
            <a:off x="8385048" y="4517136"/>
            <a:ext cx="3383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458200" y="4626864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File / note / score</a:t>
            </a:r>
            <a:endParaRPr lang="en-US" sz="960" dirty="0"/>
          </a:p>
        </p:txBody>
      </p:sp>
      <p:sp>
        <p:nvSpPr>
          <p:cNvPr id="56" name="Shape 53"/>
          <p:cNvSpPr/>
          <p:nvPr/>
        </p:nvSpPr>
        <p:spPr>
          <a:xfrm>
            <a:off x="612648" y="5047488"/>
            <a:ext cx="214884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85800" y="5157216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24F"/>
                </a:solidFill>
              </a:rPr>
              <a:t>Improvement</a:t>
            </a:r>
            <a:endParaRPr lang="en-US" sz="960" dirty="0"/>
          </a:p>
        </p:txBody>
      </p:sp>
      <p:sp>
        <p:nvSpPr>
          <p:cNvPr id="58" name="Shape 55"/>
          <p:cNvSpPr/>
          <p:nvPr/>
        </p:nvSpPr>
        <p:spPr>
          <a:xfrm>
            <a:off x="2807208" y="5047488"/>
            <a:ext cx="274320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880360" y="515721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Gap + action plan</a:t>
            </a:r>
            <a:endParaRPr lang="en-US" sz="960" dirty="0"/>
          </a:p>
        </p:txBody>
      </p:sp>
      <p:sp>
        <p:nvSpPr>
          <p:cNvPr id="60" name="Shape 57"/>
          <p:cNvSpPr/>
          <p:nvPr/>
        </p:nvSpPr>
        <p:spPr>
          <a:xfrm>
            <a:off x="5596128" y="5047488"/>
            <a:ext cx="274320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669280" y="515721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Low domain + improvement action</a:t>
            </a:r>
            <a:endParaRPr lang="en-US" sz="960" dirty="0"/>
          </a:p>
        </p:txBody>
      </p:sp>
      <p:sp>
        <p:nvSpPr>
          <p:cNvPr id="62" name="Shape 59"/>
          <p:cNvSpPr/>
          <p:nvPr/>
        </p:nvSpPr>
        <p:spPr>
          <a:xfrm>
            <a:off x="8385048" y="5047488"/>
            <a:ext cx="3383280" cy="475488"/>
          </a:xfrm>
          <a:prstGeom prst="rect">
            <a:avLst/>
          </a:prstGeom>
          <a:solidFill>
            <a:srgbClr val="F1F5F7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458200" y="5157216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Generic CQI workflow</a:t>
            </a:r>
            <a:endParaRPr lang="en-US" sz="960" dirty="0"/>
          </a:p>
        </p:txBody>
      </p:sp>
      <p:sp>
        <p:nvSpPr>
          <p:cNvPr id="64" name="Shape 61"/>
          <p:cNvSpPr/>
          <p:nvPr/>
        </p:nvSpPr>
        <p:spPr>
          <a:xfrm>
            <a:off x="612648" y="5577840"/>
            <a:ext cx="214884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5800" y="5687568"/>
            <a:ext cx="2002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6324F"/>
                </a:solidFill>
              </a:rPr>
              <a:t>Performance</a:t>
            </a:r>
            <a:endParaRPr lang="en-US" sz="960" dirty="0"/>
          </a:p>
        </p:txBody>
      </p:sp>
      <p:sp>
        <p:nvSpPr>
          <p:cNvPr id="66" name="Shape 63"/>
          <p:cNvSpPr/>
          <p:nvPr/>
        </p:nvSpPr>
        <p:spPr>
          <a:xfrm>
            <a:off x="2807208" y="5577840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880360" y="56875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KPI / outcome indicator</a:t>
            </a:r>
            <a:endParaRPr lang="en-US" sz="960" dirty="0"/>
          </a:p>
        </p:txBody>
      </p:sp>
      <p:sp>
        <p:nvSpPr>
          <p:cNvPr id="68" name="Shape 65"/>
          <p:cNvSpPr/>
          <p:nvPr/>
        </p:nvSpPr>
        <p:spPr>
          <a:xfrm>
            <a:off x="5596128" y="5577840"/>
            <a:ext cx="27432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669280" y="56875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Class / school performance</a:t>
            </a:r>
            <a:endParaRPr lang="en-US" sz="960" dirty="0"/>
          </a:p>
        </p:txBody>
      </p:sp>
      <p:sp>
        <p:nvSpPr>
          <p:cNvPr id="70" name="Shape 67"/>
          <p:cNvSpPr/>
          <p:nvPr/>
        </p:nvSpPr>
        <p:spPr>
          <a:xfrm>
            <a:off x="8385048" y="5577840"/>
            <a:ext cx="338328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DCE4EA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458200" y="5687568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D2B36"/>
                </a:solidFill>
              </a:rPr>
              <a:t>Indicator engine + analytics</a:t>
            </a:r>
            <a:endParaRPr lang="en-US" sz="960" dirty="0"/>
          </a:p>
        </p:txBody>
      </p:sp>
      <p:sp>
        <p:nvSpPr>
          <p:cNvPr id="72" name="Text 69"/>
          <p:cNvSpPr/>
          <p:nvPr/>
        </p:nvSpPr>
        <p:spPr>
          <a:xfrm>
            <a:off x="960120" y="58978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F6A"/>
                </a:solidFill>
              </a:rPr>
              <a:t>Result: the platform can absorb new frameworks without rebuilding authentication, assessment workflow, CQI, analytics and governance every time.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HEALTH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 quality assurance: from facility assessment to certification readiness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Designed around facility types, departments, checkpoints, gaps, indicators and improvement cycles.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755648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6132" y="21534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27632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Multiple frameworks</a:t>
            </a:r>
            <a:endParaRPr lang="en-US" sz="1320" dirty="0"/>
          </a:p>
        </p:txBody>
      </p:sp>
      <p:sp>
        <p:nvSpPr>
          <p:cNvPr id="12" name="Text 8"/>
          <p:cNvSpPr/>
          <p:nvPr/>
        </p:nvSpPr>
        <p:spPr>
          <a:xfrm>
            <a:off x="342900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B36"/>
                </a:solidFill>
              </a:rPr>
              <a:t>NQAS, MusQan, LaQshya and future framework packs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6263640" y="1755648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92240" y="2057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8252" y="21534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9752" y="19385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Facility hierarchy</a:t>
            </a:r>
            <a:endParaRPr lang="en-US" sz="1320" dirty="0"/>
          </a:p>
        </p:txBody>
      </p:sp>
      <p:sp>
        <p:nvSpPr>
          <p:cNvPr id="17" name="Text 12"/>
          <p:cNvSpPr/>
          <p:nvPr/>
        </p:nvSpPr>
        <p:spPr>
          <a:xfrm>
            <a:off x="896112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B36"/>
                </a:solidFill>
              </a:rPr>
              <a:t>DH, SDH, CHC, PHC, APHC, HWC and configurable types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731520" y="315468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60120" y="34564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132" y="3552444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27632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Department activation</a:t>
            </a:r>
            <a:endParaRPr lang="en-US" sz="1320" dirty="0"/>
          </a:p>
        </p:txBody>
      </p:sp>
      <p:sp>
        <p:nvSpPr>
          <p:cNvPr id="22" name="Text 16"/>
          <p:cNvSpPr/>
          <p:nvPr/>
        </p:nvSpPr>
        <p:spPr>
          <a:xfrm>
            <a:off x="3429000" y="33192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B36"/>
                </a:solidFill>
              </a:rPr>
              <a:t>Enable only the departments relevant to a facility / assessment period</a:t>
            </a:r>
            <a:endParaRPr lang="en-US" sz="1030" dirty="0"/>
          </a:p>
        </p:txBody>
      </p:sp>
      <p:sp>
        <p:nvSpPr>
          <p:cNvPr id="23" name="Shape 17"/>
          <p:cNvSpPr/>
          <p:nvPr/>
        </p:nvSpPr>
        <p:spPr>
          <a:xfrm>
            <a:off x="6263640" y="3154680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92240" y="345643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88252" y="3552444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9752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Assessment cycles</a:t>
            </a:r>
            <a:endParaRPr lang="en-US" sz="1320" dirty="0"/>
          </a:p>
        </p:txBody>
      </p:sp>
      <p:sp>
        <p:nvSpPr>
          <p:cNvPr id="27" name="Text 20"/>
          <p:cNvSpPr/>
          <p:nvPr/>
        </p:nvSpPr>
        <p:spPr>
          <a:xfrm>
            <a:off x="8961120" y="331927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B36"/>
                </a:solidFill>
              </a:rPr>
              <a:t>Baseline, self-assessment, reassessment and multiple cycles</a:t>
            </a:r>
            <a:endParaRPr lang="en-US" sz="1030" dirty="0"/>
          </a:p>
        </p:txBody>
      </p:sp>
      <p:sp>
        <p:nvSpPr>
          <p:cNvPr id="28" name="Shape 21"/>
          <p:cNvSpPr/>
          <p:nvPr/>
        </p:nvSpPr>
        <p:spPr>
          <a:xfrm>
            <a:off x="731520" y="4553712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60120" y="485546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6132" y="4951476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627632" y="4736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Outcome monitoring</a:t>
            </a:r>
            <a:endParaRPr lang="en-US" sz="1320" dirty="0"/>
          </a:p>
        </p:txBody>
      </p:sp>
      <p:sp>
        <p:nvSpPr>
          <p:cNvPr id="32" name="Text 24"/>
          <p:cNvSpPr/>
          <p:nvPr/>
        </p:nvSpPr>
        <p:spPr>
          <a:xfrm>
            <a:off x="3429000" y="47183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B36"/>
                </a:solidFill>
              </a:rPr>
              <a:t>Monthly KPI / outcome entry with validation and trend visualization</a:t>
            </a:r>
            <a:endParaRPr lang="en-US" sz="1030" dirty="0"/>
          </a:p>
        </p:txBody>
      </p:sp>
      <p:sp>
        <p:nvSpPr>
          <p:cNvPr id="33" name="Shape 25"/>
          <p:cNvSpPr/>
          <p:nvPr/>
        </p:nvSpPr>
        <p:spPr>
          <a:xfrm>
            <a:off x="6263640" y="4553712"/>
            <a:ext cx="5074920" cy="1097280"/>
          </a:xfrm>
          <a:prstGeom prst="roundRect">
            <a:avLst>
              <a:gd name="adj" fmla="val 6667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92240" y="485546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88252" y="4951476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159752" y="47365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6324F"/>
                </a:solidFill>
              </a:rPr>
              <a:t>Certification tracking</a:t>
            </a:r>
            <a:endParaRPr lang="en-US" sz="1320" dirty="0"/>
          </a:p>
        </p:txBody>
      </p:sp>
      <p:sp>
        <p:nvSpPr>
          <p:cNvPr id="37" name="Text 28"/>
          <p:cNvSpPr/>
          <p:nvPr/>
        </p:nvSpPr>
        <p:spPr>
          <a:xfrm>
            <a:off x="8961120" y="47183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D2B36"/>
                </a:solidFill>
              </a:rPr>
              <a:t>State, national, conditional certification, validity and renewal history</a:t>
            </a:r>
            <a:endParaRPr lang="en-US" sz="1030" dirty="0"/>
          </a:p>
        </p:txBody>
      </p:sp>
      <p:sp>
        <p:nvSpPr>
          <p:cNvPr id="38" name="Shape 29"/>
          <p:cNvSpPr/>
          <p:nvPr/>
        </p:nvSpPr>
        <p:spPr>
          <a:xfrm>
            <a:off x="1965960" y="5623560"/>
            <a:ext cx="8275320" cy="530352"/>
          </a:xfrm>
          <a:prstGeom prst="roundRect">
            <a:avLst>
              <a:gd name="adj" fmla="val 1379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2194560" y="5797296"/>
            <a:ext cx="7818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</a:rPr>
              <a:t>Health workflow: FACILITY → DEPARTMENT → CHECKPOINT → GAP → ACTION PLAN → REASSESSMENT → KPI/OUTCOME → CERTIFICATION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EDUCATION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 quality improvement uses the same platform primitives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Schools, classes and quality domains can be assessed, compared and improved without creating a separate product.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8745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D7F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152" y="2093976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5528" y="26791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</a:rPr>
              <a:t>School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95528" y="2999232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5F7180"/>
                </a:solidFill>
              </a:rPr>
              <a:t>Entity</a:t>
            </a:r>
            <a:endParaRPr lang="en-US" sz="790" dirty="0"/>
          </a:p>
        </p:txBody>
      </p:sp>
      <p:sp>
        <p:nvSpPr>
          <p:cNvPr id="12" name="Shape 8"/>
          <p:cNvSpPr/>
          <p:nvPr/>
        </p:nvSpPr>
        <p:spPr>
          <a:xfrm>
            <a:off x="2286000" y="2423160"/>
            <a:ext cx="548640" cy="0"/>
          </a:xfrm>
          <a:prstGeom prst="line">
            <a:avLst/>
          </a:prstGeom>
          <a:noFill/>
          <a:ln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907792" y="18745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F6F6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8144" y="2093976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26791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</a:rPr>
              <a:t>Class / Grade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017520" y="2999232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5F7180"/>
                </a:solidFill>
              </a:rPr>
              <a:t>Operational unit</a:t>
            </a:r>
            <a:endParaRPr lang="en-US" sz="790" dirty="0"/>
          </a:p>
        </p:txBody>
      </p:sp>
      <p:sp>
        <p:nvSpPr>
          <p:cNvPr id="17" name="Shape 12"/>
          <p:cNvSpPr/>
          <p:nvPr/>
        </p:nvSpPr>
        <p:spPr>
          <a:xfrm>
            <a:off x="4507992" y="2423160"/>
            <a:ext cx="548640" cy="0"/>
          </a:xfrm>
          <a:prstGeom prst="line">
            <a:avLst/>
          </a:prstGeom>
          <a:noFill/>
          <a:ln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129784" y="18745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0136" y="2093976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239512" y="26791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</a:rPr>
              <a:t>Domain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239512" y="2999232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5F7180"/>
                </a:solidFill>
              </a:rPr>
              <a:t>Quality dimension</a:t>
            </a:r>
            <a:endParaRPr lang="en-US" sz="790" dirty="0"/>
          </a:p>
        </p:txBody>
      </p:sp>
      <p:sp>
        <p:nvSpPr>
          <p:cNvPr id="22" name="Shape 16"/>
          <p:cNvSpPr/>
          <p:nvPr/>
        </p:nvSpPr>
        <p:spPr>
          <a:xfrm>
            <a:off x="6729984" y="2423160"/>
            <a:ext cx="548640" cy="0"/>
          </a:xfrm>
          <a:prstGeom prst="line">
            <a:avLst/>
          </a:prstGeom>
          <a:noFill/>
          <a:ln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351776" y="18745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18A2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82128" y="2093976"/>
            <a:ext cx="502920" cy="5029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461504" y="26791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</a:rPr>
              <a:t>Assessment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7461504" y="2999232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5F7180"/>
                </a:solidFill>
              </a:rPr>
              <a:t>Latest per class</a:t>
            </a:r>
            <a:endParaRPr lang="en-US" sz="790" dirty="0"/>
          </a:p>
        </p:txBody>
      </p:sp>
      <p:sp>
        <p:nvSpPr>
          <p:cNvPr id="27" name="Shape 20"/>
          <p:cNvSpPr/>
          <p:nvPr/>
        </p:nvSpPr>
        <p:spPr>
          <a:xfrm>
            <a:off x="8951976" y="2423160"/>
            <a:ext cx="548640" cy="0"/>
          </a:xfrm>
          <a:prstGeom prst="line">
            <a:avLst/>
          </a:prstGeom>
          <a:noFill/>
          <a:ln w="22860">
            <a:solidFill>
              <a:srgbClr val="AFC0CC"/>
            </a:solidFill>
            <a:prstDash val="solid"/>
            <a:headEnd type="none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9573768" y="1874520"/>
            <a:ext cx="157276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CB67D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04120" y="2093976"/>
            <a:ext cx="502920" cy="5029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83496" y="267919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</a:rPr>
              <a:t>Improvement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9683496" y="2999232"/>
            <a:ext cx="13533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5F7180"/>
                </a:solidFill>
              </a:rPr>
              <a:t>Lowest-domain action</a:t>
            </a:r>
            <a:endParaRPr lang="en-US" sz="790" dirty="0"/>
          </a:p>
        </p:txBody>
      </p:sp>
      <p:sp>
        <p:nvSpPr>
          <p:cNvPr id="32" name="Shape 24"/>
          <p:cNvSpPr/>
          <p:nvPr/>
        </p:nvSpPr>
        <p:spPr>
          <a:xfrm>
            <a:off x="822960" y="3886200"/>
            <a:ext cx="3017520" cy="1490472"/>
          </a:xfrm>
          <a:prstGeom prst="roundRect">
            <a:avLst>
              <a:gd name="adj" fmla="val 4908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24128" y="413308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20140" y="4229100"/>
            <a:ext cx="246888" cy="2468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572768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</a:rPr>
              <a:t>Latest-assessment logic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024128" y="4599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When a class is assessed multiple times, analytics can use only the latest completed assessment.</a:t>
            </a:r>
            <a:endParaRPr lang="en-US" sz="970" dirty="0"/>
          </a:p>
        </p:txBody>
      </p:sp>
      <p:sp>
        <p:nvSpPr>
          <p:cNvPr id="37" name="Shape 28"/>
          <p:cNvSpPr/>
          <p:nvPr/>
        </p:nvSpPr>
        <p:spPr>
          <a:xfrm>
            <a:off x="4224528" y="3886200"/>
            <a:ext cx="3017520" cy="1490472"/>
          </a:xfrm>
          <a:prstGeom prst="roundRect">
            <a:avLst>
              <a:gd name="adj" fmla="val 4908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4425696" y="413308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21708" y="4229100"/>
            <a:ext cx="246888" cy="2468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974336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</a:rPr>
              <a:t>Domain diagnostics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4425696" y="4599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Identify the lowest-performing domain for each class and focus the improvement conversation.</a:t>
            </a:r>
            <a:endParaRPr lang="en-US" sz="970" dirty="0"/>
          </a:p>
        </p:txBody>
      </p:sp>
      <p:sp>
        <p:nvSpPr>
          <p:cNvPr id="42" name="Shape 32"/>
          <p:cNvSpPr/>
          <p:nvPr/>
        </p:nvSpPr>
        <p:spPr>
          <a:xfrm>
            <a:off x="7626096" y="3886200"/>
            <a:ext cx="3017520" cy="1490472"/>
          </a:xfrm>
          <a:prstGeom prst="roundRect">
            <a:avLst>
              <a:gd name="adj" fmla="val 4908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7827264" y="413308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23276" y="4229100"/>
            <a:ext cx="246888" cy="24688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8375904" y="4069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</a:rPr>
              <a:t>District / state view</a:t>
            </a:r>
            <a:endParaRPr lang="en-US" sz="1250" dirty="0"/>
          </a:p>
        </p:txBody>
      </p:sp>
      <p:sp>
        <p:nvSpPr>
          <p:cNvPr id="46" name="Text 35"/>
          <p:cNvSpPr/>
          <p:nvPr/>
        </p:nvSpPr>
        <p:spPr>
          <a:xfrm>
            <a:off x="7827264" y="45994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Class-wise completion, top/low schools, district comparisons and trend reporting.</a:t>
            </a:r>
            <a:endParaRPr lang="en-US" sz="970" dirty="0"/>
          </a:p>
        </p:txBody>
      </p:sp>
      <p:sp>
        <p:nvSpPr>
          <p:cNvPr id="47" name="Text 36"/>
          <p:cNvSpPr/>
          <p:nvPr/>
        </p:nvSpPr>
        <p:spPr>
          <a:xfrm>
            <a:off x="3200400" y="570585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7FF9"/>
                </a:solidFill>
              </a:rPr>
              <a:t>The sector changes. The platform workflow does not.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WORKFLOW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functional workflow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A single transaction chain connects configuration, assessment, improvement, performance and governance.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17373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1920240"/>
            <a:ext cx="502920" cy="502920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0482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1448" y="1911096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" y="2578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Onboard</a:t>
            </a:r>
            <a:endParaRPr lang="en-US" sz="1430" dirty="0"/>
          </a:p>
        </p:txBody>
      </p:sp>
      <p:sp>
        <p:nvSpPr>
          <p:cNvPr id="13" name="Text 9"/>
          <p:cNvSpPr/>
          <p:nvPr/>
        </p:nvSpPr>
        <p:spPr>
          <a:xfrm>
            <a:off x="768096" y="296265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Users • roles • hierarchy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3072384" y="2606040"/>
            <a:ext cx="237744" cy="0"/>
          </a:xfrm>
          <a:prstGeom prst="line">
            <a:avLst/>
          </a:prstGeom>
          <a:noFill/>
          <a:ln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383280" y="17373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66160" y="20482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7800" y="1911096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84448" y="2578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Activate</a:t>
            </a:r>
            <a:endParaRPr lang="en-US" sz="1430" dirty="0"/>
          </a:p>
        </p:txBody>
      </p:sp>
      <p:sp>
        <p:nvSpPr>
          <p:cNvPr id="20" name="Text 15"/>
          <p:cNvSpPr/>
          <p:nvPr/>
        </p:nvSpPr>
        <p:spPr>
          <a:xfrm>
            <a:off x="3584448" y="296265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Framework • entity • department</a:t>
            </a:r>
            <a:endParaRPr lang="en-US" sz="940" dirty="0"/>
          </a:p>
        </p:txBody>
      </p:sp>
      <p:sp>
        <p:nvSpPr>
          <p:cNvPr id="21" name="Shape 16"/>
          <p:cNvSpPr/>
          <p:nvPr/>
        </p:nvSpPr>
        <p:spPr>
          <a:xfrm>
            <a:off x="5888736" y="2606040"/>
            <a:ext cx="237744" cy="0"/>
          </a:xfrm>
          <a:prstGeom prst="line">
            <a:avLst/>
          </a:prstGeom>
          <a:noFill/>
          <a:ln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199632" y="17373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82512" y="1920240"/>
            <a:ext cx="502920" cy="502920"/>
          </a:xfrm>
          <a:prstGeom prst="ellipse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82512" y="20482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4152" y="1911096"/>
            <a:ext cx="393192" cy="3931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400800" y="2578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Assess</a:t>
            </a:r>
            <a:endParaRPr lang="en-US" sz="1430" dirty="0"/>
          </a:p>
        </p:txBody>
      </p:sp>
      <p:sp>
        <p:nvSpPr>
          <p:cNvPr id="27" name="Text 21"/>
          <p:cNvSpPr/>
          <p:nvPr/>
        </p:nvSpPr>
        <p:spPr>
          <a:xfrm>
            <a:off x="6400800" y="296265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Checkpoint response • evidence</a:t>
            </a:r>
            <a:endParaRPr lang="en-US" sz="940" dirty="0"/>
          </a:p>
        </p:txBody>
      </p:sp>
      <p:sp>
        <p:nvSpPr>
          <p:cNvPr id="28" name="Shape 22"/>
          <p:cNvSpPr/>
          <p:nvPr/>
        </p:nvSpPr>
        <p:spPr>
          <a:xfrm>
            <a:off x="8705088" y="2606040"/>
            <a:ext cx="237744" cy="0"/>
          </a:xfrm>
          <a:prstGeom prst="line">
            <a:avLst/>
          </a:prstGeom>
          <a:noFill/>
          <a:ln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9015984" y="1737360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198864" y="1920240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198864" y="204825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90504" y="1911096"/>
            <a:ext cx="393192" cy="3931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217152" y="25786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Score</a:t>
            </a:r>
            <a:endParaRPr lang="en-US" sz="1430" dirty="0"/>
          </a:p>
        </p:txBody>
      </p:sp>
      <p:sp>
        <p:nvSpPr>
          <p:cNvPr id="34" name="Text 27"/>
          <p:cNvSpPr/>
          <p:nvPr/>
        </p:nvSpPr>
        <p:spPr>
          <a:xfrm>
            <a:off x="9217152" y="2962656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Auto score • compliance • gaps</a:t>
            </a:r>
            <a:endParaRPr lang="en-US" sz="940" dirty="0"/>
          </a:p>
        </p:txBody>
      </p:sp>
      <p:sp>
        <p:nvSpPr>
          <p:cNvPr id="35" name="Shape 28"/>
          <p:cNvSpPr/>
          <p:nvPr/>
        </p:nvSpPr>
        <p:spPr>
          <a:xfrm>
            <a:off x="566928" y="3995928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749808" y="4178808"/>
            <a:ext cx="502920" cy="502920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49808" y="430682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41448" y="4169664"/>
            <a:ext cx="393192" cy="39319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68096" y="4837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Act</a:t>
            </a:r>
            <a:endParaRPr lang="en-US" sz="1430" dirty="0"/>
          </a:p>
        </p:txBody>
      </p:sp>
      <p:sp>
        <p:nvSpPr>
          <p:cNvPr id="40" name="Text 32"/>
          <p:cNvSpPr/>
          <p:nvPr/>
        </p:nvSpPr>
        <p:spPr>
          <a:xfrm>
            <a:off x="768096" y="522122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Owner • target • action plan</a:t>
            </a:r>
            <a:endParaRPr lang="en-US" sz="940" dirty="0"/>
          </a:p>
        </p:txBody>
      </p:sp>
      <p:sp>
        <p:nvSpPr>
          <p:cNvPr id="41" name="Shape 33"/>
          <p:cNvSpPr/>
          <p:nvPr/>
        </p:nvSpPr>
        <p:spPr>
          <a:xfrm>
            <a:off x="3072384" y="4864608"/>
            <a:ext cx="237744" cy="0"/>
          </a:xfrm>
          <a:prstGeom prst="line">
            <a:avLst/>
          </a:prstGeom>
          <a:noFill/>
          <a:ln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3383280" y="3995928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3566160" y="4178808"/>
            <a:ext cx="502920" cy="502920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3566160" y="430682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57800" y="4169664"/>
            <a:ext cx="393192" cy="39319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3584448" y="4837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Close</a:t>
            </a:r>
            <a:endParaRPr lang="en-US" sz="1430" dirty="0"/>
          </a:p>
        </p:txBody>
      </p:sp>
      <p:sp>
        <p:nvSpPr>
          <p:cNvPr id="47" name="Text 38"/>
          <p:cNvSpPr/>
          <p:nvPr/>
        </p:nvSpPr>
        <p:spPr>
          <a:xfrm>
            <a:off x="3584448" y="522122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Evidence • status • revised score</a:t>
            </a:r>
            <a:endParaRPr lang="en-US" sz="940" dirty="0"/>
          </a:p>
        </p:txBody>
      </p:sp>
      <p:sp>
        <p:nvSpPr>
          <p:cNvPr id="48" name="Shape 39"/>
          <p:cNvSpPr/>
          <p:nvPr/>
        </p:nvSpPr>
        <p:spPr>
          <a:xfrm>
            <a:off x="5888736" y="4864608"/>
            <a:ext cx="237744" cy="0"/>
          </a:xfrm>
          <a:prstGeom prst="line">
            <a:avLst/>
          </a:prstGeom>
          <a:noFill/>
          <a:ln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6199632" y="3995928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6382512" y="4178808"/>
            <a:ext cx="502920" cy="502920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6382512" y="430682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7</a:t>
            </a:r>
            <a:endParaRPr lang="en-US" sz="950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74152" y="4169664"/>
            <a:ext cx="393192" cy="393192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6400800" y="4837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Monitor</a:t>
            </a:r>
            <a:endParaRPr lang="en-US" sz="1430" dirty="0"/>
          </a:p>
        </p:txBody>
      </p:sp>
      <p:sp>
        <p:nvSpPr>
          <p:cNvPr id="54" name="Text 44"/>
          <p:cNvSpPr/>
          <p:nvPr/>
        </p:nvSpPr>
        <p:spPr>
          <a:xfrm>
            <a:off x="6400800" y="522122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KPI • outcomes • trend</a:t>
            </a:r>
            <a:endParaRPr lang="en-US" sz="940" dirty="0"/>
          </a:p>
        </p:txBody>
      </p:sp>
      <p:sp>
        <p:nvSpPr>
          <p:cNvPr id="55" name="Shape 45"/>
          <p:cNvSpPr/>
          <p:nvPr/>
        </p:nvSpPr>
        <p:spPr>
          <a:xfrm>
            <a:off x="8705088" y="4864608"/>
            <a:ext cx="237744" cy="0"/>
          </a:xfrm>
          <a:prstGeom prst="line">
            <a:avLst/>
          </a:prstGeom>
          <a:noFill/>
          <a:ln w="20320">
            <a:solidFill>
              <a:srgbClr val="B4C2CC"/>
            </a:solidFill>
            <a:prstDash val="solid"/>
            <a:headEnd type="none"/>
            <a:tailEnd type="triangle"/>
          </a:ln>
        </p:spPr>
      </p:sp>
      <p:sp>
        <p:nvSpPr>
          <p:cNvPr id="56" name="Shape 46"/>
          <p:cNvSpPr/>
          <p:nvPr/>
        </p:nvSpPr>
        <p:spPr>
          <a:xfrm>
            <a:off x="9015984" y="3995928"/>
            <a:ext cx="2487168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57" name="Shape 47"/>
          <p:cNvSpPr/>
          <p:nvPr/>
        </p:nvSpPr>
        <p:spPr>
          <a:xfrm>
            <a:off x="9198864" y="4178808"/>
            <a:ext cx="502920" cy="502920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9198864" y="430682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</a:t>
            </a:r>
            <a:endParaRPr lang="en-US" sz="950" dirty="0"/>
          </a:p>
        </p:txBody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90504" y="4169664"/>
            <a:ext cx="393192" cy="393192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9217152" y="483717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16324F"/>
                </a:solidFill>
              </a:rPr>
              <a:t>Govern</a:t>
            </a:r>
            <a:endParaRPr lang="en-US" sz="1430" dirty="0"/>
          </a:p>
        </p:txBody>
      </p:sp>
      <p:sp>
        <p:nvSpPr>
          <p:cNvPr id="61" name="Text 50"/>
          <p:cNvSpPr/>
          <p:nvPr/>
        </p:nvSpPr>
        <p:spPr>
          <a:xfrm>
            <a:off x="9217152" y="5221224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Certification • dashboard • export</a:t>
            </a:r>
            <a:endParaRPr lang="en-US" sz="940" dirty="0"/>
          </a:p>
        </p:txBody>
      </p:sp>
      <p:sp>
        <p:nvSpPr>
          <p:cNvPr id="62" name="Text 51"/>
          <p:cNvSpPr/>
          <p:nvPr/>
        </p:nvSpPr>
        <p:spPr>
          <a:xfrm>
            <a:off x="914400" y="5925312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F6A"/>
                </a:solidFill>
              </a:rPr>
              <a:t>Every step writes to a traceable digital record — making the improvement story visible, auditable and reportable.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ASSESSMENT ENGINE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assessment designed for real field conditions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The objective is not only paper elimination; it is better adoption, continuity and data quality.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783080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0392" y="1993392"/>
            <a:ext cx="438912" cy="438912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04" y="208940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99032" y="1929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24F"/>
                </a:solidFill>
              </a:rPr>
              <a:t>Pause &amp; resume</a:t>
            </a:r>
            <a:endParaRPr lang="en-US" sz="1180" dirty="0"/>
          </a:p>
        </p:txBody>
      </p:sp>
      <p:sp>
        <p:nvSpPr>
          <p:cNvPr id="12" name="Text 8"/>
          <p:cNvSpPr/>
          <p:nvPr/>
        </p:nvSpPr>
        <p:spPr>
          <a:xfrm>
            <a:off x="1399032" y="22768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F7180"/>
                </a:solidFill>
              </a:rPr>
              <a:t>Stagger long assessments without losing progress.</a:t>
            </a:r>
            <a:endParaRPr lang="en-US" sz="890" dirty="0"/>
          </a:p>
        </p:txBody>
      </p:sp>
      <p:sp>
        <p:nvSpPr>
          <p:cNvPr id="13" name="Shape 9"/>
          <p:cNvSpPr/>
          <p:nvPr/>
        </p:nvSpPr>
        <p:spPr>
          <a:xfrm>
            <a:off x="3657600" y="1783080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822192" y="1993392"/>
            <a:ext cx="438912" cy="43891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8204" y="2089404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70832" y="1929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24F"/>
                </a:solidFill>
              </a:rPr>
              <a:t>Evidence-ready</a:t>
            </a:r>
            <a:endParaRPr lang="en-US" sz="1180" dirty="0"/>
          </a:p>
        </p:txBody>
      </p:sp>
      <p:sp>
        <p:nvSpPr>
          <p:cNvPr id="17" name="Text 12"/>
          <p:cNvSpPr/>
          <p:nvPr/>
        </p:nvSpPr>
        <p:spPr>
          <a:xfrm>
            <a:off x="4370832" y="22768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F7180"/>
                </a:solidFill>
              </a:rPr>
              <a:t>Attach documents / notes and keep them with the checkpoint.</a:t>
            </a:r>
            <a:endParaRPr lang="en-US" sz="890" dirty="0"/>
          </a:p>
        </p:txBody>
      </p:sp>
      <p:sp>
        <p:nvSpPr>
          <p:cNvPr id="18" name="Shape 13"/>
          <p:cNvSpPr/>
          <p:nvPr/>
        </p:nvSpPr>
        <p:spPr>
          <a:xfrm>
            <a:off x="685800" y="3136392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0392" y="3346704"/>
            <a:ext cx="438912" cy="438912"/>
          </a:xfrm>
          <a:prstGeom prst="ellipse">
            <a:avLst/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404" y="3442716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99032" y="3282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24F"/>
                </a:solidFill>
              </a:rPr>
              <a:t>Multiple cycles</a:t>
            </a:r>
            <a:endParaRPr lang="en-US" sz="1180" dirty="0"/>
          </a:p>
        </p:txBody>
      </p:sp>
      <p:sp>
        <p:nvSpPr>
          <p:cNvPr id="22" name="Text 16"/>
          <p:cNvSpPr/>
          <p:nvPr/>
        </p:nvSpPr>
        <p:spPr>
          <a:xfrm>
            <a:off x="1399032" y="363016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F7180"/>
                </a:solidFill>
              </a:rPr>
              <a:t>Baseline, reassessment and repeated improvement cycles.</a:t>
            </a:r>
            <a:endParaRPr lang="en-US" sz="890" dirty="0"/>
          </a:p>
        </p:txBody>
      </p:sp>
      <p:sp>
        <p:nvSpPr>
          <p:cNvPr id="23" name="Shape 17"/>
          <p:cNvSpPr/>
          <p:nvPr/>
        </p:nvSpPr>
        <p:spPr>
          <a:xfrm>
            <a:off x="3657600" y="3136392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822192" y="3346704"/>
            <a:ext cx="438912" cy="438912"/>
          </a:xfrm>
          <a:prstGeom prst="ellipse">
            <a:avLst/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8204" y="3442716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70832" y="3282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24F"/>
                </a:solidFill>
              </a:rPr>
              <a:t>Contextual scoring</a:t>
            </a:r>
            <a:endParaRPr lang="en-US" sz="1180" dirty="0"/>
          </a:p>
        </p:txBody>
      </p:sp>
      <p:sp>
        <p:nvSpPr>
          <p:cNvPr id="27" name="Text 20"/>
          <p:cNvSpPr/>
          <p:nvPr/>
        </p:nvSpPr>
        <p:spPr>
          <a:xfrm>
            <a:off x="4370832" y="363016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F7180"/>
                </a:solidFill>
              </a:rPr>
              <a:t>Configurable scoring and completion rules by framework.</a:t>
            </a:r>
            <a:endParaRPr lang="en-US" sz="890" dirty="0"/>
          </a:p>
        </p:txBody>
      </p:sp>
      <p:sp>
        <p:nvSpPr>
          <p:cNvPr id="28" name="Shape 21"/>
          <p:cNvSpPr/>
          <p:nvPr/>
        </p:nvSpPr>
        <p:spPr>
          <a:xfrm>
            <a:off x="685800" y="448970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0392" y="4700016"/>
            <a:ext cx="438912" cy="438912"/>
          </a:xfrm>
          <a:prstGeom prst="ellipse">
            <a:avLst/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6404" y="4796028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99032" y="4636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24F"/>
                </a:solidFill>
              </a:rPr>
              <a:t>Progress tracking</a:t>
            </a:r>
            <a:endParaRPr lang="en-US" sz="1180" dirty="0"/>
          </a:p>
        </p:txBody>
      </p:sp>
      <p:sp>
        <p:nvSpPr>
          <p:cNvPr id="32" name="Text 24"/>
          <p:cNvSpPr/>
          <p:nvPr/>
        </p:nvSpPr>
        <p:spPr>
          <a:xfrm>
            <a:off x="1399032" y="4983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F7180"/>
                </a:solidFill>
              </a:rPr>
              <a:t>Department / class / entity completion status in real time.</a:t>
            </a:r>
            <a:endParaRPr lang="en-US" sz="890" dirty="0"/>
          </a:p>
        </p:txBody>
      </p:sp>
      <p:sp>
        <p:nvSpPr>
          <p:cNvPr id="33" name="Shape 25"/>
          <p:cNvSpPr/>
          <p:nvPr/>
        </p:nvSpPr>
        <p:spPr>
          <a:xfrm>
            <a:off x="3657600" y="4489704"/>
            <a:ext cx="26974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3822192" y="4700016"/>
            <a:ext cx="438912" cy="438912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18204" y="4796028"/>
            <a:ext cx="246888" cy="2468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370832" y="4636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24F"/>
                </a:solidFill>
              </a:rPr>
              <a:t>Validation</a:t>
            </a:r>
            <a:endParaRPr lang="en-US" sz="1180" dirty="0"/>
          </a:p>
        </p:txBody>
      </p:sp>
      <p:sp>
        <p:nvSpPr>
          <p:cNvPr id="37" name="Text 28"/>
          <p:cNvSpPr/>
          <p:nvPr/>
        </p:nvSpPr>
        <p:spPr>
          <a:xfrm>
            <a:off x="4370832" y="4983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5F7180"/>
                </a:solidFill>
              </a:rPr>
              <a:t>Prevent duplicate or invalid entries using workflow rules.</a:t>
            </a:r>
            <a:endParaRPr lang="en-US" sz="890" dirty="0"/>
          </a:p>
        </p:txBody>
      </p:sp>
      <p:sp>
        <p:nvSpPr>
          <p:cNvPr id="38" name="Shape 29"/>
          <p:cNvSpPr/>
          <p:nvPr/>
        </p:nvSpPr>
        <p:spPr>
          <a:xfrm>
            <a:off x="6876288" y="1783080"/>
            <a:ext cx="4572000" cy="3986784"/>
          </a:xfrm>
          <a:prstGeom prst="roundRect">
            <a:avLst>
              <a:gd name="adj" fmla="val 1835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7242048" y="20848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Assessment Workspace</a:t>
            </a:r>
            <a:endParaRPr lang="en-US" sz="1700" dirty="0"/>
          </a:p>
        </p:txBody>
      </p:sp>
      <p:sp>
        <p:nvSpPr>
          <p:cNvPr id="40" name="Text 31"/>
          <p:cNvSpPr/>
          <p:nvPr/>
        </p:nvSpPr>
        <p:spPr>
          <a:xfrm>
            <a:off x="7242048" y="2496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B8D0DB"/>
                </a:solidFill>
              </a:rPr>
              <a:t>Department: Patient Rights  •  Cycle 2</a:t>
            </a:r>
            <a:endParaRPr lang="en-US" sz="920" dirty="0"/>
          </a:p>
        </p:txBody>
      </p:sp>
      <p:sp>
        <p:nvSpPr>
          <p:cNvPr id="41" name="Shape 32"/>
          <p:cNvSpPr/>
          <p:nvPr/>
        </p:nvSpPr>
        <p:spPr>
          <a:xfrm>
            <a:off x="7242048" y="2926080"/>
            <a:ext cx="3639312" cy="749808"/>
          </a:xfrm>
          <a:prstGeom prst="roundRect">
            <a:avLst>
              <a:gd name="adj" fmla="val 7317"/>
            </a:avLst>
          </a:prstGeom>
          <a:solidFill>
            <a:srgbClr val="24415B"/>
          </a:solidFill>
          <a:ln w="12700">
            <a:solidFill>
              <a:srgbClr val="38566F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7452360" y="31272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</a:rPr>
              <a:t>Checkpoint 4.2  |  Is informed consent documented?</a:t>
            </a:r>
            <a:endParaRPr lang="en-US" sz="1030" dirty="0"/>
          </a:p>
        </p:txBody>
      </p:sp>
      <p:sp>
        <p:nvSpPr>
          <p:cNvPr id="43" name="Shape 34"/>
          <p:cNvSpPr/>
          <p:nvPr/>
        </p:nvSpPr>
        <p:spPr>
          <a:xfrm>
            <a:off x="7315200" y="3950208"/>
            <a:ext cx="960120" cy="411480"/>
          </a:xfrm>
          <a:prstGeom prst="roundRect">
            <a:avLst>
              <a:gd name="adj" fmla="val 26667"/>
            </a:avLst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360920" y="40873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Fully</a:t>
            </a:r>
            <a:endParaRPr lang="en-US" sz="780" dirty="0"/>
          </a:p>
        </p:txBody>
      </p:sp>
      <p:sp>
        <p:nvSpPr>
          <p:cNvPr id="45" name="Shape 36"/>
          <p:cNvSpPr/>
          <p:nvPr/>
        </p:nvSpPr>
        <p:spPr>
          <a:xfrm>
            <a:off x="8430768" y="3950208"/>
            <a:ext cx="960120" cy="411480"/>
          </a:xfrm>
          <a:prstGeom prst="roundRect">
            <a:avLst>
              <a:gd name="adj" fmla="val 26667"/>
            </a:avLst>
          </a:prstGeom>
          <a:solidFill>
            <a:srgbClr val="F18A2A">
              <a:alpha val="25000"/>
            </a:srgbClr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476488" y="40873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18A2A"/>
                </a:solidFill>
              </a:rPr>
              <a:t>Partially</a:t>
            </a:r>
            <a:endParaRPr lang="en-US" sz="780" dirty="0"/>
          </a:p>
        </p:txBody>
      </p:sp>
      <p:sp>
        <p:nvSpPr>
          <p:cNvPr id="47" name="Shape 38"/>
          <p:cNvSpPr/>
          <p:nvPr/>
        </p:nvSpPr>
        <p:spPr>
          <a:xfrm>
            <a:off x="9546336" y="3950208"/>
            <a:ext cx="960120" cy="411480"/>
          </a:xfrm>
          <a:prstGeom prst="roundRect">
            <a:avLst>
              <a:gd name="adj" fmla="val 26667"/>
            </a:avLst>
          </a:prstGeom>
          <a:solidFill>
            <a:srgbClr val="E84A5F">
              <a:alpha val="25000"/>
            </a:srgbClr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9592056" y="408736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84A5F"/>
                </a:solidFill>
              </a:rPr>
              <a:t>Non-compliant</a:t>
            </a:r>
            <a:endParaRPr lang="en-US" sz="780" dirty="0"/>
          </a:p>
        </p:txBody>
      </p:sp>
      <p:sp>
        <p:nvSpPr>
          <p:cNvPr id="49" name="Shape 40"/>
          <p:cNvSpPr/>
          <p:nvPr/>
        </p:nvSpPr>
        <p:spPr>
          <a:xfrm>
            <a:off x="7269480" y="4681728"/>
            <a:ext cx="3584448" cy="438912"/>
          </a:xfrm>
          <a:prstGeom prst="roundRect">
            <a:avLst>
              <a:gd name="adj" fmla="val 10417"/>
            </a:avLst>
          </a:prstGeom>
          <a:solidFill>
            <a:srgbClr val="1C3449"/>
          </a:solidFill>
          <a:ln w="12700">
            <a:solidFill>
              <a:srgbClr val="38566F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7424928" y="4828032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BED1DB"/>
                </a:solidFill>
              </a:rPr>
              <a:t>Evidence / notes / attachment</a:t>
            </a:r>
            <a:endParaRPr lang="en-US" sz="86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378440" y="4791456"/>
            <a:ext cx="210312" cy="210312"/>
          </a:xfrm>
          <a:prstGeom prst="rect">
            <a:avLst/>
          </a:prstGeom>
        </p:spPr>
      </p:pic>
      <p:sp>
        <p:nvSpPr>
          <p:cNvPr id="52" name="Shape 42"/>
          <p:cNvSpPr/>
          <p:nvPr/>
        </p:nvSpPr>
        <p:spPr>
          <a:xfrm>
            <a:off x="7315200" y="5330952"/>
            <a:ext cx="1280160" cy="329184"/>
          </a:xfrm>
          <a:prstGeom prst="roundRect">
            <a:avLst>
              <a:gd name="adj" fmla="val 22222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7424928" y="54406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SAVE &amp; NEXT</a:t>
            </a:r>
            <a:endParaRPr lang="en-US" sz="760" dirty="0"/>
          </a:p>
        </p:txBody>
      </p:sp>
      <p:sp>
        <p:nvSpPr>
          <p:cNvPr id="54" name="Text 44"/>
          <p:cNvSpPr/>
          <p:nvPr/>
        </p:nvSpPr>
        <p:spPr>
          <a:xfrm>
            <a:off x="9646920" y="54132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9ED6CF"/>
                </a:solidFill>
              </a:rPr>
              <a:t>68% complete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CQI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Gap closure is a workflow, not a spreadsheet column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SaQshi carries each non-compliance from identification to accountable closure and reassessment.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" y="1865376"/>
            <a:ext cx="1600200" cy="2487168"/>
          </a:xfrm>
          <a:prstGeom prst="roundRect">
            <a:avLst>
              <a:gd name="adj" fmla="val 4571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133856" y="21031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868" y="2199132"/>
            <a:ext cx="338328" cy="338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" y="2798064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Gap detected</a:t>
            </a:r>
            <a:endParaRPr lang="en-US" sz="1220" dirty="0"/>
          </a:p>
        </p:txBody>
      </p:sp>
      <p:sp>
        <p:nvSpPr>
          <p:cNvPr id="12" name="Text 8"/>
          <p:cNvSpPr/>
          <p:nvPr/>
        </p:nvSpPr>
        <p:spPr>
          <a:xfrm>
            <a:off x="777240" y="336499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D2B36"/>
                </a:solidFill>
              </a:rPr>
              <a:t>Checkpoint is partially / non-compliant</a:t>
            </a:r>
            <a:endParaRPr lang="en-US" sz="910" dirty="0"/>
          </a:p>
        </p:txBody>
      </p:sp>
      <p:sp>
        <p:nvSpPr>
          <p:cNvPr id="13" name="Shape 9"/>
          <p:cNvSpPr/>
          <p:nvPr/>
        </p:nvSpPr>
        <p:spPr>
          <a:xfrm>
            <a:off x="2231136" y="3063240"/>
            <a:ext cx="228600" cy="0"/>
          </a:xfrm>
          <a:prstGeom prst="line">
            <a:avLst/>
          </a:prstGeom>
          <a:noFill/>
          <a:ln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532888" y="1865376"/>
            <a:ext cx="1600200" cy="2487168"/>
          </a:xfrm>
          <a:prstGeom prst="roundRect">
            <a:avLst>
              <a:gd name="adj" fmla="val 4571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054096" y="21031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50108" y="2199132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79192" y="2798064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Action created</a:t>
            </a:r>
            <a:endParaRPr lang="en-US" sz="1220" dirty="0"/>
          </a:p>
        </p:txBody>
      </p:sp>
      <p:sp>
        <p:nvSpPr>
          <p:cNvPr id="18" name="Text 13"/>
          <p:cNvSpPr/>
          <p:nvPr/>
        </p:nvSpPr>
        <p:spPr>
          <a:xfrm>
            <a:off x="2697480" y="336499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D2B36"/>
                </a:solidFill>
              </a:rPr>
              <a:t>Corrective / preventive action recorded</a:t>
            </a:r>
            <a:endParaRPr lang="en-US" sz="910" dirty="0"/>
          </a:p>
        </p:txBody>
      </p:sp>
      <p:sp>
        <p:nvSpPr>
          <p:cNvPr id="19" name="Shape 14"/>
          <p:cNvSpPr/>
          <p:nvPr/>
        </p:nvSpPr>
        <p:spPr>
          <a:xfrm>
            <a:off x="4151376" y="3063240"/>
            <a:ext cx="228600" cy="0"/>
          </a:xfrm>
          <a:prstGeom prst="line">
            <a:avLst/>
          </a:prstGeom>
          <a:noFill/>
          <a:ln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453128" y="1865376"/>
            <a:ext cx="1600200" cy="2487168"/>
          </a:xfrm>
          <a:prstGeom prst="roundRect">
            <a:avLst>
              <a:gd name="adj" fmla="val 457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74336" y="21031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70348" y="2199132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99432" y="2798064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Responsibility</a:t>
            </a:r>
            <a:endParaRPr lang="en-US" sz="1220" dirty="0"/>
          </a:p>
        </p:txBody>
      </p:sp>
      <p:sp>
        <p:nvSpPr>
          <p:cNvPr id="24" name="Text 18"/>
          <p:cNvSpPr/>
          <p:nvPr/>
        </p:nvSpPr>
        <p:spPr>
          <a:xfrm>
            <a:off x="4617720" y="336499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D2B36"/>
                </a:solidFill>
              </a:rPr>
              <a:t>Owner and team assigned</a:t>
            </a:r>
            <a:endParaRPr lang="en-US" sz="910" dirty="0"/>
          </a:p>
        </p:txBody>
      </p:sp>
      <p:sp>
        <p:nvSpPr>
          <p:cNvPr id="25" name="Shape 19"/>
          <p:cNvSpPr/>
          <p:nvPr/>
        </p:nvSpPr>
        <p:spPr>
          <a:xfrm>
            <a:off x="6071616" y="3063240"/>
            <a:ext cx="228600" cy="0"/>
          </a:xfrm>
          <a:prstGeom prst="line">
            <a:avLst/>
          </a:prstGeom>
          <a:noFill/>
          <a:ln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373368" y="1865376"/>
            <a:ext cx="1600200" cy="2487168"/>
          </a:xfrm>
          <a:prstGeom prst="roundRect">
            <a:avLst>
              <a:gd name="adj" fmla="val 4571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894576" y="21031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0588" y="2199132"/>
            <a:ext cx="338328" cy="3383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519672" y="2798064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Target date</a:t>
            </a:r>
            <a:endParaRPr lang="en-US" sz="1220" dirty="0"/>
          </a:p>
        </p:txBody>
      </p:sp>
      <p:sp>
        <p:nvSpPr>
          <p:cNvPr id="30" name="Text 23"/>
          <p:cNvSpPr/>
          <p:nvPr/>
        </p:nvSpPr>
        <p:spPr>
          <a:xfrm>
            <a:off x="6537960" y="336499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D2B36"/>
                </a:solidFill>
              </a:rPr>
              <a:t>Due date &amp; status become visible</a:t>
            </a:r>
            <a:endParaRPr lang="en-US" sz="910" dirty="0"/>
          </a:p>
        </p:txBody>
      </p:sp>
      <p:sp>
        <p:nvSpPr>
          <p:cNvPr id="31" name="Shape 24"/>
          <p:cNvSpPr/>
          <p:nvPr/>
        </p:nvSpPr>
        <p:spPr>
          <a:xfrm>
            <a:off x="7991856" y="3063240"/>
            <a:ext cx="228600" cy="0"/>
          </a:xfrm>
          <a:prstGeom prst="line">
            <a:avLst/>
          </a:prstGeom>
          <a:noFill/>
          <a:ln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8293608" y="1865376"/>
            <a:ext cx="1600200" cy="2487168"/>
          </a:xfrm>
          <a:prstGeom prst="roundRect">
            <a:avLst>
              <a:gd name="adj" fmla="val 4571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814816" y="21031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10828" y="2199132"/>
            <a:ext cx="338328" cy="33832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439912" y="2798064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Closure evidence</a:t>
            </a:r>
            <a:endParaRPr lang="en-US" sz="1220" dirty="0"/>
          </a:p>
        </p:txBody>
      </p:sp>
      <p:sp>
        <p:nvSpPr>
          <p:cNvPr id="36" name="Text 28"/>
          <p:cNvSpPr/>
          <p:nvPr/>
        </p:nvSpPr>
        <p:spPr>
          <a:xfrm>
            <a:off x="8458200" y="336499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D2B36"/>
                </a:solidFill>
              </a:rPr>
              <a:t>Proof and comments attached</a:t>
            </a:r>
            <a:endParaRPr lang="en-US" sz="910" dirty="0"/>
          </a:p>
        </p:txBody>
      </p:sp>
      <p:sp>
        <p:nvSpPr>
          <p:cNvPr id="37" name="Shape 29"/>
          <p:cNvSpPr/>
          <p:nvPr/>
        </p:nvSpPr>
        <p:spPr>
          <a:xfrm>
            <a:off x="9912096" y="3063240"/>
            <a:ext cx="228600" cy="0"/>
          </a:xfrm>
          <a:prstGeom prst="line">
            <a:avLst/>
          </a:prstGeom>
          <a:noFill/>
          <a:ln w="21590">
            <a:solidFill>
              <a:srgbClr val="AABAC5"/>
            </a:solidFill>
            <a:prstDash val="solid"/>
            <a:headEnd type="none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10213848" y="1865376"/>
            <a:ext cx="1600200" cy="2487168"/>
          </a:xfrm>
          <a:prstGeom prst="roundRect">
            <a:avLst>
              <a:gd name="adj" fmla="val 4571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735056" y="2103120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31068" y="2199132"/>
            <a:ext cx="338328" cy="33832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0360152" y="2798064"/>
            <a:ext cx="1307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Reassessment</a:t>
            </a:r>
            <a:endParaRPr lang="en-US" sz="1220" dirty="0"/>
          </a:p>
        </p:txBody>
      </p:sp>
      <p:sp>
        <p:nvSpPr>
          <p:cNvPr id="42" name="Text 33"/>
          <p:cNvSpPr/>
          <p:nvPr/>
        </p:nvSpPr>
        <p:spPr>
          <a:xfrm>
            <a:off x="10378440" y="336499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1D2B36"/>
                </a:solidFill>
              </a:rPr>
              <a:t>Score revised; history retained</a:t>
            </a:r>
            <a:endParaRPr lang="en-US" sz="910" dirty="0"/>
          </a:p>
        </p:txBody>
      </p:sp>
      <p:sp>
        <p:nvSpPr>
          <p:cNvPr id="43" name="Shape 34"/>
          <p:cNvSpPr/>
          <p:nvPr/>
        </p:nvSpPr>
        <p:spPr>
          <a:xfrm>
            <a:off x="1188720" y="5074920"/>
            <a:ext cx="438912" cy="438912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84732" y="5170932"/>
            <a:ext cx="246888" cy="24688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737360" y="51572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324F"/>
                </a:solidFill>
              </a:rPr>
              <a:t>Accountability</a:t>
            </a:r>
            <a:endParaRPr lang="en-US" sz="1020" dirty="0"/>
          </a:p>
        </p:txBody>
      </p:sp>
      <p:sp>
        <p:nvSpPr>
          <p:cNvPr id="46" name="Shape 36"/>
          <p:cNvSpPr/>
          <p:nvPr/>
        </p:nvSpPr>
        <p:spPr>
          <a:xfrm>
            <a:off x="3886200" y="5074920"/>
            <a:ext cx="438912" cy="438912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82212" y="5170932"/>
            <a:ext cx="246888" cy="24688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4434840" y="51572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324F"/>
                </a:solidFill>
              </a:rPr>
              <a:t>Time-bound closure</a:t>
            </a:r>
            <a:endParaRPr lang="en-US" sz="1020" dirty="0"/>
          </a:p>
        </p:txBody>
      </p:sp>
      <p:sp>
        <p:nvSpPr>
          <p:cNvPr id="49" name="Shape 38"/>
          <p:cNvSpPr/>
          <p:nvPr/>
        </p:nvSpPr>
        <p:spPr>
          <a:xfrm>
            <a:off x="6583680" y="5074920"/>
            <a:ext cx="438912" cy="438912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79692" y="5170932"/>
            <a:ext cx="246888" cy="24688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132320" y="51572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324F"/>
                </a:solidFill>
              </a:rPr>
              <a:t>Audit trail</a:t>
            </a:r>
            <a:endParaRPr lang="en-US" sz="1020" dirty="0"/>
          </a:p>
        </p:txBody>
      </p:sp>
      <p:sp>
        <p:nvSpPr>
          <p:cNvPr id="52" name="Shape 40"/>
          <p:cNvSpPr/>
          <p:nvPr/>
        </p:nvSpPr>
        <p:spPr>
          <a:xfrm>
            <a:off x="9281160" y="5074920"/>
            <a:ext cx="438912" cy="438912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377172" y="5170932"/>
            <a:ext cx="246888" cy="24688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9829800" y="51572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6324F"/>
                </a:solidFill>
              </a:rPr>
              <a:t>Improvement history</a:t>
            </a:r>
            <a:endParaRPr lang="en-US" sz="1020" dirty="0"/>
          </a:p>
        </p:txBody>
      </p:sp>
      <p:sp>
        <p:nvSpPr>
          <p:cNvPr id="55" name="Text 42"/>
          <p:cNvSpPr/>
          <p:nvPr/>
        </p:nvSpPr>
        <p:spPr>
          <a:xfrm>
            <a:off x="2103120" y="5715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8A2A"/>
                </a:solidFill>
              </a:rPr>
              <a:t>This is the core difference between “assessment digitization” and “continuous quality improvement.”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PERFORMANCE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from periodic assessment to continuous performance monitoring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Monthly KPI and outcome indicators show whether process improvement is translating into results.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755648"/>
            <a:ext cx="65836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Illustrative outcome trend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51560" y="5074920"/>
            <a:ext cx="5440680" cy="0"/>
          </a:xfrm>
          <a:prstGeom prst="line">
            <a:avLst/>
          </a:prstGeom>
          <a:noFill/>
          <a:ln w="12700">
            <a:solidFill>
              <a:srgbClr val="AFC0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1560" y="2788920"/>
            <a:ext cx="0" cy="2286000"/>
          </a:xfrm>
          <a:prstGeom prst="line">
            <a:avLst/>
          </a:prstGeom>
          <a:noFill/>
          <a:ln w="12700">
            <a:solidFill>
              <a:srgbClr val="AFC0C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34440" y="4343400"/>
            <a:ext cx="502920" cy="731520"/>
          </a:xfrm>
          <a:prstGeom prst="rect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5193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F7180"/>
                </a:solidFill>
              </a:rPr>
              <a:t>Apr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1234440" y="4041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324F"/>
                </a:solidFill>
              </a:rPr>
              <a:t>22</a:t>
            </a:r>
            <a:endParaRPr lang="en-US" sz="760" dirty="0"/>
          </a:p>
        </p:txBody>
      </p:sp>
      <p:sp>
        <p:nvSpPr>
          <p:cNvPr id="15" name="Shape 12"/>
          <p:cNvSpPr/>
          <p:nvPr/>
        </p:nvSpPr>
        <p:spPr>
          <a:xfrm>
            <a:off x="2103120" y="4143895"/>
            <a:ext cx="502920" cy="931025"/>
          </a:xfrm>
          <a:prstGeom prst="rect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057400" y="5193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F7180"/>
                </a:solidFill>
              </a:rPr>
              <a:t>May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2103120" y="384214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324F"/>
                </a:solidFill>
              </a:rPr>
              <a:t>28</a:t>
            </a:r>
            <a:endParaRPr lang="en-US" sz="760" dirty="0"/>
          </a:p>
        </p:txBody>
      </p:sp>
      <p:sp>
        <p:nvSpPr>
          <p:cNvPr id="18" name="Shape 15"/>
          <p:cNvSpPr/>
          <p:nvPr/>
        </p:nvSpPr>
        <p:spPr>
          <a:xfrm>
            <a:off x="2971800" y="4177145"/>
            <a:ext cx="502920" cy="897775"/>
          </a:xfrm>
          <a:prstGeom prst="rect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0" y="5193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F7180"/>
                </a:solidFill>
              </a:rPr>
              <a:t>Jun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2971800" y="387539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324F"/>
                </a:solidFill>
              </a:rPr>
              <a:t>27</a:t>
            </a:r>
            <a:endParaRPr lang="en-US" sz="760" dirty="0"/>
          </a:p>
        </p:txBody>
      </p:sp>
      <p:sp>
        <p:nvSpPr>
          <p:cNvPr id="21" name="Shape 18"/>
          <p:cNvSpPr/>
          <p:nvPr/>
        </p:nvSpPr>
        <p:spPr>
          <a:xfrm>
            <a:off x="3840480" y="3944389"/>
            <a:ext cx="502920" cy="1130531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94760" y="5193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F7180"/>
                </a:solidFill>
              </a:rPr>
              <a:t>Jul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3840480" y="3642637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324F"/>
                </a:solidFill>
              </a:rPr>
              <a:t>34</a:t>
            </a:r>
            <a:endParaRPr lang="en-US" sz="760" dirty="0"/>
          </a:p>
        </p:txBody>
      </p:sp>
      <p:sp>
        <p:nvSpPr>
          <p:cNvPr id="24" name="Shape 21"/>
          <p:cNvSpPr/>
          <p:nvPr/>
        </p:nvSpPr>
        <p:spPr>
          <a:xfrm>
            <a:off x="4709160" y="3778135"/>
            <a:ext cx="502920" cy="1296785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663440" y="5193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F7180"/>
                </a:solidFill>
              </a:rPr>
              <a:t>Aug</a:t>
            </a:r>
            <a:endParaRPr lang="en-US" sz="760" dirty="0"/>
          </a:p>
        </p:txBody>
      </p:sp>
      <p:sp>
        <p:nvSpPr>
          <p:cNvPr id="26" name="Text 23"/>
          <p:cNvSpPr/>
          <p:nvPr/>
        </p:nvSpPr>
        <p:spPr>
          <a:xfrm>
            <a:off x="4709160" y="347638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324F"/>
                </a:solidFill>
              </a:rPr>
              <a:t>39</a:t>
            </a:r>
            <a:endParaRPr lang="en-US" sz="760" dirty="0"/>
          </a:p>
        </p:txBody>
      </p:sp>
      <p:sp>
        <p:nvSpPr>
          <p:cNvPr id="27" name="Shape 24"/>
          <p:cNvSpPr/>
          <p:nvPr/>
        </p:nvSpPr>
        <p:spPr>
          <a:xfrm>
            <a:off x="5577840" y="3512127"/>
            <a:ext cx="502920" cy="1562793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5193792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5F7180"/>
                </a:solidFill>
              </a:rPr>
              <a:t>Sep</a:t>
            </a:r>
            <a:endParaRPr lang="en-US" sz="760" dirty="0"/>
          </a:p>
        </p:txBody>
      </p:sp>
      <p:sp>
        <p:nvSpPr>
          <p:cNvPr id="29" name="Text 26"/>
          <p:cNvSpPr/>
          <p:nvPr/>
        </p:nvSpPr>
        <p:spPr>
          <a:xfrm>
            <a:off x="5577840" y="3210375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324F"/>
                </a:solidFill>
              </a:rPr>
              <a:t>47</a:t>
            </a:r>
            <a:endParaRPr lang="en-US" sz="760" dirty="0"/>
          </a:p>
        </p:txBody>
      </p:sp>
      <p:sp>
        <p:nvSpPr>
          <p:cNvPr id="30" name="Text 27"/>
          <p:cNvSpPr/>
          <p:nvPr/>
        </p:nvSpPr>
        <p:spPr>
          <a:xfrm>
            <a:off x="1234440" y="2487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18A2A"/>
                </a:solidFill>
              </a:rPr>
              <a:t>Baseline period</a:t>
            </a:r>
            <a:endParaRPr lang="en-US" sz="760" dirty="0"/>
          </a:p>
        </p:txBody>
      </p:sp>
      <p:sp>
        <p:nvSpPr>
          <p:cNvPr id="31" name="Text 28"/>
          <p:cNvSpPr/>
          <p:nvPr/>
        </p:nvSpPr>
        <p:spPr>
          <a:xfrm>
            <a:off x="3840480" y="24871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F6F6A"/>
                </a:solidFill>
              </a:rPr>
              <a:t>Improvement period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7726680" y="1892808"/>
            <a:ext cx="420624" cy="420624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2692" y="1988820"/>
            <a:ext cx="228600" cy="22860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275320" y="18105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6324F"/>
                </a:solidFill>
              </a:rPr>
              <a:t>Monthly entry</a:t>
            </a:r>
            <a:endParaRPr lang="en-US" sz="1170" dirty="0"/>
          </a:p>
        </p:txBody>
      </p:sp>
      <p:sp>
        <p:nvSpPr>
          <p:cNvPr id="35" name="Text 31"/>
          <p:cNvSpPr/>
          <p:nvPr/>
        </p:nvSpPr>
        <p:spPr>
          <a:xfrm>
            <a:off x="8275320" y="20939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Indicator values captured against the entity and reporting month.</a:t>
            </a:r>
            <a:endParaRPr lang="en-US" sz="940" dirty="0"/>
          </a:p>
        </p:txBody>
      </p:sp>
      <p:sp>
        <p:nvSpPr>
          <p:cNvPr id="36" name="Shape 32"/>
          <p:cNvSpPr/>
          <p:nvPr/>
        </p:nvSpPr>
        <p:spPr>
          <a:xfrm>
            <a:off x="7726680" y="2880360"/>
            <a:ext cx="420624" cy="420624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2692" y="2976372"/>
            <a:ext cx="228600" cy="2286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8275320" y="279806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6324F"/>
                </a:solidFill>
              </a:rPr>
              <a:t>Formula engine</a:t>
            </a:r>
            <a:endParaRPr lang="en-US" sz="1170" dirty="0"/>
          </a:p>
        </p:txBody>
      </p:sp>
      <p:sp>
        <p:nvSpPr>
          <p:cNvPr id="39" name="Text 34"/>
          <p:cNvSpPr/>
          <p:nvPr/>
        </p:nvSpPr>
        <p:spPr>
          <a:xfrm>
            <a:off x="8275320" y="308152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Derived KPI / rate calculations can be automated.</a:t>
            </a:r>
            <a:endParaRPr lang="en-US" sz="940" dirty="0"/>
          </a:p>
        </p:txBody>
      </p:sp>
      <p:sp>
        <p:nvSpPr>
          <p:cNvPr id="40" name="Shape 35"/>
          <p:cNvSpPr/>
          <p:nvPr/>
        </p:nvSpPr>
        <p:spPr>
          <a:xfrm>
            <a:off x="7726680" y="3867912"/>
            <a:ext cx="420624" cy="420624"/>
          </a:xfrm>
          <a:prstGeom prst="ellipse">
            <a:avLst/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2692" y="3963924"/>
            <a:ext cx="228600" cy="22860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8275320" y="378561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6324F"/>
                </a:solidFill>
              </a:rPr>
              <a:t>Validation rules</a:t>
            </a:r>
            <a:endParaRPr lang="en-US" sz="1170" dirty="0"/>
          </a:p>
        </p:txBody>
      </p:sp>
      <p:sp>
        <p:nvSpPr>
          <p:cNvPr id="43" name="Text 37"/>
          <p:cNvSpPr/>
          <p:nvPr/>
        </p:nvSpPr>
        <p:spPr>
          <a:xfrm>
            <a:off x="8275320" y="4069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Duplicate-month and invalid-value controls improve data quality.</a:t>
            </a:r>
            <a:endParaRPr lang="en-US" sz="940" dirty="0"/>
          </a:p>
        </p:txBody>
      </p:sp>
      <p:sp>
        <p:nvSpPr>
          <p:cNvPr id="44" name="Shape 38"/>
          <p:cNvSpPr/>
          <p:nvPr/>
        </p:nvSpPr>
        <p:spPr>
          <a:xfrm>
            <a:off x="7726680" y="4855464"/>
            <a:ext cx="420624" cy="420624"/>
          </a:xfrm>
          <a:prstGeom prst="ellipse">
            <a:avLst/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22692" y="4951476"/>
            <a:ext cx="228600" cy="22860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275320" y="47731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16324F"/>
                </a:solidFill>
              </a:rPr>
              <a:t>Trend intelligence</a:t>
            </a:r>
            <a:endParaRPr lang="en-US" sz="1170" dirty="0"/>
          </a:p>
        </p:txBody>
      </p:sp>
      <p:sp>
        <p:nvSpPr>
          <p:cNvPr id="47" name="Text 40"/>
          <p:cNvSpPr/>
          <p:nvPr/>
        </p:nvSpPr>
        <p:spPr>
          <a:xfrm>
            <a:off x="8275320" y="50566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F7180"/>
                </a:solidFill>
              </a:rPr>
              <a:t>State, district and entity views show movement over time.</a:t>
            </a:r>
            <a:endParaRPr lang="en-US" sz="940" dirty="0"/>
          </a:p>
        </p:txBody>
      </p:sp>
      <p:sp>
        <p:nvSpPr>
          <p:cNvPr id="48" name="Text 41"/>
          <p:cNvSpPr/>
          <p:nvPr/>
        </p:nvSpPr>
        <p:spPr>
          <a:xfrm>
            <a:off x="1280160" y="59253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2F6F6A"/>
                </a:solidFill>
              </a:rPr>
              <a:t>Assessments tell us “where we are.” Indicators tell us “whether the system is improving.”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PLATFORM PROOF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Unified dashboard: baseline, current score, compliance and progress in one view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The reference SaQshi concept already demonstrates baseline/current comparison, checkpoint completion, resources and feedback modules.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600200"/>
            <a:ext cx="754380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pic>
        <p:nvPicPr>
          <p:cNvPr id="9" name="Image 1" descr="/mnt/data/saqshi_dashboard_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7178040" cy="362102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49640" y="1828800"/>
            <a:ext cx="2880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510">
            <a:solidFill>
              <a:srgbClr val="2F6F6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49640" y="1828800"/>
            <a:ext cx="82296" cy="749808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823960" y="1947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6324F"/>
                </a:solidFill>
              </a:rPr>
              <a:t>Baseline vs current</a:t>
            </a:r>
            <a:endParaRPr lang="en-US" sz="1110" dirty="0"/>
          </a:p>
        </p:txBody>
      </p:sp>
      <p:sp>
        <p:nvSpPr>
          <p:cNvPr id="13" name="Text 9"/>
          <p:cNvSpPr/>
          <p:nvPr/>
        </p:nvSpPr>
        <p:spPr>
          <a:xfrm>
            <a:off x="8823960" y="2249424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7180"/>
                </a:solidFill>
              </a:rPr>
              <a:t>Visual evidence of improvement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8549640" y="2852928"/>
            <a:ext cx="2880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510">
            <a:solidFill>
              <a:srgbClr val="2D7FF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49640" y="2852928"/>
            <a:ext cx="82296" cy="749808"/>
          </a:xfrm>
          <a:prstGeom prst="rect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823960" y="29718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6324F"/>
                </a:solidFill>
              </a:rPr>
              <a:t>Checkpoint progress</a:t>
            </a:r>
            <a:endParaRPr lang="en-US" sz="1110" dirty="0"/>
          </a:p>
        </p:txBody>
      </p:sp>
      <p:sp>
        <p:nvSpPr>
          <p:cNvPr id="17" name="Text 13"/>
          <p:cNvSpPr/>
          <p:nvPr/>
        </p:nvSpPr>
        <p:spPr>
          <a:xfrm>
            <a:off x="8823960" y="3273552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7180"/>
                </a:solidFill>
              </a:rPr>
              <a:t>Track assessment completeness</a:t>
            </a:r>
            <a:endParaRPr lang="en-US" sz="870" dirty="0"/>
          </a:p>
        </p:txBody>
      </p:sp>
      <p:sp>
        <p:nvSpPr>
          <p:cNvPr id="18" name="Shape 14"/>
          <p:cNvSpPr/>
          <p:nvPr/>
        </p:nvSpPr>
        <p:spPr>
          <a:xfrm>
            <a:off x="8549640" y="3867912"/>
            <a:ext cx="2880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510">
            <a:solidFill>
              <a:srgbClr val="F18A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49640" y="3867912"/>
            <a:ext cx="82296" cy="749808"/>
          </a:xfrm>
          <a:prstGeom prst="rect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823960" y="39867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6324F"/>
                </a:solidFill>
              </a:rPr>
              <a:t>Compliance mix</a:t>
            </a:r>
            <a:endParaRPr lang="en-US" sz="1110" dirty="0"/>
          </a:p>
        </p:txBody>
      </p:sp>
      <p:sp>
        <p:nvSpPr>
          <p:cNvPr id="21" name="Text 17"/>
          <p:cNvSpPr/>
          <p:nvPr/>
        </p:nvSpPr>
        <p:spPr>
          <a:xfrm>
            <a:off x="8823960" y="428853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7180"/>
                </a:solidFill>
              </a:rPr>
              <a:t>Fully / partially / non-compliant</a:t>
            </a:r>
            <a:endParaRPr lang="en-US" sz="870" dirty="0"/>
          </a:p>
        </p:txBody>
      </p:sp>
      <p:sp>
        <p:nvSpPr>
          <p:cNvPr id="22" name="Shape 18"/>
          <p:cNvSpPr/>
          <p:nvPr/>
        </p:nvSpPr>
        <p:spPr>
          <a:xfrm>
            <a:off x="8549640" y="4882896"/>
            <a:ext cx="2880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6510">
            <a:solidFill>
              <a:srgbClr val="7B61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49640" y="4882896"/>
            <a:ext cx="82296" cy="7498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823960" y="5001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6324F"/>
                </a:solidFill>
              </a:rPr>
              <a:t>Role-specific access</a:t>
            </a:r>
            <a:endParaRPr lang="en-US" sz="1110" dirty="0"/>
          </a:p>
        </p:txBody>
      </p:sp>
      <p:sp>
        <p:nvSpPr>
          <p:cNvPr id="25" name="Text 21"/>
          <p:cNvSpPr/>
          <p:nvPr/>
        </p:nvSpPr>
        <p:spPr>
          <a:xfrm>
            <a:off x="8823960" y="530352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7180"/>
                </a:solidFill>
              </a:rPr>
              <a:t>Dashboard + modules by responsibility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CERTIFICATION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Certification becomes a managed lifecycle, not a static field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Track status, validity, renewal and history while connecting certification readiness to actual assessment progress.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874520"/>
            <a:ext cx="1261872" cy="1261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18A2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8136" y="217627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3346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Ready?</a:t>
            </a:r>
            <a:endParaRPr lang="en-US" sz="1220" dirty="0"/>
          </a:p>
        </p:txBody>
      </p:sp>
      <p:sp>
        <p:nvSpPr>
          <p:cNvPr id="11" name="Text 7"/>
          <p:cNvSpPr/>
          <p:nvPr/>
        </p:nvSpPr>
        <p:spPr>
          <a:xfrm>
            <a:off x="566928" y="36850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F7180"/>
                </a:solidFill>
              </a:rPr>
              <a:t>Gap status + score</a:t>
            </a:r>
            <a:endParaRPr lang="en-US" sz="910" dirty="0"/>
          </a:p>
        </p:txBody>
      </p:sp>
      <p:sp>
        <p:nvSpPr>
          <p:cNvPr id="12" name="Shape 8"/>
          <p:cNvSpPr/>
          <p:nvPr/>
        </p:nvSpPr>
        <p:spPr>
          <a:xfrm>
            <a:off x="2011680" y="2496312"/>
            <a:ext cx="822960" cy="0"/>
          </a:xfrm>
          <a:prstGeom prst="line">
            <a:avLst/>
          </a:prstGeom>
          <a:noFill/>
          <a:ln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971800" y="1874520"/>
            <a:ext cx="1261872" cy="1261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7FF9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8416" y="2176272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834640" y="3346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Apply</a:t>
            </a:r>
            <a:endParaRPr lang="en-US" sz="1220" dirty="0"/>
          </a:p>
        </p:txBody>
      </p:sp>
      <p:sp>
        <p:nvSpPr>
          <p:cNvPr id="16" name="Text 11"/>
          <p:cNvSpPr/>
          <p:nvPr/>
        </p:nvSpPr>
        <p:spPr>
          <a:xfrm>
            <a:off x="2807208" y="36850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F7180"/>
                </a:solidFill>
              </a:rPr>
              <a:t>Certification workflow</a:t>
            </a:r>
            <a:endParaRPr lang="en-US" sz="910" dirty="0"/>
          </a:p>
        </p:txBody>
      </p:sp>
      <p:sp>
        <p:nvSpPr>
          <p:cNvPr id="17" name="Shape 12"/>
          <p:cNvSpPr/>
          <p:nvPr/>
        </p:nvSpPr>
        <p:spPr>
          <a:xfrm>
            <a:off x="4251960" y="2496312"/>
            <a:ext cx="822960" cy="0"/>
          </a:xfrm>
          <a:prstGeom prst="line">
            <a:avLst/>
          </a:prstGeom>
          <a:noFill/>
          <a:ln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5212080" y="1874520"/>
            <a:ext cx="1261872" cy="1261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B67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8696" y="2176272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74920" y="3346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Certified</a:t>
            </a:r>
            <a:endParaRPr lang="en-US" sz="1220" dirty="0"/>
          </a:p>
        </p:txBody>
      </p:sp>
      <p:sp>
        <p:nvSpPr>
          <p:cNvPr id="21" name="Text 15"/>
          <p:cNvSpPr/>
          <p:nvPr/>
        </p:nvSpPr>
        <p:spPr>
          <a:xfrm>
            <a:off x="5047488" y="36850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F7180"/>
                </a:solidFill>
              </a:rPr>
              <a:t>State / national / conditional</a:t>
            </a:r>
            <a:endParaRPr lang="en-US" sz="910" dirty="0"/>
          </a:p>
        </p:txBody>
      </p:sp>
      <p:sp>
        <p:nvSpPr>
          <p:cNvPr id="22" name="Shape 16"/>
          <p:cNvSpPr/>
          <p:nvPr/>
        </p:nvSpPr>
        <p:spPr>
          <a:xfrm>
            <a:off x="6492240" y="2496312"/>
            <a:ext cx="822960" cy="0"/>
          </a:xfrm>
          <a:prstGeom prst="line">
            <a:avLst/>
          </a:prstGeom>
          <a:noFill/>
          <a:ln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7452360" y="1874520"/>
            <a:ext cx="1261872" cy="1261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B61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08976" y="2176272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315200" y="3346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Validity</a:t>
            </a:r>
            <a:endParaRPr lang="en-US" sz="1220" dirty="0"/>
          </a:p>
        </p:txBody>
      </p:sp>
      <p:sp>
        <p:nvSpPr>
          <p:cNvPr id="26" name="Text 19"/>
          <p:cNvSpPr/>
          <p:nvPr/>
        </p:nvSpPr>
        <p:spPr>
          <a:xfrm>
            <a:off x="7287768" y="36850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F7180"/>
                </a:solidFill>
              </a:rPr>
              <a:t>Expiry monitoring</a:t>
            </a:r>
            <a:endParaRPr lang="en-US" sz="910" dirty="0"/>
          </a:p>
        </p:txBody>
      </p:sp>
      <p:sp>
        <p:nvSpPr>
          <p:cNvPr id="27" name="Shape 20"/>
          <p:cNvSpPr/>
          <p:nvPr/>
        </p:nvSpPr>
        <p:spPr>
          <a:xfrm>
            <a:off x="8732520" y="2496312"/>
            <a:ext cx="822960" cy="0"/>
          </a:xfrm>
          <a:prstGeom prst="line">
            <a:avLst/>
          </a:prstGeom>
          <a:noFill/>
          <a:ln w="25400">
            <a:solidFill>
              <a:srgbClr val="B0C0CB"/>
            </a:solidFill>
            <a:prstDash val="solid"/>
            <a:headEnd type="none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9692640" y="1874520"/>
            <a:ext cx="1261872" cy="1261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6F6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49256" y="2176272"/>
            <a:ext cx="548640" cy="5486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555480" y="334670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324F"/>
                </a:solidFill>
              </a:rPr>
              <a:t>Renew</a:t>
            </a:r>
            <a:endParaRPr lang="en-US" sz="1220" dirty="0"/>
          </a:p>
        </p:txBody>
      </p:sp>
      <p:sp>
        <p:nvSpPr>
          <p:cNvPr id="31" name="Text 23"/>
          <p:cNvSpPr/>
          <p:nvPr/>
        </p:nvSpPr>
        <p:spPr>
          <a:xfrm>
            <a:off x="9528048" y="3685032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5F7180"/>
                </a:solidFill>
              </a:rPr>
              <a:t>Reassessment + evidence</a:t>
            </a:r>
            <a:endParaRPr lang="en-US" sz="910" dirty="0"/>
          </a:p>
        </p:txBody>
      </p:sp>
      <p:sp>
        <p:nvSpPr>
          <p:cNvPr id="32" name="Shape 24"/>
          <p:cNvSpPr/>
          <p:nvPr/>
        </p:nvSpPr>
        <p:spPr>
          <a:xfrm>
            <a:off x="1965960" y="4736592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AF8F2"/>
          </a:solidFill>
          <a:ln w="12700">
            <a:solidFill>
              <a:srgbClr val="D5EEE4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40280" y="4983480"/>
            <a:ext cx="384048" cy="38404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788920" y="493776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16324F"/>
                </a:solidFill>
              </a:rPr>
              <a:t>Governance benefit: administrators can see which entities are certified, expiring, due for renewal or blocked by unresolved gaps — without rebuilding the status manually.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GOVERNANCE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access mirrors how public programs are actually managed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Access is controlled by hierarchy, responsibility and functional privilege rather than a single “admin/user” split.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011680" y="1755648"/>
            <a:ext cx="2834640" cy="640080"/>
          </a:xfrm>
          <a:prstGeom prst="roundRect">
            <a:avLst>
              <a:gd name="adj" fmla="val 857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48840" y="1874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State / Program Admin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148840" y="2112264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E5EEF3"/>
                </a:solidFill>
              </a:rPr>
              <a:t>Configuration • users • dashboard • certification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1554480" y="2578608"/>
            <a:ext cx="3749040" cy="640080"/>
          </a:xfrm>
          <a:prstGeom prst="roundRect">
            <a:avLst>
              <a:gd name="adj" fmla="val 8571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91640" y="2697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District / Division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691640" y="2935224"/>
            <a:ext cx="3474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E5EEF3"/>
                </a:solidFill>
              </a:rPr>
              <a:t>Monitor entities • review progress • analytics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1097280" y="3401568"/>
            <a:ext cx="4663440" cy="640080"/>
          </a:xfrm>
          <a:prstGeom prst="roundRect">
            <a:avLst>
              <a:gd name="adj" fmla="val 8571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35204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Facility / School Admin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234440" y="3758184"/>
            <a:ext cx="4389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E5EEF3"/>
                </a:solidFill>
              </a:rPr>
              <a:t>Activate departments/classes • assign work • action plans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640080" y="4224528"/>
            <a:ext cx="5577840" cy="640080"/>
          </a:xfrm>
          <a:prstGeom prst="roundRect">
            <a:avLst>
              <a:gd name="adj" fmla="val 8571"/>
            </a:avLst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34340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Assessor / Department User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4581144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E5EEF3"/>
                </a:solidFill>
              </a:rPr>
              <a:t>Assess • save evidence • close gaps • enter indicators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6903720" y="1892808"/>
            <a:ext cx="438912" cy="438912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9732" y="1988820"/>
            <a:ext cx="246888" cy="2468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98080" y="18379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6324F"/>
                </a:solidFill>
              </a:rPr>
              <a:t>Scope</a:t>
            </a:r>
            <a:endParaRPr lang="en-US" sz="1140" dirty="0"/>
          </a:p>
        </p:txBody>
      </p:sp>
      <p:sp>
        <p:nvSpPr>
          <p:cNvPr id="23" name="Text 19"/>
          <p:cNvSpPr/>
          <p:nvPr/>
        </p:nvSpPr>
        <p:spPr>
          <a:xfrm>
            <a:off x="8549640" y="18196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State / district / entity / department</a:t>
            </a:r>
            <a:endParaRPr lang="en-US" sz="920" dirty="0"/>
          </a:p>
        </p:txBody>
      </p:sp>
      <p:sp>
        <p:nvSpPr>
          <p:cNvPr id="24" name="Shape 20"/>
          <p:cNvSpPr/>
          <p:nvPr/>
        </p:nvSpPr>
        <p:spPr>
          <a:xfrm>
            <a:off x="6903720" y="2898648"/>
            <a:ext cx="438912" cy="438912"/>
          </a:xfrm>
          <a:prstGeom prst="ellipse">
            <a:avLst/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9732" y="2994660"/>
            <a:ext cx="246888" cy="2468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498080" y="28437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6324F"/>
                </a:solidFill>
              </a:rPr>
              <a:t>Privileges</a:t>
            </a:r>
            <a:endParaRPr lang="en-US" sz="1140" dirty="0"/>
          </a:p>
        </p:txBody>
      </p:sp>
      <p:sp>
        <p:nvSpPr>
          <p:cNvPr id="27" name="Text 22"/>
          <p:cNvSpPr/>
          <p:nvPr/>
        </p:nvSpPr>
        <p:spPr>
          <a:xfrm>
            <a:off x="8549640" y="282549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View • create • edit • approve • export • administer</a:t>
            </a:r>
            <a:endParaRPr lang="en-US" sz="920" dirty="0"/>
          </a:p>
        </p:txBody>
      </p:sp>
      <p:sp>
        <p:nvSpPr>
          <p:cNvPr id="28" name="Shape 23"/>
          <p:cNvSpPr/>
          <p:nvPr/>
        </p:nvSpPr>
        <p:spPr>
          <a:xfrm>
            <a:off x="6903720" y="3904488"/>
            <a:ext cx="438912" cy="438912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9732" y="4000500"/>
            <a:ext cx="246888" cy="2468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0" y="38496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6324F"/>
                </a:solidFill>
              </a:rPr>
              <a:t>Assignment</a:t>
            </a:r>
            <a:endParaRPr lang="en-US" sz="1140" dirty="0"/>
          </a:p>
        </p:txBody>
      </p:sp>
      <p:sp>
        <p:nvSpPr>
          <p:cNvPr id="31" name="Text 25"/>
          <p:cNvSpPr/>
          <p:nvPr/>
        </p:nvSpPr>
        <p:spPr>
          <a:xfrm>
            <a:off x="8549640" y="383133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User linked to facility / school and allowed units</a:t>
            </a:r>
            <a:endParaRPr lang="en-US" sz="920" dirty="0"/>
          </a:p>
        </p:txBody>
      </p:sp>
      <p:sp>
        <p:nvSpPr>
          <p:cNvPr id="32" name="Shape 26"/>
          <p:cNvSpPr/>
          <p:nvPr/>
        </p:nvSpPr>
        <p:spPr>
          <a:xfrm>
            <a:off x="6903720" y="4910328"/>
            <a:ext cx="438912" cy="438912"/>
          </a:xfrm>
          <a:prstGeom prst="ellipse">
            <a:avLst/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9732" y="5006340"/>
            <a:ext cx="246888" cy="2468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6324F"/>
                </a:solidFill>
              </a:rPr>
              <a:t>Auditability</a:t>
            </a:r>
            <a:endParaRPr lang="en-US" sz="1140" dirty="0"/>
          </a:p>
        </p:txBody>
      </p:sp>
      <p:sp>
        <p:nvSpPr>
          <p:cNvPr id="35" name="Text 28"/>
          <p:cNvSpPr/>
          <p:nvPr/>
        </p:nvSpPr>
        <p:spPr>
          <a:xfrm>
            <a:off x="8549640" y="48371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F7180"/>
                </a:solidFill>
              </a:rPr>
              <a:t>Security events and change history retained</a:t>
            </a:r>
            <a:endParaRPr lang="en-US" sz="920" dirty="0"/>
          </a:p>
        </p:txBody>
      </p:sp>
      <p:sp>
        <p:nvSpPr>
          <p:cNvPr id="36" name="Text 29"/>
          <p:cNvSpPr/>
          <p:nvPr/>
        </p:nvSpPr>
        <p:spPr>
          <a:xfrm>
            <a:off x="6355080" y="5623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2F6F6A"/>
                </a:solidFill>
              </a:rPr>
              <a:t>Security is part of the platform contract — not a feature added later for each framework.</a:t>
            </a:r>
            <a:endParaRPr lang="en-US" sz="12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CAPABILITIES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platform provides today — and what every framework can reuse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A shared capability stack prevents the same features being rebuilt for each sector or program.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164592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9536" y="184708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929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CONFIGURE</a:t>
            </a:r>
            <a:endParaRPr lang="en-US" sz="760" dirty="0"/>
          </a:p>
        </p:txBody>
      </p:sp>
      <p:sp>
        <p:nvSpPr>
          <p:cNvPr id="11" name="Shape 8"/>
          <p:cNvSpPr/>
          <p:nvPr/>
        </p:nvSpPr>
        <p:spPr>
          <a:xfrm>
            <a:off x="886968" y="2331720"/>
            <a:ext cx="54864" cy="54864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24128" y="2249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Framework &amp; facility/entity types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886968" y="2596896"/>
            <a:ext cx="54864" cy="54864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4128" y="25146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Departments / domains / concerns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886968" y="2862072"/>
            <a:ext cx="54864" cy="54864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Checkpoint &amp; scoring configuration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886968" y="3127248"/>
            <a:ext cx="54864" cy="54864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3044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Assessment methods / cycle rules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3456432" y="164592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0" y="184708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12464" y="1929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ASSESS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3685032" y="2331720"/>
            <a:ext cx="54864" cy="54864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822192" y="2249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Digital forms + progress tracking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3685032" y="2596896"/>
            <a:ext cx="54864" cy="54864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22192" y="25146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Pause / resume / multiple cycles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3685032" y="2862072"/>
            <a:ext cx="54864" cy="54864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22192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Evidence and validation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3685032" y="3127248"/>
            <a:ext cx="54864" cy="54864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22192" y="3044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Automated score calculation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6254496" y="164592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55664" y="184708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10528" y="1929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IMPROVE</a:t>
            </a:r>
            <a:endParaRPr lang="en-US" sz="760" dirty="0"/>
          </a:p>
        </p:txBody>
      </p:sp>
      <p:sp>
        <p:nvSpPr>
          <p:cNvPr id="33" name="Shape 30"/>
          <p:cNvSpPr/>
          <p:nvPr/>
        </p:nvSpPr>
        <p:spPr>
          <a:xfrm>
            <a:off x="6483096" y="2331720"/>
            <a:ext cx="54864" cy="54864"/>
          </a:xfrm>
          <a:prstGeom prst="ellipse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0256" y="2249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Gap analysis</a:t>
            </a:r>
            <a:endParaRPr lang="en-US" sz="860" dirty="0"/>
          </a:p>
        </p:txBody>
      </p:sp>
      <p:sp>
        <p:nvSpPr>
          <p:cNvPr id="35" name="Shape 32"/>
          <p:cNvSpPr/>
          <p:nvPr/>
        </p:nvSpPr>
        <p:spPr>
          <a:xfrm>
            <a:off x="6483096" y="2596896"/>
            <a:ext cx="54864" cy="54864"/>
          </a:xfrm>
          <a:prstGeom prst="ellipse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20256" y="25146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Action plan + responsibility</a:t>
            </a:r>
            <a:endParaRPr lang="en-US" sz="860" dirty="0"/>
          </a:p>
        </p:txBody>
      </p:sp>
      <p:sp>
        <p:nvSpPr>
          <p:cNvPr id="37" name="Shape 34"/>
          <p:cNvSpPr/>
          <p:nvPr/>
        </p:nvSpPr>
        <p:spPr>
          <a:xfrm>
            <a:off x="6483096" y="2862072"/>
            <a:ext cx="54864" cy="54864"/>
          </a:xfrm>
          <a:prstGeom prst="ellipse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620256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Target dates + closure evidence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6483096" y="3127248"/>
            <a:ext cx="54864" cy="54864"/>
          </a:xfrm>
          <a:prstGeom prst="ellipse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20256" y="3044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Revised score + history</a:t>
            </a:r>
            <a:endParaRPr lang="en-US" sz="860" dirty="0"/>
          </a:p>
        </p:txBody>
      </p:sp>
      <p:sp>
        <p:nvSpPr>
          <p:cNvPr id="41" name="Shape 38"/>
          <p:cNvSpPr/>
          <p:nvPr/>
        </p:nvSpPr>
        <p:spPr>
          <a:xfrm>
            <a:off x="9052560" y="164592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9253728" y="184708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08592" y="192938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MONITOR</a:t>
            </a:r>
            <a:endParaRPr lang="en-US" sz="760" dirty="0"/>
          </a:p>
        </p:txBody>
      </p:sp>
      <p:sp>
        <p:nvSpPr>
          <p:cNvPr id="44" name="Shape 41"/>
          <p:cNvSpPr/>
          <p:nvPr/>
        </p:nvSpPr>
        <p:spPr>
          <a:xfrm>
            <a:off x="9281160" y="2331720"/>
            <a:ext cx="54864" cy="5486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418320" y="224942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KPI / outcome indicators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9281160" y="2596896"/>
            <a:ext cx="54864" cy="5486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418320" y="25146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Formula &amp; validation engine</a:t>
            </a:r>
            <a:endParaRPr lang="en-US" sz="860" dirty="0"/>
          </a:p>
        </p:txBody>
      </p:sp>
      <p:sp>
        <p:nvSpPr>
          <p:cNvPr id="48" name="Shape 45"/>
          <p:cNvSpPr/>
          <p:nvPr/>
        </p:nvSpPr>
        <p:spPr>
          <a:xfrm>
            <a:off x="9281160" y="2862072"/>
            <a:ext cx="54864" cy="5486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418320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Trend analytics</a:t>
            </a:r>
            <a:endParaRPr lang="en-US" sz="860" dirty="0"/>
          </a:p>
        </p:txBody>
      </p:sp>
      <p:sp>
        <p:nvSpPr>
          <p:cNvPr id="50" name="Shape 47"/>
          <p:cNvSpPr/>
          <p:nvPr/>
        </p:nvSpPr>
        <p:spPr>
          <a:xfrm>
            <a:off x="9281160" y="3127248"/>
            <a:ext cx="54864" cy="54864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418320" y="3044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Baseline vs current</a:t>
            </a:r>
            <a:endParaRPr lang="en-US" sz="860" dirty="0"/>
          </a:p>
        </p:txBody>
      </p:sp>
      <p:sp>
        <p:nvSpPr>
          <p:cNvPr id="52" name="Shape 49"/>
          <p:cNvSpPr/>
          <p:nvPr/>
        </p:nvSpPr>
        <p:spPr>
          <a:xfrm>
            <a:off x="658368" y="388620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59536" y="40873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14400" y="416966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GOVERN</a:t>
            </a:r>
            <a:endParaRPr lang="en-US" sz="760" dirty="0"/>
          </a:p>
        </p:txBody>
      </p:sp>
      <p:sp>
        <p:nvSpPr>
          <p:cNvPr id="55" name="Shape 52"/>
          <p:cNvSpPr/>
          <p:nvPr/>
        </p:nvSpPr>
        <p:spPr>
          <a:xfrm>
            <a:off x="886968" y="4572000"/>
            <a:ext cx="54864" cy="54864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024128" y="44897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RBAC + hierarchy</a:t>
            </a:r>
            <a:endParaRPr lang="en-US" sz="860" dirty="0"/>
          </a:p>
        </p:txBody>
      </p:sp>
      <p:sp>
        <p:nvSpPr>
          <p:cNvPr id="57" name="Shape 54"/>
          <p:cNvSpPr/>
          <p:nvPr/>
        </p:nvSpPr>
        <p:spPr>
          <a:xfrm>
            <a:off x="886968" y="4837176"/>
            <a:ext cx="54864" cy="54864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24128" y="4754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User / entity assignment</a:t>
            </a:r>
            <a:endParaRPr lang="en-US" sz="860" dirty="0"/>
          </a:p>
        </p:txBody>
      </p:sp>
      <p:sp>
        <p:nvSpPr>
          <p:cNvPr id="59" name="Shape 56"/>
          <p:cNvSpPr/>
          <p:nvPr/>
        </p:nvSpPr>
        <p:spPr>
          <a:xfrm>
            <a:off x="886968" y="5102352"/>
            <a:ext cx="54864" cy="54864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024128" y="50200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Certification tracking</a:t>
            </a:r>
            <a:endParaRPr lang="en-US" sz="860" dirty="0"/>
          </a:p>
        </p:txBody>
      </p:sp>
      <p:sp>
        <p:nvSpPr>
          <p:cNvPr id="61" name="Shape 58"/>
          <p:cNvSpPr/>
          <p:nvPr/>
        </p:nvSpPr>
        <p:spPr>
          <a:xfrm>
            <a:off x="886968" y="5367528"/>
            <a:ext cx="54864" cy="54864"/>
          </a:xfrm>
          <a:prstGeom prst="ellipse">
            <a:avLst/>
          </a:prstGeom>
          <a:solidFill>
            <a:srgbClr val="2CB67D"/>
          </a:solidFill>
          <a:ln w="12700">
            <a:solidFill>
              <a:srgbClr val="2CB67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024128" y="528523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Audit / access controls</a:t>
            </a:r>
            <a:endParaRPr lang="en-US" sz="860" dirty="0"/>
          </a:p>
        </p:txBody>
      </p:sp>
      <p:sp>
        <p:nvSpPr>
          <p:cNvPr id="63" name="Shape 60"/>
          <p:cNvSpPr/>
          <p:nvPr/>
        </p:nvSpPr>
        <p:spPr>
          <a:xfrm>
            <a:off x="3456432" y="388620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3657600" y="40873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712464" y="416966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ANALYZE</a:t>
            </a:r>
            <a:endParaRPr lang="en-US" sz="760" dirty="0"/>
          </a:p>
        </p:txBody>
      </p:sp>
      <p:sp>
        <p:nvSpPr>
          <p:cNvPr id="66" name="Shape 63"/>
          <p:cNvSpPr/>
          <p:nvPr/>
        </p:nvSpPr>
        <p:spPr>
          <a:xfrm>
            <a:off x="3685032" y="4572000"/>
            <a:ext cx="54864" cy="54864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822192" y="44897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State / district / entity dashboards</a:t>
            </a:r>
            <a:endParaRPr lang="en-US" sz="860" dirty="0"/>
          </a:p>
        </p:txBody>
      </p:sp>
      <p:sp>
        <p:nvSpPr>
          <p:cNvPr id="68" name="Shape 65"/>
          <p:cNvSpPr/>
          <p:nvPr/>
        </p:nvSpPr>
        <p:spPr>
          <a:xfrm>
            <a:off x="3685032" y="4837176"/>
            <a:ext cx="54864" cy="54864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822192" y="4754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Drill-down &amp; completion status</a:t>
            </a:r>
            <a:endParaRPr lang="en-US" sz="860" dirty="0"/>
          </a:p>
        </p:txBody>
      </p:sp>
      <p:sp>
        <p:nvSpPr>
          <p:cNvPr id="70" name="Shape 67"/>
          <p:cNvSpPr/>
          <p:nvPr/>
        </p:nvSpPr>
        <p:spPr>
          <a:xfrm>
            <a:off x="3685032" y="5102352"/>
            <a:ext cx="54864" cy="54864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22192" y="50200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Comparative analysis</a:t>
            </a:r>
            <a:endParaRPr lang="en-US" sz="860" dirty="0"/>
          </a:p>
        </p:txBody>
      </p:sp>
      <p:sp>
        <p:nvSpPr>
          <p:cNvPr id="72" name="Shape 69"/>
          <p:cNvSpPr/>
          <p:nvPr/>
        </p:nvSpPr>
        <p:spPr>
          <a:xfrm>
            <a:off x="3685032" y="5367528"/>
            <a:ext cx="54864" cy="54864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822192" y="528523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Excel / PDF exports</a:t>
            </a:r>
            <a:endParaRPr lang="en-US" sz="860" dirty="0"/>
          </a:p>
        </p:txBody>
      </p:sp>
      <p:sp>
        <p:nvSpPr>
          <p:cNvPr id="74" name="Shape 71"/>
          <p:cNvSpPr/>
          <p:nvPr/>
        </p:nvSpPr>
        <p:spPr>
          <a:xfrm>
            <a:off x="6254496" y="388620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75" name="Shape 72"/>
          <p:cNvSpPr/>
          <p:nvPr/>
        </p:nvSpPr>
        <p:spPr>
          <a:xfrm>
            <a:off x="6455664" y="40873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3C8B83"/>
          </a:solidFill>
          <a:ln w="12700">
            <a:solidFill>
              <a:srgbClr val="3C8B8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510528" y="416966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ENABLE</a:t>
            </a:r>
            <a:endParaRPr lang="en-US" sz="760" dirty="0"/>
          </a:p>
        </p:txBody>
      </p:sp>
      <p:sp>
        <p:nvSpPr>
          <p:cNvPr id="77" name="Shape 74"/>
          <p:cNvSpPr/>
          <p:nvPr/>
        </p:nvSpPr>
        <p:spPr>
          <a:xfrm>
            <a:off x="6483096" y="4572000"/>
            <a:ext cx="54864" cy="54864"/>
          </a:xfrm>
          <a:prstGeom prst="ellipse">
            <a:avLst/>
          </a:prstGeom>
          <a:solidFill>
            <a:srgbClr val="3C8B83"/>
          </a:solidFill>
          <a:ln w="12700">
            <a:solidFill>
              <a:srgbClr val="3C8B8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620256" y="44897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Resources / guidelines / videos</a:t>
            </a:r>
            <a:endParaRPr lang="en-US" sz="860" dirty="0"/>
          </a:p>
        </p:txBody>
      </p:sp>
      <p:sp>
        <p:nvSpPr>
          <p:cNvPr id="79" name="Shape 76"/>
          <p:cNvSpPr/>
          <p:nvPr/>
        </p:nvSpPr>
        <p:spPr>
          <a:xfrm>
            <a:off x="6483096" y="4837176"/>
            <a:ext cx="54864" cy="54864"/>
          </a:xfrm>
          <a:prstGeom prst="ellipse">
            <a:avLst/>
          </a:prstGeom>
          <a:solidFill>
            <a:srgbClr val="3C8B83"/>
          </a:solidFill>
          <a:ln w="12700">
            <a:solidFill>
              <a:srgbClr val="3C8B8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620256" y="4754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User feedback</a:t>
            </a:r>
            <a:endParaRPr lang="en-US" sz="860" dirty="0"/>
          </a:p>
        </p:txBody>
      </p:sp>
      <p:sp>
        <p:nvSpPr>
          <p:cNvPr id="81" name="Shape 78"/>
          <p:cNvSpPr/>
          <p:nvPr/>
        </p:nvSpPr>
        <p:spPr>
          <a:xfrm>
            <a:off x="6483096" y="5102352"/>
            <a:ext cx="54864" cy="54864"/>
          </a:xfrm>
          <a:prstGeom prst="ellipse">
            <a:avLst/>
          </a:prstGeom>
          <a:solidFill>
            <a:srgbClr val="3C8B83"/>
          </a:solidFill>
          <a:ln w="12700">
            <a:solidFill>
              <a:srgbClr val="3C8B83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6620256" y="50200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Admin-managed content</a:t>
            </a:r>
            <a:endParaRPr lang="en-US" sz="860" dirty="0"/>
          </a:p>
        </p:txBody>
      </p:sp>
      <p:sp>
        <p:nvSpPr>
          <p:cNvPr id="83" name="Shape 80"/>
          <p:cNvSpPr/>
          <p:nvPr/>
        </p:nvSpPr>
        <p:spPr>
          <a:xfrm>
            <a:off x="6483096" y="5367528"/>
            <a:ext cx="54864" cy="54864"/>
          </a:xfrm>
          <a:prstGeom prst="ellipse">
            <a:avLst/>
          </a:prstGeom>
          <a:solidFill>
            <a:srgbClr val="3C8B83"/>
          </a:solidFill>
          <a:ln w="12700">
            <a:solidFill>
              <a:srgbClr val="3C8B83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620256" y="528523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Low-bandwidth aware UX</a:t>
            </a:r>
            <a:endParaRPr lang="en-US" sz="860" dirty="0"/>
          </a:p>
        </p:txBody>
      </p:sp>
      <p:sp>
        <p:nvSpPr>
          <p:cNvPr id="85" name="Shape 82"/>
          <p:cNvSpPr/>
          <p:nvPr/>
        </p:nvSpPr>
        <p:spPr>
          <a:xfrm>
            <a:off x="9052560" y="3886200"/>
            <a:ext cx="248716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86" name="Shape 83"/>
          <p:cNvSpPr/>
          <p:nvPr/>
        </p:nvSpPr>
        <p:spPr>
          <a:xfrm>
            <a:off x="9253728" y="408736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9308592" y="4169664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INTEGRATE</a:t>
            </a:r>
            <a:endParaRPr lang="en-US" sz="760" dirty="0"/>
          </a:p>
        </p:txBody>
      </p:sp>
      <p:sp>
        <p:nvSpPr>
          <p:cNvPr id="88" name="Shape 85"/>
          <p:cNvSpPr/>
          <p:nvPr/>
        </p:nvSpPr>
        <p:spPr>
          <a:xfrm>
            <a:off x="9281160" y="4572000"/>
            <a:ext cx="54864" cy="5486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418320" y="448970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API-first services</a:t>
            </a:r>
            <a:endParaRPr lang="en-US" sz="860" dirty="0"/>
          </a:p>
        </p:txBody>
      </p:sp>
      <p:sp>
        <p:nvSpPr>
          <p:cNvPr id="90" name="Shape 87"/>
          <p:cNvSpPr/>
          <p:nvPr/>
        </p:nvSpPr>
        <p:spPr>
          <a:xfrm>
            <a:off x="9281160" y="4837176"/>
            <a:ext cx="54864" cy="5486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9418320" y="47548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JSON configuration</a:t>
            </a:r>
            <a:endParaRPr lang="en-US" sz="860" dirty="0"/>
          </a:p>
        </p:txBody>
      </p:sp>
      <p:sp>
        <p:nvSpPr>
          <p:cNvPr id="92" name="Shape 89"/>
          <p:cNvSpPr/>
          <p:nvPr/>
        </p:nvSpPr>
        <p:spPr>
          <a:xfrm>
            <a:off x="9281160" y="5102352"/>
            <a:ext cx="54864" cy="5486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9418320" y="50200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External data exchange</a:t>
            </a:r>
            <a:endParaRPr lang="en-US" sz="860" dirty="0"/>
          </a:p>
        </p:txBody>
      </p:sp>
      <p:sp>
        <p:nvSpPr>
          <p:cNvPr id="94" name="Shape 91"/>
          <p:cNvSpPr/>
          <p:nvPr/>
        </p:nvSpPr>
        <p:spPr>
          <a:xfrm>
            <a:off x="9281160" y="5367528"/>
            <a:ext cx="54864" cy="5486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9418320" y="528523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D2B36"/>
                </a:solidFill>
              </a:rPr>
              <a:t>Portable deployment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1737360" cy="274320"/>
          </a:xfrm>
          <a:prstGeom prst="roundRect">
            <a:avLst>
              <a:gd name="adj" fmla="val 26667"/>
            </a:avLst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OPEN SOURCE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source by design — not simply “built with open-source tools”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The strategic value is government / implementer ownership, configurability, portability and a contribution model that reduces lock-in.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755648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19842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12" y="2080260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956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6324F"/>
                </a:solidFill>
              </a:rPr>
              <a:t>Open codebase</a:t>
            </a:r>
            <a:endParaRPr lang="en-US" sz="1310" dirty="0"/>
          </a:p>
        </p:txBody>
      </p:sp>
      <p:sp>
        <p:nvSpPr>
          <p:cNvPr id="12" name="Text 8"/>
          <p:cNvSpPr/>
          <p:nvPr/>
        </p:nvSpPr>
        <p:spPr>
          <a:xfrm>
            <a:off x="914400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B36"/>
                </a:solidFill>
              </a:rPr>
              <a:t>Auditable, reviewable and extensible source structure.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4489704" y="1755648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18304" y="19842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14316" y="2080260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58384" y="1956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6324F"/>
                </a:solidFill>
              </a:rPr>
              <a:t>Open configuration</a:t>
            </a:r>
            <a:endParaRPr lang="en-US" sz="1310" dirty="0"/>
          </a:p>
        </p:txBody>
      </p:sp>
      <p:sp>
        <p:nvSpPr>
          <p:cNvPr id="17" name="Text 12"/>
          <p:cNvSpPr/>
          <p:nvPr/>
        </p:nvSpPr>
        <p:spPr>
          <a:xfrm>
            <a:off x="4718304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B36"/>
                </a:solidFill>
              </a:rPr>
              <a:t>Framework packs are data-driven (JSON), reducing custom code.</a:t>
            </a:r>
            <a:endParaRPr lang="en-US" sz="980" dirty="0"/>
          </a:p>
        </p:txBody>
      </p:sp>
      <p:sp>
        <p:nvSpPr>
          <p:cNvPr id="18" name="Shape 13"/>
          <p:cNvSpPr/>
          <p:nvPr/>
        </p:nvSpPr>
        <p:spPr>
          <a:xfrm>
            <a:off x="8293608" y="1755648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22208" y="19842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18220" y="2080260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62288" y="19568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6324F"/>
                </a:solidFill>
              </a:rPr>
              <a:t>Open interfaces</a:t>
            </a:r>
            <a:endParaRPr lang="en-US" sz="1310" dirty="0"/>
          </a:p>
        </p:txBody>
      </p:sp>
      <p:sp>
        <p:nvSpPr>
          <p:cNvPr id="22" name="Text 16"/>
          <p:cNvSpPr/>
          <p:nvPr/>
        </p:nvSpPr>
        <p:spPr>
          <a:xfrm>
            <a:off x="8522208" y="25603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B36"/>
                </a:solidFill>
              </a:rPr>
              <a:t>API-first services allow integration with surrounding systems.</a:t>
            </a:r>
            <a:endParaRPr lang="en-US" sz="980" dirty="0"/>
          </a:p>
        </p:txBody>
      </p:sp>
      <p:sp>
        <p:nvSpPr>
          <p:cNvPr id="23" name="Shape 17"/>
          <p:cNvSpPr/>
          <p:nvPr/>
        </p:nvSpPr>
        <p:spPr>
          <a:xfrm>
            <a:off x="685800" y="3813048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14400" y="40416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0412" y="4137660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0142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6324F"/>
                </a:solidFill>
              </a:rPr>
              <a:t>Deployment freedom</a:t>
            </a:r>
            <a:endParaRPr lang="en-US" sz="1310" dirty="0"/>
          </a:p>
        </p:txBody>
      </p:sp>
      <p:sp>
        <p:nvSpPr>
          <p:cNvPr id="27" name="Text 20"/>
          <p:cNvSpPr/>
          <p:nvPr/>
        </p:nvSpPr>
        <p:spPr>
          <a:xfrm>
            <a:off x="914400" y="4617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B36"/>
                </a:solidFill>
              </a:rPr>
              <a:t>Run on government cloud, private cloud or on-prem environments.</a:t>
            </a:r>
            <a:endParaRPr lang="en-US" sz="980" dirty="0"/>
          </a:p>
        </p:txBody>
      </p:sp>
      <p:sp>
        <p:nvSpPr>
          <p:cNvPr id="28" name="Shape 21"/>
          <p:cNvSpPr/>
          <p:nvPr/>
        </p:nvSpPr>
        <p:spPr>
          <a:xfrm>
            <a:off x="4489704" y="3813048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718304" y="40416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14316" y="4137660"/>
            <a:ext cx="301752" cy="30175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58384" y="40142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6324F"/>
                </a:solidFill>
              </a:rPr>
              <a:t>Reusable sector packs</a:t>
            </a:r>
            <a:endParaRPr lang="en-US" sz="1310" dirty="0"/>
          </a:p>
        </p:txBody>
      </p:sp>
      <p:sp>
        <p:nvSpPr>
          <p:cNvPr id="32" name="Text 24"/>
          <p:cNvSpPr/>
          <p:nvPr/>
        </p:nvSpPr>
        <p:spPr>
          <a:xfrm>
            <a:off x="4718304" y="4617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B36"/>
                </a:solidFill>
              </a:rPr>
              <a:t>Health / education / future domains can share one core engine.</a:t>
            </a:r>
            <a:endParaRPr lang="en-US" sz="980" dirty="0"/>
          </a:p>
        </p:txBody>
      </p:sp>
      <p:sp>
        <p:nvSpPr>
          <p:cNvPr id="33" name="Shape 25"/>
          <p:cNvSpPr/>
          <p:nvPr/>
        </p:nvSpPr>
        <p:spPr>
          <a:xfrm>
            <a:off x="8293608" y="3813048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522208" y="4041648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18220" y="4137660"/>
            <a:ext cx="301752" cy="30175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162288" y="40142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b="1" dirty="0">
                <a:solidFill>
                  <a:srgbClr val="16324F"/>
                </a:solidFill>
              </a:rPr>
              <a:t>Transparent improvement</a:t>
            </a:r>
            <a:endParaRPr lang="en-US" sz="1310" dirty="0"/>
          </a:p>
        </p:txBody>
      </p:sp>
      <p:sp>
        <p:nvSpPr>
          <p:cNvPr id="37" name="Text 28"/>
          <p:cNvSpPr/>
          <p:nvPr/>
        </p:nvSpPr>
        <p:spPr>
          <a:xfrm>
            <a:off x="8522208" y="46177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D2B36"/>
                </a:solidFill>
              </a:rPr>
              <a:t>Issues, releases, documentation and QA can follow an open contribution process.</a:t>
            </a:r>
            <a:endParaRPr lang="en-US" sz="980" dirty="0"/>
          </a:p>
        </p:txBody>
      </p:sp>
      <p:sp>
        <p:nvSpPr>
          <p:cNvPr id="38" name="Shape 29"/>
          <p:cNvSpPr/>
          <p:nvPr/>
        </p:nvSpPr>
        <p:spPr>
          <a:xfrm>
            <a:off x="1325880" y="5815584"/>
            <a:ext cx="9509760" cy="438912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600200" y="5961888"/>
            <a:ext cx="8961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OPEN SOURCE OUTCOME → Local ownership + faster adaptation + lower duplication + easier integration + ecosystem innovation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WHY OPEN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Replace framework-by-framework software projects with a shared public quality platform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The biggest cost is often not the first build — it is repeated customization, migrations and dependency over many programs.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691640"/>
            <a:ext cx="5166360" cy="4315968"/>
          </a:xfrm>
          <a:prstGeom prst="roundRect">
            <a:avLst>
              <a:gd name="adj" fmla="val 1695"/>
            </a:avLst>
          </a:prstGeom>
          <a:solidFill>
            <a:srgbClr val="FFF4F5"/>
          </a:solidFill>
          <a:ln w="12700">
            <a:solidFill>
              <a:srgbClr val="F5CDD4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327648" y="1691640"/>
            <a:ext cx="5166360" cy="4315968"/>
          </a:xfrm>
          <a:prstGeom prst="roundRect">
            <a:avLst>
              <a:gd name="adj" fmla="val 1695"/>
            </a:avLst>
          </a:prstGeom>
          <a:solidFill>
            <a:srgbClr val="EEF8F5"/>
          </a:solidFill>
          <a:ln w="12700">
            <a:solidFill>
              <a:srgbClr val="CFECE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7552" y="197510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9568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4A5F"/>
                </a:solidFill>
              </a:rPr>
              <a:t>Silo / closed implementation</a:t>
            </a:r>
            <a:endParaRPr lang="en-US" sz="17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9400" y="1975104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96328" y="1956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B67D"/>
                </a:solidFill>
              </a:rPr>
              <a:t>SaQshi open platform approach</a:t>
            </a:r>
            <a:endParaRPr lang="en-US" sz="17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4128" y="2670048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53312" y="2633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New application for each framework</a:t>
            </a:r>
            <a:endParaRPr lang="en-US" sz="108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4128" y="3172968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53312" y="3136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Hard-coded workflow and scoring</a:t>
            </a:r>
            <a:endParaRPr lang="en-US" sz="108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4128" y="3675888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53312" y="3639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Custom reports for every geography</a:t>
            </a:r>
            <a:endParaRPr lang="en-US" sz="108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4128" y="4178808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353312" y="4142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Vendor change becomes a migration project</a:t>
            </a:r>
            <a:endParaRPr lang="en-US" sz="108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4128" y="4681728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353312" y="4645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Integration added after deployment</a:t>
            </a:r>
            <a:endParaRPr lang="en-US" sz="108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24128" y="5184648"/>
            <a:ext cx="164592" cy="16459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353312" y="51480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Knowledge remains with implementation team</a:t>
            </a:r>
            <a:endParaRPr lang="en-US" sz="108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75120" y="2670048"/>
            <a:ext cx="164592" cy="16459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04304" y="26334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New framework = configuration pack</a:t>
            </a:r>
            <a:endParaRPr lang="en-US" sz="108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75120" y="3172968"/>
            <a:ext cx="164592" cy="16459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004304" y="3136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Shared workflow + configurable scoring</a:t>
            </a:r>
            <a:endParaRPr lang="en-US" sz="108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75120" y="3675888"/>
            <a:ext cx="164592" cy="16459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004304" y="3639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Reusable dashboards + filters + exports</a:t>
            </a:r>
            <a:endParaRPr lang="en-US" sz="108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675120" y="4178808"/>
            <a:ext cx="164592" cy="164592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7004304" y="4142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Code/config ownership can transfer locally</a:t>
            </a:r>
            <a:endParaRPr lang="en-US" sz="108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675120" y="4681728"/>
            <a:ext cx="164592" cy="164592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7004304" y="46451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APIs are a core platform layer</a:t>
            </a:r>
            <a:endParaRPr lang="en-US" sz="1080" dirty="0"/>
          </a:p>
        </p:txBody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675120" y="5184648"/>
            <a:ext cx="164592" cy="164592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7004304" y="51480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D2B36"/>
                </a:solidFill>
              </a:rPr>
              <a:t>Documentation + versioned contribution model</a:t>
            </a:r>
            <a:endParaRPr lang="en-US" sz="1080" dirty="0"/>
          </a:p>
        </p:txBody>
      </p:sp>
      <p:sp>
        <p:nvSpPr>
          <p:cNvPr id="38" name="Text 21"/>
          <p:cNvSpPr/>
          <p:nvPr/>
        </p:nvSpPr>
        <p:spPr>
          <a:xfrm>
            <a:off x="1828800" y="5806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24F"/>
                </a:solidFill>
              </a:rPr>
              <a:t>Strategic principle: invest once in platform capability; spend future effort on quality content and implementation — not rebuilding software plumbing.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ARCHITECTURE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Open-source architecture: modular, configuration-driven and API-first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Current refactor separates core services, framework configuration and assessment APIs so the same engine can serve multiple programs.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05840" y="1700784"/>
            <a:ext cx="10195560" cy="640080"/>
          </a:xfrm>
          <a:prstGeom prst="roundRect">
            <a:avLst>
              <a:gd name="adj" fmla="val 7143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18288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Experience Layer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3154680" y="1837944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8FA"/>
                </a:solidFill>
              </a:rPr>
              <a:t>Responsive Web UI  •  Admin Console  •  Test UI  •  Reports &amp; Exports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108192" y="2340864"/>
            <a:ext cx="0" cy="182880"/>
          </a:xfrm>
          <a:prstGeom prst="line">
            <a:avLst/>
          </a:prstGeom>
          <a:noFill/>
          <a:ln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005840" y="2532888"/>
            <a:ext cx="10195560" cy="713232"/>
          </a:xfrm>
          <a:prstGeom prst="roundRect">
            <a:avLst>
              <a:gd name="adj" fmla="val 6410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80160" y="26609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Platform API Layer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3154680" y="267004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8FA"/>
                </a:solidFill>
              </a:rPr>
              <a:t>Auth / RBAC  •  Framework APIs  •  Assessment APIs  •  CQI  •  KPI / Outcomes  •  Certification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6108192" y="3246120"/>
            <a:ext cx="0" cy="182880"/>
          </a:xfrm>
          <a:prstGeom prst="line">
            <a:avLst/>
          </a:prstGeom>
          <a:noFill/>
          <a:ln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005840" y="3447288"/>
            <a:ext cx="10195560" cy="713232"/>
          </a:xfrm>
          <a:prstGeom prst="roundRect">
            <a:avLst>
              <a:gd name="adj" fmla="val 6410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35753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Reusable Services</a:t>
            </a:r>
            <a:endParaRPr lang="en-US" sz="1220" dirty="0"/>
          </a:p>
        </p:txBody>
      </p:sp>
      <p:sp>
        <p:nvSpPr>
          <p:cNvPr id="18" name="Text 15"/>
          <p:cNvSpPr/>
          <p:nvPr/>
        </p:nvSpPr>
        <p:spPr>
          <a:xfrm>
            <a:off x="3154680" y="358444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8FA"/>
                </a:solidFill>
              </a:rPr>
              <a:t>FrameworkEngine  •  DepartmentStatusService  •  DynamicAssessmentService  •  Security / Session / CSRF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108192" y="4160520"/>
            <a:ext cx="0" cy="182880"/>
          </a:xfrm>
          <a:prstGeom prst="line">
            <a:avLst/>
          </a:prstGeom>
          <a:noFill/>
          <a:ln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1005840" y="4361688"/>
            <a:ext cx="10195560" cy="713232"/>
          </a:xfrm>
          <a:prstGeom prst="roundRect">
            <a:avLst>
              <a:gd name="adj" fmla="val 6410"/>
            </a:avLst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80160" y="4489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Configuration Layer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3154680" y="449884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8FA"/>
                </a:solidFill>
              </a:rPr>
              <a:t>frameworks/*.json  •  masters/*.json  •  facility types  •  domains  •  checkpoints  •  methods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6108192" y="5074920"/>
            <a:ext cx="0" cy="182880"/>
          </a:xfrm>
          <a:prstGeom prst="line">
            <a:avLst/>
          </a:prstGeom>
          <a:noFill/>
          <a:ln w="25400">
            <a:solidFill>
              <a:srgbClr val="A5B8C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1005840" y="5276088"/>
            <a:ext cx="10195560" cy="713232"/>
          </a:xfrm>
          <a:prstGeom prst="roundRect">
            <a:avLst>
              <a:gd name="adj" fmla="val 641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280160" y="54041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FFFFF"/>
                </a:solidFill>
              </a:rPr>
              <a:t>Data &amp; Deployment</a:t>
            </a:r>
            <a:endParaRPr lang="en-US" sz="1220" dirty="0"/>
          </a:p>
        </p:txBody>
      </p:sp>
      <p:sp>
        <p:nvSpPr>
          <p:cNvPr id="26" name="Text 23"/>
          <p:cNvSpPr/>
          <p:nvPr/>
        </p:nvSpPr>
        <p:spPr>
          <a:xfrm>
            <a:off x="3154680" y="541324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5F8FA"/>
                </a:solidFill>
              </a:rPr>
              <a:t>MySQL / relational data  •  file storage  •  APIs  •  container / VM / government cloud / on-prem options</a:t>
            </a:r>
            <a:endParaRPr lang="en-US" sz="960" dirty="0"/>
          </a:p>
        </p:txBody>
      </p:sp>
      <p:sp>
        <p:nvSpPr>
          <p:cNvPr id="27" name="Text 24"/>
          <p:cNvSpPr/>
          <p:nvPr/>
        </p:nvSpPr>
        <p:spPr>
          <a:xfrm>
            <a:off x="1371600" y="6126480"/>
            <a:ext cx="9418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F6F6A"/>
                </a:solidFill>
              </a:rPr>
              <a:t>Key design decision: framework knowledge lives in configuration; common quality-improvement behavior lives in reusable services.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PLATFORM ENGINEERING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Interoperable, portable and secure by default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A quality platform has to coexist with existing government systems, not become another isolated data island.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737360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965960" y="2029968"/>
            <a:ext cx="594360" cy="594360"/>
          </a:xfrm>
          <a:prstGeom prst="ellipse">
            <a:avLst/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1972" y="2125980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8529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2F6F6A"/>
                </a:solidFill>
              </a:rPr>
              <a:t>INTEROPERABILITY</a:t>
            </a:r>
            <a:endParaRPr lang="en-US" sz="1340" dirty="0"/>
          </a:p>
        </p:txBody>
      </p:sp>
      <p:sp>
        <p:nvSpPr>
          <p:cNvPr id="12" name="Shape 8"/>
          <p:cNvSpPr/>
          <p:nvPr/>
        </p:nvSpPr>
        <p:spPr>
          <a:xfrm>
            <a:off x="1033272" y="3529584"/>
            <a:ext cx="64008" cy="64008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97864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Documented REST-style APIs</a:t>
            </a:r>
            <a:endParaRPr lang="en-US" sz="970" dirty="0"/>
          </a:p>
        </p:txBody>
      </p:sp>
      <p:sp>
        <p:nvSpPr>
          <p:cNvPr id="14" name="Shape 10"/>
          <p:cNvSpPr/>
          <p:nvPr/>
        </p:nvSpPr>
        <p:spPr>
          <a:xfrm>
            <a:off x="1033272" y="4032504"/>
            <a:ext cx="64008" cy="64008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97864" y="39410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JSON-based framework/config exchange</a:t>
            </a:r>
            <a:endParaRPr lang="en-US" sz="970" dirty="0"/>
          </a:p>
        </p:txBody>
      </p:sp>
      <p:sp>
        <p:nvSpPr>
          <p:cNvPr id="16" name="Shape 12"/>
          <p:cNvSpPr/>
          <p:nvPr/>
        </p:nvSpPr>
        <p:spPr>
          <a:xfrm>
            <a:off x="1033272" y="4535424"/>
            <a:ext cx="64008" cy="64008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97864" y="44439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Excel / PDF exports for operational use</a:t>
            </a:r>
            <a:endParaRPr lang="en-US" sz="970" dirty="0"/>
          </a:p>
        </p:txBody>
      </p:sp>
      <p:sp>
        <p:nvSpPr>
          <p:cNvPr id="18" name="Shape 14"/>
          <p:cNvSpPr/>
          <p:nvPr/>
        </p:nvSpPr>
        <p:spPr>
          <a:xfrm>
            <a:off x="1033272" y="5038344"/>
            <a:ext cx="64008" cy="64008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97864" y="49469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Integration-ready master and reporting services</a:t>
            </a:r>
            <a:endParaRPr lang="en-US" sz="970" dirty="0"/>
          </a:p>
        </p:txBody>
      </p:sp>
      <p:sp>
        <p:nvSpPr>
          <p:cNvPr id="20" name="Shape 16"/>
          <p:cNvSpPr/>
          <p:nvPr/>
        </p:nvSpPr>
        <p:spPr>
          <a:xfrm>
            <a:off x="4160520" y="1737360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440680" y="2029968"/>
            <a:ext cx="594360" cy="594360"/>
          </a:xfrm>
          <a:prstGeom prst="ellipse">
            <a:avLst/>
          </a:prstGeom>
          <a:solidFill>
            <a:srgbClr val="FDECEF"/>
          </a:solidFill>
          <a:ln w="12700">
            <a:solidFill>
              <a:srgbClr val="FDECE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36692" y="2125980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80560" y="28529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E84A5F"/>
                </a:solidFill>
              </a:rPr>
              <a:t>SECURITY</a:t>
            </a:r>
            <a:endParaRPr lang="en-US" sz="1340" dirty="0"/>
          </a:p>
        </p:txBody>
      </p:sp>
      <p:sp>
        <p:nvSpPr>
          <p:cNvPr id="24" name="Shape 19"/>
          <p:cNvSpPr/>
          <p:nvPr/>
        </p:nvSpPr>
        <p:spPr>
          <a:xfrm>
            <a:off x="4507992" y="3529584"/>
            <a:ext cx="64008" cy="64008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672584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Role-based access &amp; scoped assignment</a:t>
            </a:r>
            <a:endParaRPr lang="en-US" sz="970" dirty="0"/>
          </a:p>
        </p:txBody>
      </p:sp>
      <p:sp>
        <p:nvSpPr>
          <p:cNvPr id="26" name="Shape 21"/>
          <p:cNvSpPr/>
          <p:nvPr/>
        </p:nvSpPr>
        <p:spPr>
          <a:xfrm>
            <a:off x="4507992" y="4032504"/>
            <a:ext cx="64008" cy="64008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672584" y="39410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CSRF and session security controls</a:t>
            </a:r>
            <a:endParaRPr lang="en-US" sz="970" dirty="0"/>
          </a:p>
        </p:txBody>
      </p:sp>
      <p:sp>
        <p:nvSpPr>
          <p:cNvPr id="28" name="Shape 23"/>
          <p:cNvSpPr/>
          <p:nvPr/>
        </p:nvSpPr>
        <p:spPr>
          <a:xfrm>
            <a:off x="4507992" y="4535424"/>
            <a:ext cx="64008" cy="64008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672584" y="44439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Login lockout / failed-attempt controls</a:t>
            </a:r>
            <a:endParaRPr lang="en-US" sz="970" dirty="0"/>
          </a:p>
        </p:txBody>
      </p:sp>
      <p:sp>
        <p:nvSpPr>
          <p:cNvPr id="30" name="Shape 25"/>
          <p:cNvSpPr/>
          <p:nvPr/>
        </p:nvSpPr>
        <p:spPr>
          <a:xfrm>
            <a:off x="4507992" y="5038344"/>
            <a:ext cx="64008" cy="64008"/>
          </a:xfrm>
          <a:prstGeom prst="ellipse">
            <a:avLst/>
          </a:prstGeom>
          <a:solidFill>
            <a:srgbClr val="E84A5F"/>
          </a:solidFill>
          <a:ln w="12700">
            <a:solidFill>
              <a:srgbClr val="E84A5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672584" y="49469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Audit-oriented workflow and privilege separation</a:t>
            </a:r>
            <a:endParaRPr lang="en-US" sz="970" dirty="0"/>
          </a:p>
        </p:txBody>
      </p:sp>
      <p:sp>
        <p:nvSpPr>
          <p:cNvPr id="32" name="Shape 27"/>
          <p:cNvSpPr/>
          <p:nvPr/>
        </p:nvSpPr>
        <p:spPr>
          <a:xfrm>
            <a:off x="7635240" y="1737360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915400" y="2029968"/>
            <a:ext cx="594360" cy="59436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1412" y="2125980"/>
            <a:ext cx="402336" cy="40233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955280" y="28529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2D7FF9"/>
                </a:solidFill>
              </a:rPr>
              <a:t>PORTABILITY</a:t>
            </a:r>
            <a:endParaRPr lang="en-US" sz="1340" dirty="0"/>
          </a:p>
        </p:txBody>
      </p:sp>
      <p:sp>
        <p:nvSpPr>
          <p:cNvPr id="36" name="Shape 30"/>
          <p:cNvSpPr/>
          <p:nvPr/>
        </p:nvSpPr>
        <p:spPr>
          <a:xfrm>
            <a:off x="7982712" y="3529584"/>
            <a:ext cx="64008" cy="6400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147304" y="34381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Open relational database foundation</a:t>
            </a:r>
            <a:endParaRPr lang="en-US" sz="970" dirty="0"/>
          </a:p>
        </p:txBody>
      </p:sp>
      <p:sp>
        <p:nvSpPr>
          <p:cNvPr id="38" name="Shape 32"/>
          <p:cNvSpPr/>
          <p:nvPr/>
        </p:nvSpPr>
        <p:spPr>
          <a:xfrm>
            <a:off x="7982712" y="4032504"/>
            <a:ext cx="64008" cy="6400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147304" y="394106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Deployable on VM / cloud / on-prem</a:t>
            </a:r>
            <a:endParaRPr lang="en-US" sz="970" dirty="0"/>
          </a:p>
        </p:txBody>
      </p:sp>
      <p:sp>
        <p:nvSpPr>
          <p:cNvPr id="40" name="Shape 34"/>
          <p:cNvSpPr/>
          <p:nvPr/>
        </p:nvSpPr>
        <p:spPr>
          <a:xfrm>
            <a:off x="7982712" y="4535424"/>
            <a:ext cx="64008" cy="6400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147304" y="44439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Configuration separated from application code</a:t>
            </a:r>
            <a:endParaRPr lang="en-US" sz="970" dirty="0"/>
          </a:p>
        </p:txBody>
      </p:sp>
      <p:sp>
        <p:nvSpPr>
          <p:cNvPr id="42" name="Shape 36"/>
          <p:cNvSpPr/>
          <p:nvPr/>
        </p:nvSpPr>
        <p:spPr>
          <a:xfrm>
            <a:off x="7982712" y="5038344"/>
            <a:ext cx="64008" cy="6400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147304" y="494690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Sector packs can evolve independently</a:t>
            </a:r>
            <a:endParaRPr lang="en-US" sz="970" dirty="0"/>
          </a:p>
        </p:txBody>
      </p:sp>
      <p:sp>
        <p:nvSpPr>
          <p:cNvPr id="44" name="Text 38"/>
          <p:cNvSpPr/>
          <p:nvPr/>
        </p:nvSpPr>
        <p:spPr>
          <a:xfrm>
            <a:off x="1874520" y="5943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6324F"/>
                </a:solidFill>
              </a:rPr>
              <a:t>This engineering foundation is what allows SaQshi to become infrastructure, rather than a one-time application.</a:t>
            </a:r>
            <a:endParaRPr lang="en-US" sz="12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OPEN ECOSYSTEM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open-source operating model for SaQshi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Open-source sustainability needs product governance as much as it needs a repository.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1719072"/>
            <a:ext cx="3337560" cy="1755648"/>
          </a:xfrm>
          <a:prstGeom prst="roundRect">
            <a:avLst>
              <a:gd name="adj" fmla="val 4167"/>
            </a:avLst>
          </a:prstGeom>
          <a:solidFill>
            <a:srgbClr val="EDF2F5"/>
          </a:solidFill>
          <a:ln w="12700">
            <a:solidFill>
              <a:srgbClr val="EDF2F5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41832" y="194767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844" y="2043684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19476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6324F"/>
                </a:solidFill>
              </a:rPr>
              <a:t>1. Core platform</a:t>
            </a:r>
            <a:endParaRPr lang="en-US" sz="1270" dirty="0"/>
          </a:p>
        </p:txBody>
      </p:sp>
      <p:sp>
        <p:nvSpPr>
          <p:cNvPr id="12" name="Text 8"/>
          <p:cNvSpPr/>
          <p:nvPr/>
        </p:nvSpPr>
        <p:spPr>
          <a:xfrm>
            <a:off x="941832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Stable authentication, workflow, services, reporting and database contracts.</a:t>
            </a:r>
            <a:endParaRPr lang="en-US" sz="970" dirty="0"/>
          </a:p>
        </p:txBody>
      </p:sp>
      <p:sp>
        <p:nvSpPr>
          <p:cNvPr id="13" name="Shape 9"/>
          <p:cNvSpPr/>
          <p:nvPr/>
        </p:nvSpPr>
        <p:spPr>
          <a:xfrm>
            <a:off x="4507992" y="1719072"/>
            <a:ext cx="3337560" cy="1755648"/>
          </a:xfrm>
          <a:prstGeom prst="roundRect">
            <a:avLst>
              <a:gd name="adj" fmla="val 4167"/>
            </a:avLst>
          </a:prstGeom>
          <a:solidFill>
            <a:srgbClr val="EAF5F3"/>
          </a:solidFill>
          <a:ln w="12700">
            <a:solidFill>
              <a:srgbClr val="EAF5F3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36592" y="194767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2604" y="2043684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19476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6324F"/>
                </a:solidFill>
              </a:rPr>
              <a:t>2. Framework packs</a:t>
            </a:r>
            <a:endParaRPr lang="en-US" sz="1270" dirty="0"/>
          </a:p>
        </p:txBody>
      </p:sp>
      <p:sp>
        <p:nvSpPr>
          <p:cNvPr id="17" name="Text 12"/>
          <p:cNvSpPr/>
          <p:nvPr/>
        </p:nvSpPr>
        <p:spPr>
          <a:xfrm>
            <a:off x="4736592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Versioned health, education and future sector configurations.</a:t>
            </a:r>
            <a:endParaRPr lang="en-US" sz="970" dirty="0"/>
          </a:p>
        </p:txBody>
      </p:sp>
      <p:sp>
        <p:nvSpPr>
          <p:cNvPr id="18" name="Shape 13"/>
          <p:cNvSpPr/>
          <p:nvPr/>
        </p:nvSpPr>
        <p:spPr>
          <a:xfrm>
            <a:off x="8302752" y="1719072"/>
            <a:ext cx="3337560" cy="1755648"/>
          </a:xfrm>
          <a:prstGeom prst="roundRect">
            <a:avLst>
              <a:gd name="adj" fmla="val 4167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531352" y="194767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27364" y="2043684"/>
            <a:ext cx="283464" cy="2834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0" y="19476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6324F"/>
                </a:solidFill>
              </a:rPr>
              <a:t>3. State / tenant config</a:t>
            </a:r>
            <a:endParaRPr lang="en-US" sz="1270" dirty="0"/>
          </a:p>
        </p:txBody>
      </p:sp>
      <p:sp>
        <p:nvSpPr>
          <p:cNvPr id="22" name="Text 16"/>
          <p:cNvSpPr/>
          <p:nvPr/>
        </p:nvSpPr>
        <p:spPr>
          <a:xfrm>
            <a:off x="8531352" y="254203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Local hierarchy, masters, roles, labels, active modules and deployment settings.</a:t>
            </a:r>
            <a:endParaRPr lang="en-US" sz="970" dirty="0"/>
          </a:p>
        </p:txBody>
      </p:sp>
      <p:sp>
        <p:nvSpPr>
          <p:cNvPr id="23" name="Shape 17"/>
          <p:cNvSpPr/>
          <p:nvPr/>
        </p:nvSpPr>
        <p:spPr>
          <a:xfrm>
            <a:off x="713232" y="3822192"/>
            <a:ext cx="3337560" cy="1755648"/>
          </a:xfrm>
          <a:prstGeom prst="roundRect">
            <a:avLst>
              <a:gd name="adj" fmla="val 4167"/>
            </a:avLst>
          </a:prstGeom>
          <a:solidFill>
            <a:srgbClr val="FFF2E7"/>
          </a:solidFill>
          <a:ln w="12700">
            <a:solidFill>
              <a:srgbClr val="FFF2E7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941832" y="40507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844" y="4146804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0507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6324F"/>
                </a:solidFill>
              </a:rPr>
              <a:t>4. Contribution flow</a:t>
            </a:r>
            <a:endParaRPr lang="en-US" sz="1270" dirty="0"/>
          </a:p>
        </p:txBody>
      </p:sp>
      <p:sp>
        <p:nvSpPr>
          <p:cNvPr id="27" name="Text 20"/>
          <p:cNvSpPr/>
          <p:nvPr/>
        </p:nvSpPr>
        <p:spPr>
          <a:xfrm>
            <a:off x="941832" y="46451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Issue → design review → code/config change → test → release notes.</a:t>
            </a:r>
            <a:endParaRPr lang="en-US" sz="970" dirty="0"/>
          </a:p>
        </p:txBody>
      </p:sp>
      <p:sp>
        <p:nvSpPr>
          <p:cNvPr id="28" name="Shape 21"/>
          <p:cNvSpPr/>
          <p:nvPr/>
        </p:nvSpPr>
        <p:spPr>
          <a:xfrm>
            <a:off x="4507992" y="3822192"/>
            <a:ext cx="3337560" cy="1755648"/>
          </a:xfrm>
          <a:prstGeom prst="roundRect">
            <a:avLst>
              <a:gd name="adj" fmla="val 4167"/>
            </a:avLst>
          </a:prstGeom>
          <a:solidFill>
            <a:srgbClr val="F2EEFF"/>
          </a:solidFill>
          <a:ln w="12700">
            <a:solidFill>
              <a:srgbClr val="F2EEF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736592" y="40507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32604" y="4146804"/>
            <a:ext cx="283464" cy="28346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49240" y="40507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6324F"/>
                </a:solidFill>
              </a:rPr>
              <a:t>5. Documentation</a:t>
            </a:r>
            <a:endParaRPr lang="en-US" sz="1270" dirty="0"/>
          </a:p>
        </p:txBody>
      </p:sp>
      <p:sp>
        <p:nvSpPr>
          <p:cNvPr id="32" name="Text 24"/>
          <p:cNvSpPr/>
          <p:nvPr/>
        </p:nvSpPr>
        <p:spPr>
          <a:xfrm>
            <a:off x="4736592" y="46451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User manual, API docs, deployment guide, configuration guide and testing playbook.</a:t>
            </a:r>
            <a:endParaRPr lang="en-US" sz="970" dirty="0"/>
          </a:p>
        </p:txBody>
      </p:sp>
      <p:sp>
        <p:nvSpPr>
          <p:cNvPr id="33" name="Shape 25"/>
          <p:cNvSpPr/>
          <p:nvPr/>
        </p:nvSpPr>
        <p:spPr>
          <a:xfrm>
            <a:off x="8302752" y="3822192"/>
            <a:ext cx="3337560" cy="1755648"/>
          </a:xfrm>
          <a:prstGeom prst="roundRect">
            <a:avLst>
              <a:gd name="adj" fmla="val 4167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531352" y="405079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27364" y="4146804"/>
            <a:ext cx="283464" cy="28346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144000" y="40507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6324F"/>
                </a:solidFill>
              </a:rPr>
              <a:t>6. Release governance</a:t>
            </a:r>
            <a:endParaRPr lang="en-US" sz="1270" dirty="0"/>
          </a:p>
        </p:txBody>
      </p:sp>
      <p:sp>
        <p:nvSpPr>
          <p:cNvPr id="37" name="Text 28"/>
          <p:cNvSpPr/>
          <p:nvPr/>
        </p:nvSpPr>
        <p:spPr>
          <a:xfrm>
            <a:off x="8531352" y="46451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D2B36"/>
                </a:solidFill>
              </a:rPr>
              <a:t>Versioning, security review, compatibility checks and upgrade path.</a:t>
            </a:r>
            <a:endParaRPr lang="en-US" sz="970" dirty="0"/>
          </a:p>
        </p:txBody>
      </p:sp>
      <p:sp>
        <p:nvSpPr>
          <p:cNvPr id="38" name="Text 29"/>
          <p:cNvSpPr/>
          <p:nvPr/>
        </p:nvSpPr>
        <p:spPr>
          <a:xfrm>
            <a:off x="1920240" y="5943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2F6F6A"/>
                </a:solidFill>
              </a:rPr>
              <a:t>Goal: let multiple implementers contribute without fragmenting the product into incompatible forks.</a:t>
            </a:r>
            <a:endParaRPr lang="en-US" sz="11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0312"/>
            <a:ext cx="2011680" cy="274320"/>
          </a:xfrm>
          <a:prstGeom prst="roundRect">
            <a:avLst>
              <a:gd name="adj" fmla="val 26667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5146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spc="80" kern="0" dirty="0">
                <a:solidFill>
                  <a:srgbClr val="FFFFFF"/>
                </a:solidFill>
              </a:rPr>
              <a:t>ROADMAP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566928" y="41148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Evolution roadmap: from legacy assessment to open digital quality infrastructure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66928" y="969264"/>
            <a:ext cx="731520" cy="0"/>
          </a:xfrm>
          <a:prstGeom prst="line">
            <a:avLst/>
          </a:prstGeom>
          <a:noFill/>
          <a:ln w="50800">
            <a:solidFill>
              <a:srgbClr val="F18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60704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7180"/>
                </a:solidFill>
              </a:rPr>
              <a:t>The roadmap shows how functionality matures from digitization into an interoperable, reusable platform.</a:t>
            </a:r>
            <a:endParaRPr lang="en-US" sz="1150" dirty="0"/>
          </a:p>
        </p:txBody>
      </p:sp>
      <p:pic>
        <p:nvPicPr>
          <p:cNvPr id="7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329184"/>
            <a:ext cx="841248" cy="292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0664" y="1828800"/>
            <a:ext cx="566928" cy="566928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307592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57200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Legacy</a:t>
            </a:r>
            <a:endParaRPr lang="en-US" sz="1030" dirty="0"/>
          </a:p>
        </p:txBody>
      </p:sp>
      <p:sp>
        <p:nvSpPr>
          <p:cNvPr id="12" name="Text 9"/>
          <p:cNvSpPr/>
          <p:nvPr/>
        </p:nvSpPr>
        <p:spPr>
          <a:xfrm>
            <a:off x="393192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Paper / Excel</a:t>
            </a:r>
            <a:endParaRPr lang="en-US" sz="810" dirty="0"/>
          </a:p>
        </p:txBody>
      </p:sp>
      <p:sp>
        <p:nvSpPr>
          <p:cNvPr id="13" name="Shape 10"/>
          <p:cNvSpPr/>
          <p:nvPr/>
        </p:nvSpPr>
        <p:spPr>
          <a:xfrm>
            <a:off x="2039112" y="1828800"/>
            <a:ext cx="566928" cy="566928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39112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606040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1755648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Digital</a:t>
            </a:r>
            <a:endParaRPr lang="en-US" sz="1030" dirty="0"/>
          </a:p>
        </p:txBody>
      </p:sp>
      <p:sp>
        <p:nvSpPr>
          <p:cNvPr id="17" name="Text 14"/>
          <p:cNvSpPr/>
          <p:nvPr/>
        </p:nvSpPr>
        <p:spPr>
          <a:xfrm>
            <a:off x="1691640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Assessment engine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3337560" y="1828800"/>
            <a:ext cx="566928" cy="566928"/>
          </a:xfrm>
          <a:prstGeom prst="ellipse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37560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904488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3054096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Framework</a:t>
            </a:r>
            <a:endParaRPr lang="en-US" sz="1030" dirty="0"/>
          </a:p>
        </p:txBody>
      </p:sp>
      <p:sp>
        <p:nvSpPr>
          <p:cNvPr id="22" name="Text 19"/>
          <p:cNvSpPr/>
          <p:nvPr/>
        </p:nvSpPr>
        <p:spPr>
          <a:xfrm>
            <a:off x="2990088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JSON-driven configuration</a:t>
            </a:r>
            <a:endParaRPr lang="en-US" sz="810" dirty="0"/>
          </a:p>
        </p:txBody>
      </p:sp>
      <p:sp>
        <p:nvSpPr>
          <p:cNvPr id="23" name="Shape 20"/>
          <p:cNvSpPr/>
          <p:nvPr/>
        </p:nvSpPr>
        <p:spPr>
          <a:xfrm>
            <a:off x="4636008" y="1828800"/>
            <a:ext cx="566928" cy="5669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36008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202936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4352544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CQI</a:t>
            </a:r>
            <a:endParaRPr lang="en-US" sz="1030" dirty="0"/>
          </a:p>
        </p:txBody>
      </p:sp>
      <p:sp>
        <p:nvSpPr>
          <p:cNvPr id="27" name="Text 24"/>
          <p:cNvSpPr/>
          <p:nvPr/>
        </p:nvSpPr>
        <p:spPr>
          <a:xfrm>
            <a:off x="4288536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Gap → action → closure</a:t>
            </a:r>
            <a:endParaRPr lang="en-US" sz="810" dirty="0"/>
          </a:p>
        </p:txBody>
      </p:sp>
      <p:sp>
        <p:nvSpPr>
          <p:cNvPr id="28" name="Shape 25"/>
          <p:cNvSpPr/>
          <p:nvPr/>
        </p:nvSpPr>
        <p:spPr>
          <a:xfrm>
            <a:off x="5934456" y="1828800"/>
            <a:ext cx="566928" cy="5669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34456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501384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5650992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Performance</a:t>
            </a:r>
            <a:endParaRPr lang="en-US" sz="1030" dirty="0"/>
          </a:p>
        </p:txBody>
      </p:sp>
      <p:sp>
        <p:nvSpPr>
          <p:cNvPr id="32" name="Text 29"/>
          <p:cNvSpPr/>
          <p:nvPr/>
        </p:nvSpPr>
        <p:spPr>
          <a:xfrm>
            <a:off x="5586984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KPI / outcomes</a:t>
            </a:r>
            <a:endParaRPr lang="en-US" sz="810" dirty="0"/>
          </a:p>
        </p:txBody>
      </p:sp>
      <p:sp>
        <p:nvSpPr>
          <p:cNvPr id="33" name="Shape 30"/>
          <p:cNvSpPr/>
          <p:nvPr/>
        </p:nvSpPr>
        <p:spPr>
          <a:xfrm>
            <a:off x="7232904" y="1828800"/>
            <a:ext cx="566928" cy="566928"/>
          </a:xfrm>
          <a:prstGeom prst="ellipse">
            <a:avLst/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32904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799832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6949440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Certification</a:t>
            </a:r>
            <a:endParaRPr lang="en-US" sz="1030" dirty="0"/>
          </a:p>
        </p:txBody>
      </p:sp>
      <p:sp>
        <p:nvSpPr>
          <p:cNvPr id="37" name="Text 34"/>
          <p:cNvSpPr/>
          <p:nvPr/>
        </p:nvSpPr>
        <p:spPr>
          <a:xfrm>
            <a:off x="6885432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Validity &amp; renewal</a:t>
            </a:r>
            <a:endParaRPr lang="en-US" sz="810" dirty="0"/>
          </a:p>
        </p:txBody>
      </p:sp>
      <p:sp>
        <p:nvSpPr>
          <p:cNvPr id="38" name="Shape 35"/>
          <p:cNvSpPr/>
          <p:nvPr/>
        </p:nvSpPr>
        <p:spPr>
          <a:xfrm>
            <a:off x="8531352" y="1828800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531352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9098280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8247888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Dashboards</a:t>
            </a:r>
            <a:endParaRPr lang="en-US" sz="1030" dirty="0"/>
          </a:p>
        </p:txBody>
      </p:sp>
      <p:sp>
        <p:nvSpPr>
          <p:cNvPr id="42" name="Text 39"/>
          <p:cNvSpPr/>
          <p:nvPr/>
        </p:nvSpPr>
        <p:spPr>
          <a:xfrm>
            <a:off x="8183880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Monitoring &amp; drill-down</a:t>
            </a:r>
            <a:endParaRPr lang="en-US" sz="810" dirty="0"/>
          </a:p>
        </p:txBody>
      </p:sp>
      <p:sp>
        <p:nvSpPr>
          <p:cNvPr id="43" name="Shape 40"/>
          <p:cNvSpPr/>
          <p:nvPr/>
        </p:nvSpPr>
        <p:spPr>
          <a:xfrm>
            <a:off x="9829800" y="1828800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829800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0396728" y="2112264"/>
            <a:ext cx="749808" cy="0"/>
          </a:xfrm>
          <a:prstGeom prst="line">
            <a:avLst/>
          </a:prstGeom>
          <a:noFill/>
          <a:ln w="25400">
            <a:solidFill>
              <a:srgbClr val="B6C4CD"/>
            </a:solidFill>
            <a:prstDash val="solid"/>
            <a:tailEnd type="triangle"/>
          </a:ln>
        </p:spPr>
      </p:sp>
      <p:sp>
        <p:nvSpPr>
          <p:cNvPr id="46" name="Text 43"/>
          <p:cNvSpPr/>
          <p:nvPr/>
        </p:nvSpPr>
        <p:spPr>
          <a:xfrm>
            <a:off x="9546336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Analytics</a:t>
            </a:r>
            <a:endParaRPr lang="en-US" sz="1030" dirty="0"/>
          </a:p>
        </p:txBody>
      </p:sp>
      <p:sp>
        <p:nvSpPr>
          <p:cNvPr id="47" name="Text 44"/>
          <p:cNvSpPr/>
          <p:nvPr/>
        </p:nvSpPr>
        <p:spPr>
          <a:xfrm>
            <a:off x="9482328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Trends &amp; exports</a:t>
            </a:r>
            <a:endParaRPr lang="en-US" sz="810" dirty="0"/>
          </a:p>
        </p:txBody>
      </p:sp>
      <p:sp>
        <p:nvSpPr>
          <p:cNvPr id="48" name="Shape 45"/>
          <p:cNvSpPr/>
          <p:nvPr/>
        </p:nvSpPr>
        <p:spPr>
          <a:xfrm>
            <a:off x="11128248" y="1828800"/>
            <a:ext cx="566928" cy="566928"/>
          </a:xfrm>
          <a:prstGeom prst="ellipse">
            <a:avLst/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128248" y="20116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0844784" y="263347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6324F"/>
                </a:solidFill>
              </a:rPr>
              <a:t>Open ecosystem</a:t>
            </a:r>
            <a:endParaRPr lang="en-US" sz="1030" dirty="0"/>
          </a:p>
        </p:txBody>
      </p:sp>
      <p:sp>
        <p:nvSpPr>
          <p:cNvPr id="51" name="Text 48"/>
          <p:cNvSpPr/>
          <p:nvPr/>
        </p:nvSpPr>
        <p:spPr>
          <a:xfrm>
            <a:off x="10780776" y="3081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F7180"/>
                </a:solidFill>
              </a:rPr>
              <a:t>APIs • sector packs • contributions</a:t>
            </a:r>
            <a:endParaRPr lang="en-US" sz="810" dirty="0"/>
          </a:p>
        </p:txBody>
      </p:sp>
      <p:sp>
        <p:nvSpPr>
          <p:cNvPr id="52" name="Shape 49"/>
          <p:cNvSpPr/>
          <p:nvPr/>
        </p:nvSpPr>
        <p:spPr>
          <a:xfrm>
            <a:off x="777240" y="4251960"/>
            <a:ext cx="10652760" cy="1325880"/>
          </a:xfrm>
          <a:prstGeom prst="roundRect">
            <a:avLst>
              <a:gd name="adj" fmla="val 5517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  <a:effectLst>
            <a:outerShdw sx="100000" sy="100000" kx="0" ky="0" algn="bl" rotWithShape="0" blurRad="12700" dist="50800" dir="2700000">
              <a:srgbClr val="CBD4DA">
                <a:alpha val="14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1143000" y="45537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makes Phase 8 different?</a:t>
            </a:r>
            <a:endParaRPr lang="en-US" sz="1700" dirty="0"/>
          </a:p>
        </p:txBody>
      </p:sp>
      <p:sp>
        <p:nvSpPr>
          <p:cNvPr id="54" name="Text 51"/>
          <p:cNvSpPr/>
          <p:nvPr/>
        </p:nvSpPr>
        <p:spPr>
          <a:xfrm>
            <a:off x="3886200" y="4507992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DE7ED"/>
                </a:solidFill>
              </a:rPr>
              <a:t>The platform is no longer “a SaQshi deployment.” It becomes a reusable ecosystem where new frameworks, sectors, states and implementers can extend a stable common core.</a:t>
            </a:r>
            <a:endParaRPr lang="en-US" sz="1130" dirty="0"/>
          </a:p>
        </p:txBody>
      </p:sp>
      <p:sp>
        <p:nvSpPr>
          <p:cNvPr id="55" name="Shape 52"/>
          <p:cNvSpPr/>
          <p:nvPr/>
        </p:nvSpPr>
        <p:spPr>
          <a:xfrm>
            <a:off x="3931920" y="5074920"/>
            <a:ext cx="2148840" cy="310896"/>
          </a:xfrm>
          <a:prstGeom prst="roundRect">
            <a:avLst>
              <a:gd name="adj" fmla="val 47059"/>
            </a:avLst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4005072" y="5138928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CONFIGURATION OVER CUSTOM CODE</a:t>
            </a:r>
            <a:endParaRPr lang="en-US" sz="880" dirty="0"/>
          </a:p>
        </p:txBody>
      </p:sp>
      <p:sp>
        <p:nvSpPr>
          <p:cNvPr id="57" name="Shape 54"/>
          <p:cNvSpPr/>
          <p:nvPr/>
        </p:nvSpPr>
        <p:spPr>
          <a:xfrm>
            <a:off x="6263640" y="5074920"/>
            <a:ext cx="1325880" cy="310896"/>
          </a:xfrm>
          <a:prstGeom prst="roundRect">
            <a:avLst>
              <a:gd name="adj" fmla="val 47059"/>
            </a:avLst>
          </a:prstGeom>
          <a:solidFill>
            <a:srgbClr val="2D7FF9"/>
          </a:solidFill>
          <a:ln w="12700">
            <a:solidFill>
              <a:srgbClr val="2D7FF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36792" y="5138928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OPEN APIS</a:t>
            </a:r>
            <a:endParaRPr lang="en-US" sz="880" dirty="0"/>
          </a:p>
        </p:txBody>
      </p:sp>
      <p:sp>
        <p:nvSpPr>
          <p:cNvPr id="59" name="Shape 56"/>
          <p:cNvSpPr/>
          <p:nvPr/>
        </p:nvSpPr>
        <p:spPr>
          <a:xfrm>
            <a:off x="7772400" y="5074920"/>
            <a:ext cx="2057400" cy="310896"/>
          </a:xfrm>
          <a:prstGeom prst="roundRect">
            <a:avLst>
              <a:gd name="adj" fmla="val 47059"/>
            </a:avLst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845552" y="5138928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REUSABLE SECTOR PACKS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74536"/>
            <a:ext cx="34747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aqshi_logo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0352"/>
            <a:ext cx="2148840" cy="7406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1554480"/>
            <a:ext cx="2697480" cy="310896"/>
          </a:xfrm>
          <a:prstGeom prst="roundRect">
            <a:avLst>
              <a:gd name="adj" fmla="val 47059"/>
            </a:avLst>
          </a:prstGeom>
          <a:solidFill>
            <a:srgbClr val="F18A2A"/>
          </a:solidFill>
          <a:ln w="12700">
            <a:solidFill>
              <a:srgbClr val="F18A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1618488"/>
            <a:ext cx="2551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QUALITY IMPROVEMENT INFRASTRUCTURE</a:t>
            </a:r>
            <a:endParaRPr lang="en-US" sz="880" dirty="0"/>
          </a:p>
        </p:txBody>
      </p:sp>
      <p:sp>
        <p:nvSpPr>
          <p:cNvPr id="5" name="Text 2"/>
          <p:cNvSpPr/>
          <p:nvPr/>
        </p:nvSpPr>
        <p:spPr>
          <a:xfrm>
            <a:off x="658368" y="2148840"/>
            <a:ext cx="7909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SaQshi connects standards, people, evidence and outcomes in one continuous digital loop.</a:t>
            </a:r>
            <a:endParaRPr lang="en-US" sz="3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3858768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16152" y="38496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BE8"/>
                </a:solidFill>
              </a:rPr>
              <a:t>Cross-sector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2423160" y="3849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D0D9"/>
                </a:solidFill>
              </a:rPr>
              <a:t>Health today. Education now. More sectors without rebuilding the core.</a:t>
            </a:r>
            <a:endParaRPr lang="en-US" sz="102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232" y="45720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6152" y="456285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BE8"/>
                </a:solidFill>
              </a:rPr>
              <a:t>Open by design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2423160" y="45628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D0D9"/>
                </a:solidFill>
              </a:rPr>
              <a:t>Configurable, auditable, portable and extendable — reducing long-term lock-in.</a:t>
            </a:r>
            <a:endParaRPr lang="en-US" sz="102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3232" y="5285232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16152" y="52760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DEBE8"/>
                </a:solidFill>
              </a:rPr>
              <a:t>Improvement-first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2423160" y="527608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BD0D9"/>
                </a:solidFill>
              </a:rPr>
              <a:t>Assessment is the starting point; action, outcomes and learning are the destination.</a:t>
            </a:r>
            <a:endParaRPr lang="en-US" sz="1020" dirty="0"/>
          </a:p>
        </p:txBody>
      </p:sp>
      <p:sp>
        <p:nvSpPr>
          <p:cNvPr id="15" name="Shape 9"/>
          <p:cNvSpPr/>
          <p:nvPr/>
        </p:nvSpPr>
        <p:spPr>
          <a:xfrm>
            <a:off x="8732520" y="1572768"/>
            <a:ext cx="2743200" cy="4023360"/>
          </a:xfrm>
          <a:prstGeom prst="roundRect">
            <a:avLst>
              <a:gd name="adj" fmla="val 2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28632" y="2057400"/>
            <a:ext cx="960120" cy="9601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098280" y="32461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ASSESS → IMPROVE → MONITOR → LEARN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9098280" y="416052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D4E1E7"/>
                </a:solidFill>
              </a:rPr>
              <a:t>Repeat across every framework and every service-delivery system.</a:t>
            </a:r>
            <a:endParaRPr lang="en-US" sz="1020" dirty="0"/>
          </a:p>
        </p:txBody>
      </p:sp>
      <p:sp>
        <p:nvSpPr>
          <p:cNvPr id="19" name="Text 12"/>
          <p:cNvSpPr/>
          <p:nvPr/>
        </p:nvSpPr>
        <p:spPr>
          <a:xfrm>
            <a:off x="676656" y="6053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91B9B3"/>
                </a:solidFill>
              </a:rPr>
              <a:t>SaQshi — Your Saathi for Quality Assessment. Built to become the open platform for quality improvement.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Piramal Swasthya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SaQshi - Open Digital Quality Improvement Platform</dc:title>
  <dc:subject>SaQshi Open Digital Quality Improvement Platform</dc:subject>
  <dc:creator>SaQshi</dc:creator>
  <cp:lastModifiedBy>SaQshi</cp:lastModifiedBy>
  <cp:revision>1</cp:revision>
  <dcterms:created xsi:type="dcterms:W3CDTF">2026-09-07T13:33:02Z</dcterms:created>
  <dcterms:modified xsi:type="dcterms:W3CDTF">2026-09-07T13:33:02Z</dcterms:modified>
</cp:coreProperties>
</file>