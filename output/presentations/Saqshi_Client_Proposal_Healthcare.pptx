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a28db020054972" /><Relationship Type="http://schemas.openxmlformats.org/officeDocument/2006/relationships/extended-properties" Target="/docProps/app.xml" Id="Rbe1a846193c04cca" /><Relationship Type="http://schemas.openxmlformats.org/officeDocument/2006/relationships/officeDocument" Target="/ppt/presentation.xml" Id="R952bee0f613a4a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60fcc9d37c477a"/>
  </p:sldMasterIdLst>
  <p:notesMasterIdLst>
    <p:notesMasterId xmlns:r="http://schemas.openxmlformats.org/officeDocument/2006/relationships" r:id="Rb41d2d819494458f"/>
  </p:notesMasterIdLst>
  <p:sldIdLst>
    <p:sldId xmlns:r="http://schemas.openxmlformats.org/officeDocument/2006/relationships" id="256" r:id="R1afd2b1354e2414a"/>
    <p:sldId xmlns:r="http://schemas.openxmlformats.org/officeDocument/2006/relationships" id="257" r:id="R1d1d79eeb459424b"/>
    <p:sldId xmlns:r="http://schemas.openxmlformats.org/officeDocument/2006/relationships" id="258" r:id="Re7277d306e0b4f87"/>
    <p:sldId xmlns:r="http://schemas.openxmlformats.org/officeDocument/2006/relationships" id="259" r:id="R78d6c771e79245fc"/>
    <p:sldId xmlns:r="http://schemas.openxmlformats.org/officeDocument/2006/relationships" id="260" r:id="R7e27551755ba480d"/>
    <p:sldId xmlns:r="http://schemas.openxmlformats.org/officeDocument/2006/relationships" id="261" r:id="Re4c29baf489446d1"/>
    <p:sldId xmlns:r="http://schemas.openxmlformats.org/officeDocument/2006/relationships" id="262" r:id="R8c079ade38d145a1"/>
    <p:sldId xmlns:r="http://schemas.openxmlformats.org/officeDocument/2006/relationships" id="263" r:id="R080ced62c7eb47c2"/>
    <p:sldId xmlns:r="http://schemas.openxmlformats.org/officeDocument/2006/relationships" id="264" r:id="Rc336662008474e72"/>
    <p:sldId xmlns:r="http://schemas.openxmlformats.org/officeDocument/2006/relationships" id="265" r:id="Rd5a5a6d967d748bc"/>
    <p:sldId xmlns:r="http://schemas.openxmlformats.org/officeDocument/2006/relationships" id="266" r:id="R84ffd26b6a6b4a8c"/>
    <p:sldId xmlns:r="http://schemas.openxmlformats.org/officeDocument/2006/relationships" id="267" r:id="R67bf3d4813394a3e"/>
    <p:sldId xmlns:r="http://schemas.openxmlformats.org/officeDocument/2006/relationships" id="268" r:id="Ra497ad52508a45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77934b5c664678" /><Relationship Type="http://schemas.openxmlformats.org/officeDocument/2006/relationships/slideMaster" Target="/ppt/slideMasters/slideMaster1.xml" Id="Rc560fcc9d37c477a" /><Relationship Type="http://schemas.openxmlformats.org/officeDocument/2006/relationships/notesMaster" Target="/ppt/notesMasters/notesMaster1.xml" Id="Rb41d2d819494458f" /><Relationship Type="http://schemas.openxmlformats.org/officeDocument/2006/relationships/presProps" Target="/ppt/presProps.xml" Id="Rfe64fa8195b64b06" /><Relationship Type="http://schemas.openxmlformats.org/officeDocument/2006/relationships/tableStyles" Target="/ppt/tableStyles.xml" Id="Rd238b82bab554d00" /><Relationship Type="http://schemas.openxmlformats.org/officeDocument/2006/relationships/slide" Target="/ppt/slides/slide1.xml" Id="R1afd2b1354e2414a" /><Relationship Type="http://schemas.openxmlformats.org/officeDocument/2006/relationships/slide" Target="/ppt/slides/slide2.xml" Id="R1d1d79eeb459424b" /><Relationship Type="http://schemas.openxmlformats.org/officeDocument/2006/relationships/slide" Target="/ppt/slides/slide3.xml" Id="Re7277d306e0b4f87" /><Relationship Type="http://schemas.openxmlformats.org/officeDocument/2006/relationships/slide" Target="/ppt/slides/slide4.xml" Id="R78d6c771e79245fc" /><Relationship Type="http://schemas.openxmlformats.org/officeDocument/2006/relationships/slide" Target="/ppt/slides/slide5.xml" Id="R7e27551755ba480d" /><Relationship Type="http://schemas.openxmlformats.org/officeDocument/2006/relationships/slide" Target="/ppt/slides/slide6.xml" Id="Re4c29baf489446d1" /><Relationship Type="http://schemas.openxmlformats.org/officeDocument/2006/relationships/slide" Target="/ppt/slides/slide7.xml" Id="R8c079ade38d145a1" /><Relationship Type="http://schemas.openxmlformats.org/officeDocument/2006/relationships/slide" Target="/ppt/slides/slide8.xml" Id="R080ced62c7eb47c2" /><Relationship Type="http://schemas.openxmlformats.org/officeDocument/2006/relationships/slide" Target="/ppt/slides/slide9.xml" Id="Rc336662008474e72" /><Relationship Type="http://schemas.openxmlformats.org/officeDocument/2006/relationships/slide" Target="/ppt/slides/slide10.xml" Id="Rd5a5a6d967d748bc" /><Relationship Type="http://schemas.openxmlformats.org/officeDocument/2006/relationships/slide" Target="/ppt/slides/slide11.xml" Id="R84ffd26b6a6b4a8c" /><Relationship Type="http://schemas.openxmlformats.org/officeDocument/2006/relationships/slide" Target="/ppt/slides/slide12.xml" Id="R67bf3d4813394a3e" /><Relationship Type="http://schemas.openxmlformats.org/officeDocument/2006/relationships/slide" Target="/ppt/slides/slide13.xml" Id="Ra497ad52508a45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7a5bd129604a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4633148155413d" /><Relationship Type="http://schemas.openxmlformats.org/officeDocument/2006/relationships/notesMaster" Target="/ppt/notesMasters/notesMaster1.xml" Id="Ra48dd167868348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f9c53e21ba419b" /><Relationship Type="http://schemas.openxmlformats.org/officeDocument/2006/relationships/notesMaster" Target="/ppt/notesMasters/notesMaster1.xml" Id="R883f20bd668844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f8a6aa15a142ac" /><Relationship Type="http://schemas.openxmlformats.org/officeDocument/2006/relationships/notesMaster" Target="/ppt/notesMasters/notesMaster1.xml" Id="Rc7a5bbceae0645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2dae28dfa44c82" /><Relationship Type="http://schemas.openxmlformats.org/officeDocument/2006/relationships/notesMaster" Target="/ppt/notesMasters/notesMaster1.xml" Id="R55f4aa5f8f8142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f08d3008214ffb" /><Relationship Type="http://schemas.openxmlformats.org/officeDocument/2006/relationships/notesMaster" Target="/ppt/notesMasters/notesMaster1.xml" Id="R5475807d07ad4e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a9b4de87c84014" /><Relationship Type="http://schemas.openxmlformats.org/officeDocument/2006/relationships/notesMaster" Target="/ppt/notesMasters/notesMaster1.xml" Id="Rc7a20a3f274b4a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96f3397c14470c" /><Relationship Type="http://schemas.openxmlformats.org/officeDocument/2006/relationships/notesMaster" Target="/ppt/notesMasters/notesMaster1.xml" Id="Rb17ab6ba37d843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8959c93eea4649" /><Relationship Type="http://schemas.openxmlformats.org/officeDocument/2006/relationships/notesMaster" Target="/ppt/notesMasters/notesMaster1.xml" Id="R0345d630da8148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d729e006b446d6" /><Relationship Type="http://schemas.openxmlformats.org/officeDocument/2006/relationships/notesMaster" Target="/ppt/notesMasters/notesMaster1.xml" Id="Rd542ccbf112d41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5dc8d809264dd5" /><Relationship Type="http://schemas.openxmlformats.org/officeDocument/2006/relationships/notesMaster" Target="/ppt/notesMasters/notesMaster1.xml" Id="R169c80678c5145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1607ccf16c4725" /><Relationship Type="http://schemas.openxmlformats.org/officeDocument/2006/relationships/notesMaster" Target="/ppt/notesMasters/notesMaster1.xml" Id="R1e42b4ca844d4c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a60caad88a49bd" /><Relationship Type="http://schemas.openxmlformats.org/officeDocument/2006/relationships/notesMaster" Target="/ppt/notesMasters/notesMaster1.xml" Id="R8f0fcf76eac849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652e508dd84535" /><Relationship Type="http://schemas.openxmlformats.org/officeDocument/2006/relationships/notesMaster" Target="/ppt/notesMasters/notesMaster1.xml" Id="Rb21825b362ac43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SaQshi documentation. Cover image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source: ui/help/about.html.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703504035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d3598fe210487b" /><Relationship Type="http://schemas.openxmlformats.org/officeDocument/2006/relationships/slideLayout" Target="/ppt/slideLayouts/slideLayout1.xml" Id="R000366f98f084e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366f98f084e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59c1f39f34783" /><Relationship Type="http://schemas.openxmlformats.org/officeDocument/2006/relationships/image" Target="/ppt/media/image.png" Id="R6e011ea2bbdc4590" /><Relationship Type="http://schemas.openxmlformats.org/officeDocument/2006/relationships/image" Target="/ppt/media/image2.png" Id="R6faa67f53ca64caa" /><Relationship Type="http://schemas.openxmlformats.org/officeDocument/2006/relationships/notesSlide" Target="/ppt/notesSlides/notesSlide1.xml" Id="R693bf9fb06844e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3d2b1ac764c6f" /><Relationship Type="http://schemas.openxmlformats.org/officeDocument/2006/relationships/notesSlide" Target="/ppt/notesSlides/notesSlide2.xml" Id="R17368c142c18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d6911048043a6" /><Relationship Type="http://schemas.openxmlformats.org/officeDocument/2006/relationships/image" Target="/ppt/media/image3.png" Id="R3c488e402dd74c16" /><Relationship Type="http://schemas.openxmlformats.org/officeDocument/2006/relationships/notesSlide" Target="/ppt/notesSlides/notesSlide3.xml" Id="R0b5735be27e04b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0da9259984ef4" /><Relationship Type="http://schemas.openxmlformats.org/officeDocument/2006/relationships/notesSlide" Target="/ppt/notesSlides/notesSlide4.xml" Id="R0346ac82c8d948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10f2372d343e9" /><Relationship Type="http://schemas.openxmlformats.org/officeDocument/2006/relationships/notesSlide" Target="/ppt/notesSlides/notesSlide5.xml" Id="R2d326791c81c46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58aea5bd74a5d" /><Relationship Type="http://schemas.openxmlformats.org/officeDocument/2006/relationships/notesSlide" Target="/ppt/notesSlides/notesSlide6.xml" Id="Rf0b5608dba4849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7c4c1d6654b9e" /><Relationship Type="http://schemas.openxmlformats.org/officeDocument/2006/relationships/notesSlide" Target="/ppt/notesSlides/notesSlide7.xml" Id="R8f58342f070e4c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42256a33a4298" /><Relationship Type="http://schemas.openxmlformats.org/officeDocument/2006/relationships/notesSlide" Target="/ppt/notesSlides/notesSlide8.xml" Id="Re8c93ef41f0541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80b1f4e294e8f" /><Relationship Type="http://schemas.openxmlformats.org/officeDocument/2006/relationships/notesSlide" Target="/ppt/notesSlides/notesSlide9.xml" Id="Rc6057eb798574a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c216857034b7c" /><Relationship Type="http://schemas.openxmlformats.org/officeDocument/2006/relationships/notesSlide" Target="/ppt/notesSlides/notesSlide10.xml" Id="Rf53f88e0830242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2cb6a706349e7" /><Relationship Type="http://schemas.openxmlformats.org/officeDocument/2006/relationships/notesSlide" Target="/ppt/notesSlides/notesSlide11.xml" Id="R58a669b6c0bc45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e99bfa52842ae" /><Relationship Type="http://schemas.openxmlformats.org/officeDocument/2006/relationships/notesSlide" Target="/ppt/notesSlides/notesSlide12.xml" Id="R30ecc7b0aade4f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43e1911784feb" /><Relationship Type="http://schemas.openxmlformats.org/officeDocument/2006/relationships/image" Target="/ppt/media/image4.png" Id="Rf93dabab7a0543d6" /><Relationship Type="http://schemas.openxmlformats.org/officeDocument/2006/relationships/notesSlide" Target="/ppt/notesSlides/notesSlide13.xml" Id="Raac67498cd9141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11ea2bbdc459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D94A1-E3BB-4B3B-8AB8-574B45F5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a67f53ca64caa"/>
          <a:stretch xmlns:a="http://schemas.openxmlformats.org/drawingml/2006/main"/>
        </p:blipFill>
        <p:spPr>
          <a:xfrm xmlns:a="http://schemas.openxmlformats.org/drawingml/2006/main">
            <a:off x="679450" y="533400"/>
            <a:ext cx="16891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FAF3C-D7F6-4FCE-8C82-58CA4D3C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94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18034-715C-4182-94A1-07FE985A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digital platform for facility quality assessment, continuous improvement and programme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0EDD7-F822-4D70-882C-97FA3BCA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Client proposal | Public health facilities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BADF6-17ED-4BA7-9A79-0CD92EC0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E8F5"/>
                </a:solidFill>
                <a:latin typeface="Aptos"/>
                <a:ea typeface="Aptos"/>
                <a:cs typeface="Aptos"/>
              </a:rPr>
              <a:t>Assess. Improve. Monitor. Report.</a:t>
            </a:r>
          </a:p>
        </p:txBody>
      </p:sp>
    </p:spTree>
    <p:extLst>
      <p:ext uri="{BB962C8B-B14F-4D97-AF65-F5344CB8AC3E}">
        <p14:creationId xmlns:p14="http://schemas.microsoft.com/office/powerpoint/2010/main" val="42369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E3398-7C0B-4BEF-9D53-9B84E876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EAAAD-5017-40A4-9810-840131DF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3A32E-387C-4DFB-9826-47FD75A0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Quality work loses momentum when the workflow breaks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7E58D-32B5-47E9-8BBF-9A378FF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881AC-143D-4646-8992-87DDBCBF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Facility teams, assessors and programme managers often work across disconnected registers, spreadsheets and follow-up calls.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95ED0-F2A6-4DD5-BE95-B75BDF43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E94A2-8675-4E6D-AAE3-1516DE9D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E5A1F-3E6B-4843-99A6-339FF974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81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B263A-8302-4321-9829-D5786109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909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F33BC-304A-4A43-8B21-566E8F92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97087-157F-49C8-94E7-A4A0ABE2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DE19A-0549-495B-AF76-EA701578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Assessments are hard to track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83FA6-F8CB-4A3E-92F1-EB46AE0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Teams need to know what started, what is incomplete and where evidence sits.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3C6DC-690C-47A8-A887-F76F5A5A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3909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C885D-6D93-4141-A5DF-3B943D45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4EE0D-EE84-4338-AD0C-B395DAAA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00B3B-113F-4260-BAF1-F4A7B293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Gaps do not become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CA812-B916-432C-A3B9-968AFF1F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A weak checkpoint needs a named action, owner, target date and closure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AD182-F0BB-43D6-940C-5B193069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3909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3819C-EEFC-4DBA-9493-D85C97E6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2526B-0776-422B-BEA6-BE09E7A7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1BCBF-52EB-42B1-9780-3950F086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Leaders lack a single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58A6E-6ED9-4D89-B34B-B933FE91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Programme teams need to see progress and risk at facility, district and state levels.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BFA230-C65A-4560-97D2-85B5BCB2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9115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B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B43"/>
                </a:solidFill>
                <a:latin typeface="Aptos"/>
                <a:ea typeface="Aptos"/>
                <a:cs typeface="Aptos"/>
              </a:rPr>
              <a:t>SaQshi keeps the assessment, the improvement action and the monitoring view in the same platform.</a:t>
            </a:r>
          </a:p>
        </p:txBody>
      </p:sp>
    </p:spTree>
    <p:extLst>
      <p:ext uri="{BB962C8B-B14F-4D97-AF65-F5344CB8AC3E}">
        <p14:creationId xmlns:p14="http://schemas.microsoft.com/office/powerpoint/2010/main" val="237834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B3502-5FE5-4155-9AB0-E2C3AC0F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646EF-4018-4D79-A1EB-659F854B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4B6CF-C24E-4144-9A6F-B49D45AE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SaQshi turns quality assessment into an operating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D5A16-646B-4147-B391-50FC6F49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51BF3-5532-4145-9766-63FC307A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It gives each role the right workflow and connects field-level action with programme-level oversight.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14F31-4AA6-49CB-A17C-F3A1F95B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B8A45-3233-483B-BFCE-E0EC2772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1FA0C-54DB-4C42-8A84-583B6E6A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81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88e402dd74c16"/>
          <a:srcRect xmlns:a="http://schemas.openxmlformats.org/drawingml/2006/main" l="0" t="2871" r="0" b="28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2325" y="1847850"/>
            <a:ext cx="4257675" cy="30099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A7BD0-FD02-45C9-8FBB-BFC55E24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476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CA799-4C0A-4C01-B16A-52ABE32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8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86F"/>
                </a:solidFill>
                <a:latin typeface="Aptos"/>
                <a:ea typeface="Aptos"/>
                <a:cs typeface="Aptos"/>
              </a:rPr>
              <a:t>ASSESS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D9EC8-BE01-4018-9F4F-A1A62F57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84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Use configurable checklists to capture facility evidence and checkpoint scores.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9BAA0-D4E3-4905-91F9-B6B2E6E0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476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A3B85-DECA-4A26-850A-3823BE07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478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78F6"/>
                </a:solidFill>
                <a:latin typeface="Aptos"/>
                <a:ea typeface="Aptos"/>
                <a:cs typeface="Aptos"/>
              </a:rPr>
              <a:t>IMPROVE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BD86E-D8CB-4E38-B47A-8FBD9092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41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Convert gaps into action plans, assign ownership and record closure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FE607-EA1F-4B8C-86EB-B6AFEC5C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5476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54631-7514-453B-968C-8AD65384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5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657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657F6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212E8-0AE7-44CD-AF17-8FF5CA4B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934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Track assessment progress, overdue actions, performance and certification across geography.</a:t>
            </a:r>
          </a:p>
        </p:txBody>
      </p:sp>
    </p:spTree>
    <p:extLst>
      <p:ext uri="{BB962C8B-B14F-4D97-AF65-F5344CB8AC3E}">
        <p14:creationId xmlns:p14="http://schemas.microsoft.com/office/powerpoint/2010/main" val="1936978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C36F0-0CFE-4254-BB3F-A103DA76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5157B-8FB2-4F52-9B3F-650C9DFC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FACILITY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64AB2-5728-4062-84ED-36847415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One assessment record carries the team from baseline to follow-up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0E3C6-053B-40BA-B093-3D1438D4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BF194-5E1D-46CD-988A-533C91DF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Each step uses the same facility and assessment context, so teams can resume work and managers can trace progress.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A8083-2021-4E12-95CC-944E17F3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66553-D5D2-4293-AEB9-1198BA68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7BF57-F951-45DE-BD3A-3F8DE09D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81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89C98-5E82-43DF-8F84-D45C617E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87903-9E4A-46B1-8B1E-6E4FFCD6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3FDFC-A2DE-4E3E-82B3-9166DD11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F8FCE-9497-4C65-9C55-0561D58F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81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Create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6E5A1-0693-4F03-B642-C603165D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71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C4277-5C61-40D1-A018-544D0C78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717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0C81E-6E97-4B6E-8124-FDB2D786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381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Activate departments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474EB-A608-4C01-AA81-75375C1A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8AF98-7184-4759-A04E-AC549827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52EFB-556F-4820-8264-8DE8A19F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381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Record checklist scores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C440B-1AAF-491B-82D6-01D93AC7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388FD-9B51-4FF7-AF7A-717C3752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F4C83-AC87-4D51-B7AC-9A932714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381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Review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AB334-910F-4732-814E-9EA4A952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09F95-B3F2-46BE-92F1-B0DC6EF7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BF3B8-CE87-44A8-9C7E-801A2062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81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Assign 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92850-23E6-4122-93A7-30D00C73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71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10325-16CF-4BC3-B4C2-3E79C7CE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717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361D0-78BE-45A0-87AF-2C734310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381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Close gaps with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667EC5-94DE-4C3E-AF26-851CB64F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8839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8D8241-3002-4545-B447-531EF89A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B43"/>
                </a:solidFill>
                <a:latin typeface="Aptos"/>
                <a:ea typeface="Aptos"/>
                <a:cs typeface="Aptos"/>
              </a:rPr>
              <a:t>The reported score and progress reflect the assessment responses and the CQI closure record.</a:t>
            </a:r>
          </a:p>
        </p:txBody>
      </p:sp>
    </p:spTree>
    <p:extLst>
      <p:ext uri="{BB962C8B-B14F-4D97-AF65-F5344CB8AC3E}">
        <p14:creationId xmlns:p14="http://schemas.microsoft.com/office/powerpoint/2010/main" val="1428598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1C6A4-F8ED-4B55-A7A1-A48A2B0D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1300C-63CF-4BA9-B84D-1D687696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CC265-277B-4B01-BCE5-3731A96D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Structured assessment for real facility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42B51-EA76-4D59-B25E-D951B93D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D7708-E1DF-4406-A4DF-A6C7987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SaQshi supports configurable frameworks and department-aware checklist entry for a disciplined, auditable assessment process.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04586-5B62-44FC-AAF0-A52F131C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9D1FD-E518-442C-81F5-AE0CAA92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2A3A9-0294-4982-B181-A67C616B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81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61C99-F51E-4DDD-BD54-E9C08AA0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05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96C9F-2E5C-4DD2-B3A6-D279E070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85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430B6-4BF3-4732-8112-BC125CF2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859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FB55D-54E8-4143-B5BB-1E9B4F9E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859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Framework and facility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411CD-E796-4CF5-8480-9A504C5E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Select the framework and activate only the departments that apply.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BF557-74A6-4256-BE19-10C64910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7375"/>
            <a:ext cx="5105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ED201-2F03-44D2-99BE-D570A3B1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85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45963-385D-481E-AD0A-B10474EC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859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0D67D-C045-40E3-9501-7373009E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Checkpoint-level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2753B-A0FA-449A-97AE-1701610E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Record compliance at each checkpoint. In the NQAS profile: 0 non-compliance, 1 partial, 2 full.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6944D-171C-4796-83EA-2A8582B8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105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00637-94A4-4129-BA9F-EF9F1406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9800F-F992-416D-98E8-88EBDE1A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549CF-819F-441A-833F-540F7648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Pause and continue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6EC30-49E2-404D-A353-72E9562E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Teams can resume an active assessment instead of re-entering completed work.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D2A3D-9069-4FA3-87B4-A2C620FE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5105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076E8-965E-4AF4-BC32-F2334FF2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43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15D13-9CC8-44E4-BB62-218BE520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433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C0FF8-ADDB-4868-8EB1-8C9F5969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Evidence and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387D29-7FB6-49A0-B047-CE713EA2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577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Attach approved evidence and apply workflow rules to prevent incomplete or duplicate entry.</a:t>
            </a:r>
          </a:p>
        </p:txBody>
      </p:sp>
    </p:spTree>
    <p:extLst>
      <p:ext uri="{BB962C8B-B14F-4D97-AF65-F5344CB8AC3E}">
        <p14:creationId xmlns:p14="http://schemas.microsoft.com/office/powerpoint/2010/main" val="1095494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89F440-86C4-4113-9F6F-55E645E7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6EFC2-96E8-4C0B-8AA0-81FBF23A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CONTINUOUS QUALITY IMPROVEMENT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88825-558E-44AD-A878-FB6BDAA6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Every weak checkpoint becomes a managed improvement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2F597-3993-4A5E-A8F9-4FE0FFCF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7FB10-EC1D-44F1-ACDD-99991CC0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SaQshi maintains the corrective-action trail with the score that created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4207B-69C9-4A5C-9D78-F0920020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D888E-9DD2-45AA-8155-F524F1F7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71221-3CF0-4F55-A44E-E8199184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81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F9F7E-C6B7-40C3-8EF8-38DDBBEF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C1EF1-695F-472A-A7FA-B2A5C498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96A7B-B66B-4DC5-8833-1823EB83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20446-6316-49BF-B72F-1D720873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Gap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C6EDF-D427-4E62-A6FC-4CC158D0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128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Non-compliance and partial-compliance checkpoints appear for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FE1AB-A522-4248-9B2C-47880D05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146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C03D3-649B-46CD-97AE-502079D4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146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1BBC4-23CC-47A2-9DDE-F152E94E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242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Action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690B1-3E69-4C1A-B667-B3FF2F30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95725"/>
            <a:ext cx="128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Capture the responsible person, target date and the corrective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52177E-3A21-438B-B5B9-2B0CB80B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A545E-D99E-477E-BB17-EC79D3FB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AA2BE-C01A-4004-8604-116EDF83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Closure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7B306-213E-4C5E-8B64-729485F8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95725"/>
            <a:ext cx="128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Add closure remarks, evidence and revised score where applicable.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EAC2F-3D3F-4CCD-9337-F9B1913E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F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05B1B-0E81-433F-ABB2-BD3DA242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A2585-58F6-48E6-858C-C0A5A5D1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Follow-up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3E9DB-8C07-427C-9305-A1343079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95725"/>
            <a:ext cx="128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Monitoring users can identify overdue, unassigned and high-priority actions.</a:t>
            </a:r>
          </a:p>
        </p:txBody>
      </p:sp>
    </p:spTree>
    <p:extLst>
      <p:ext uri="{BB962C8B-B14F-4D97-AF65-F5344CB8AC3E}">
        <p14:creationId xmlns:p14="http://schemas.microsoft.com/office/powerpoint/2010/main" val="524825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5043B-DAED-45DA-A779-DF408E42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9B900-BFAC-420C-BB54-AAC8FAFA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7F428-6155-4220-9368-A7F9DC11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Programme teams see where follow-up is needed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69E30-32F3-4738-84BB-84AB5FF0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F4615-DEE1-44FA-ADCA-A98C6712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Role-based monitoring moves from an overview to the facility, department or checkpoint that needs attention.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747E5-A2C4-416C-AD62-59A30648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C3953-4EFF-490B-8858-A30E8091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350BE-20AA-4ED1-AF49-81A596E3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81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D8121-D7DD-4C79-8EA9-0EA319F8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05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A596A-B8DD-4C94-979D-667F4F82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85975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Assessment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4B70B-B0E3-4297-ADB3-731E6231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Started, in-progress and completed assessment counts for the user’s geography.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4CC44-9229-4E5F-9D7C-4F495374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7375"/>
            <a:ext cx="5105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0807A-DEA4-40EF-B2B9-64067DF6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85975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CQI action tracking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DD78E-703C-48A0-8BB6-15E587C7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5745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Open, overdue, unassigned and soon-due actions for practical follow-up.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3D20D-8734-4E88-99A0-6AF77B7C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105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5CC54-096F-4900-B055-E68424F9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Risk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A07C2-73BD-4E8F-813F-EC82540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Identify quality concerns affecting the greatest number of facilities, then drill down.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14187-4A58-409B-A48F-618D58D9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5105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9E2B4-5888-4068-BD4C-AB99EB31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4335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Facility insights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B446D-6698-4E34-9232-B6807630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14825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View facility presence, certification coverage and latest assessment risk by Area of Concern.</a:t>
            </a:r>
          </a:p>
        </p:txBody>
      </p:sp>
    </p:spTree>
    <p:extLst>
      <p:ext uri="{BB962C8B-B14F-4D97-AF65-F5344CB8AC3E}">
        <p14:creationId xmlns:p14="http://schemas.microsoft.com/office/powerpoint/2010/main" val="1404223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CC238C-CAE4-4D6F-9EA2-FC3E7510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DA352-8BA8-4EAA-8B9F-097ABC2F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ROLE-BASED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4B03B-20A8-409A-833C-4793B893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Every user works at the right level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03B11-C318-44D1-9788-D00BC53C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EF365-06A3-4680-966F-EE507FD9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The platform separates facility data entry from monitoring responsibilities while preserving one connected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46D6F-7010-4954-A88E-CFE7D713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0804E-F2C7-4D25-B1BB-C0AE70FF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A1F0B-C891-4D0B-9895-5ED5AFF5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81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D9EBE-66E6-4BBE-A240-F2B81BAB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05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E2943-5B05-4ADC-84FB-41A18184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50B8C-3EC3-4112-ABBE-B907AE6B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Facility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B51A1-05D5-4384-8861-20430C3F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4333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Create assessments, complete checklists, manage CQI actions, enter KPI/outcome data and use facility reports.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81BE9-D71E-4BBD-8F19-8214F72E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5105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24330-E622-4205-97D1-3877B8F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337A8-4FB7-44CF-A7FE-1CE64FF2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383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Assessor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503E-462F-4979-AB70-16569651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28875"/>
            <a:ext cx="4333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Work only on assigned facilities and allocated departments or classes.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2183C-6A54-4B32-B273-F042D951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105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42F92-5E3F-4D09-8FB8-57AE00E0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51F3B-64B7-4907-8CE6-CF3069B2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Block, district and division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31E89-3940-4FF0-A14E-4D9BDC80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4333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Monitor facility progress, CQI and performance within the assigned geography.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87159-A6B7-4604-8F06-2B939EEB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5105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2EF56-18BB-4182-87DC-79B1AB2B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F1FFC-B278-4463-9856-905BF00A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052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State administration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D753AF-6EC0-4E85-9A9B-A476E44D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95775"/>
            <a:ext cx="4333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Monitor statewide data, certification and reports; manage assessors and users.</a:t>
            </a:r>
          </a:p>
        </p:txBody>
      </p:sp>
    </p:spTree>
    <p:extLst>
      <p:ext uri="{BB962C8B-B14F-4D97-AF65-F5344CB8AC3E}">
        <p14:creationId xmlns:p14="http://schemas.microsoft.com/office/powerpoint/2010/main" val="6877042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3DDB4-717C-4F9A-8695-4FA0B0A8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32CCB-2032-4D39-B733-01C55E46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REPORTING AND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70835-AC99-4AC2-9DCE-A904245E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A client can monitor both quality activity and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E7B8E-3AC3-435E-9627-E7638C3C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6277D-BE15-405F-9DC9-2CFC6AF9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SaQshi combines assessment reporting with monthly performance monitoring and certification tracking.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BF02E-AC58-4625-8919-9554AE94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4DE68-1BA3-445F-B86E-B2D3D299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B4F6C-0362-4AF3-8CF4-673B2024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81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F83EA-D822-4A7F-B59A-BA5E048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3390900" cy="2695575"/>
          </a:xfrm>
          <a:prstGeom xmlns:a="http://schemas.openxmlformats.org/drawingml/2006/main" prst="roundRect">
            <a:avLst>
              <a:gd name="adj" fmla="val 2827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6C9F7-3FC9-411C-9A36-A2126F7B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A3D5F-9742-42F7-BA26-65F96C80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6DBB0-4CDF-499C-993F-8CBC6C07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9FD2F-7C68-4931-8E63-1CE7FD56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9092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Scorecards, progress reports, CQI reports, performance downloads and state reports.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F5E60-654D-4337-BF40-4C88F2F9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28825"/>
            <a:ext cx="3390900" cy="2695575"/>
          </a:xfrm>
          <a:prstGeom xmlns:a="http://schemas.openxmlformats.org/drawingml/2006/main" prst="roundRect">
            <a:avLst>
              <a:gd name="adj" fmla="val 282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47B91-E29D-4858-AF4E-4FDC5F98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7D60A-56E3-440A-B42F-ED9CCF85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0E989-5B0C-4BC5-A7AB-9D5B8E8B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KPI and outcomes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03061-7DBC-44F6-A18A-E1CAAC83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9092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Department-aware monthly entry, formula-based results and trend views.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8A310-D957-4FF6-8186-18AA51B2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28825"/>
            <a:ext cx="3390900" cy="2695575"/>
          </a:xfrm>
          <a:prstGeom xmlns:a="http://schemas.openxmlformats.org/drawingml/2006/main" prst="roundRect">
            <a:avLst>
              <a:gd name="adj" fmla="val 2827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FC889-71F8-4168-BB57-8F42515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99872-03A3-4268-9194-A4A7C44F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0044E-C2DB-4626-864D-B5966DB7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861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Certification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C8E45-7E91-4A1E-BB5A-4791DA97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9092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State or national certification status, history, validity, expiry tracking and map view.</a:t>
            </a:r>
          </a:p>
        </p:txBody>
      </p:sp>
    </p:spTree>
    <p:extLst>
      <p:ext uri="{BB962C8B-B14F-4D97-AF65-F5344CB8AC3E}">
        <p14:creationId xmlns:p14="http://schemas.microsoft.com/office/powerpoint/2010/main" val="648293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59C8F-714F-4338-81CA-49A3DDFC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9B4FE-5606-4AB4-B519-59EE0F4E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B2ECB-154B-4311-8660-17754B0D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Designed for facility-level quality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0C9F5-E3AE-4B92-A16E-D6E31111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B2667-A3AA-4378-A3D5-7A093EA8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The deployment scope focuses on facility observations, assessment scores, CQI actions, evidence, KPI/outcome numbers and monitoring reports.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31588-B34E-4E62-8633-B9C950BF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E306D-04EE-44A9-A1C0-2CBF3F77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0FD19-2AA2-404F-A540-64B19815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81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AAB51-D222-4376-AD12-D411729A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33909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56585-DF8C-4AFF-890E-5FDFB2F7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86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BF851-42D7-4BA1-9831-E8788379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86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81642-F419-48CA-85F9-0A337EFA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86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No patient records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A187A-4739-4188-B9F4-0E50ECAE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576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SaQshi is not an electronic medical record or patient registry. It should not hold patient-level clinical information.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96AF8-9968-4A84-B31D-ACD7C04A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28825"/>
            <a:ext cx="33909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A552D-1E89-4FE7-BB55-AE55207B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3D36B-05C2-4FF5-9028-323BDC9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F69E8-0C7E-4B04-A272-E5573F85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86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Configurable by 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AC49C-4799-4F8D-9748-CBFAE46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576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Frameworks, departments, indicators, certification rules and map settings can be configured for an approved programme.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47B72-CB3D-428B-B374-D7E73820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28825"/>
            <a:ext cx="33909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F9BBC-3D22-4EAF-987D-9B27C5E5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86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5B817-B768-4909-8EDE-B99E0D4F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86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E0E54-EFE1-4487-8D9B-FDFB99A5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086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Controlled visibility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BC169-01F5-419F-A369-5CCCBF31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576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Role-based scope limits monitoring by geography and responsibility. Administrative identity fields receive protection where implemented.</a:t>
            </a:r>
          </a:p>
        </p:txBody>
      </p:sp>
    </p:spTree>
    <p:extLst>
      <p:ext uri="{BB962C8B-B14F-4D97-AF65-F5344CB8AC3E}">
        <p14:creationId xmlns:p14="http://schemas.microsoft.com/office/powerpoint/2010/main" val="2421025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505A2-B9E2-4575-8AEA-59791D45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C072F-539F-45D9-9A89-DE73285C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A63E6-C436-41B5-A328-AEE63382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What changes when SaQshi becomes the operating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0A614-E645-41F0-9F8C-40BA7E65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53BA4-37A6-4534-B4AA-D7D74380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The value is practical: clearer work for teams, faster follow-up for managers and better visibility for programme leadership.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EB4E1-968A-4B58-BADA-C15E14D1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BA375-EE9E-4959-87C9-E133035C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684DA-A5F9-4675-AEA2-E96FDAC6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81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9E5CE-4700-4B89-8C8D-F1F7AADC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801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1C5E6-FE8C-492A-BB84-71749796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317EF-EF3D-4F42-816E-12A7ACDE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31E1C-557F-4FBA-8790-076E115B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97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For facility 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ABFFC-5527-43AA-B4CF-51BD3C2C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One guided workflow replaces separate records for assessment, action planning and closure.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47968-A0D1-449E-8059-66EA0C40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801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20E7F-D9FC-4285-96F7-7F5381FE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E598B-4EDF-4256-9000-451968D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82A09-E15A-49A7-8CB5-1FA3108B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For programme managers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6F4DC-2E88-417C-88DE-61944E7C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24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Dashboard and report views show where coverage, action follow-up or performance needs attention.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1C2E9-2161-4833-9267-84E4C279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01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6EAA0-927B-4733-9990-BD300F09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77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48ED7-B16D-4E05-ADD9-6DCBEBA1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77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F4174-B887-46F1-996F-D50CA988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815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For leadership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D0A2D-D69E-42D6-A274-D3D2F437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0100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A consistent digital record supports accountability, reporting and future scale across facilities.</a:t>
            </a:r>
          </a:p>
        </p:txBody>
      </p:sp>
    </p:spTree>
    <p:extLst>
      <p:ext uri="{BB962C8B-B14F-4D97-AF65-F5344CB8AC3E}">
        <p14:creationId xmlns:p14="http://schemas.microsoft.com/office/powerpoint/2010/main" val="9977969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452EC-6E92-42A6-A400-8B38BC92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3DEAC-E52E-495C-860A-EE6BE1B4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59837-7BB3-4866-AB10-2EAB28FB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A controlled rollout proves the model before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BF302-3DF5-480A-9563-B43FCFE7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A5E06-034B-435D-BA48-39C941FC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The first implementation should focus on one agreed programme scope, a prepared user group and measurable operating outcomes.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A589C-2D73-4C51-93D0-FB4C06FA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50E34-E72A-4E6E-B5C8-5E95FF67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2F6EE-662B-46B9-B1D2-B15E0625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81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2E5E7-4177-4E29-A8AD-D09C5123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C4EB2-81D8-4554-A27C-8AE8A9F6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713C6-9026-400C-84F6-0D577478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62125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Confirm programme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53F18-8356-4707-8700-F6AC389A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621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Agree facility types, geography, framework, indicators and client reporting needs.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D80F3-AE70-42B7-87E9-39FCF6EC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F097B-129E-4AC1-82FA-A90BED47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1BD66-9584-4712-978D-BB24BE8A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Configure and 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A53DE-333C-4E85-A5D5-66DD6AB9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146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Set up master data, role mapping, workflow rules, checklists and monitoring views.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9DD64-A0BB-4729-815B-3C373A13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57FA6-63E3-4E69-B997-799A7C88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3F890-803C-4358-BB60-938A523F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67125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Pilot with real users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A81EE-C74A-4462-94A3-88B3AEFA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671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Run a controlled pilot with facility teams and monitoring users; refine support and reports.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061830-DAB4-4EEE-B09A-E55D136A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E52BE-BC95-4FE7-A25D-40356B9A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7D337-A56B-49B8-BAC0-D841F393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9625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3B5B"/>
                </a:solidFill>
                <a:latin typeface="Aptos"/>
                <a:ea typeface="Aptos"/>
                <a:cs typeface="Aptos"/>
              </a:rPr>
              <a:t>Scale with governance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FE65C-E2B0-4DAC-8D4B-43487A80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196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8"/>
                </a:solidFill>
                <a:latin typeface="Aptos"/>
                <a:ea typeface="Aptos"/>
                <a:cs typeface="Aptos"/>
              </a:rPr>
              <a:t>Use dashboards and CQI follow-up to guide adoption and staged expansion.</a:t>
            </a:r>
          </a:p>
        </p:txBody>
      </p:sp>
    </p:spTree>
    <p:extLst>
      <p:ext uri="{BB962C8B-B14F-4D97-AF65-F5344CB8AC3E}">
        <p14:creationId xmlns:p14="http://schemas.microsoft.com/office/powerpoint/2010/main" val="982670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dabab7a0543d6"/>
          <a:stretch xmlns:a="http://schemas.openxmlformats.org/drawingml/2006/main"/>
        </p:blipFill>
        <p:spPr>
          <a:xfrm xmlns:a="http://schemas.openxmlformats.org/drawingml/2006/main">
            <a:off x="679450" y="600075"/>
            <a:ext cx="1689100" cy="533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82A67-B31E-4AB6-8604-9DA3799F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Let’s define the first SaQshi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6DCDC-7C41-4CF2-9D60-A2AC100C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17A98-7DDA-4861-AD84-5ADED988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D7F66-9228-4974-9211-85DD99A4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57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Programme and facility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94B85-98BA-4F7C-AFC0-B41A051A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Which facilities and framework should form the first cohort?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B8812-A0E6-4D7A-AB15-AAEBB4E8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7A8DB-BB28-443B-B93C-9F9E5E9F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1772C-EE29-41CF-AF4B-3478BDCF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52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 roles and reporting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DF464-95F2-49D0-94B5-ACAA50F0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528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Who will assess, act, monitor and receive programme reports?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9D9E1-6F02-4CFC-8129-3E3E061D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40575-CF38-4B96-A8EE-E34526EF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BBD8B-C959-48BC-AB6F-2C4D54F5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Success measures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55E8A-C50B-4C2D-A466-F60F2BEE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482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Which quality, process and adoption measures will define a successful pilot?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C14FA-B3E9-4432-9A58-24CFF628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tech4gov@piramalswasthya.org</a:t>
            </a:r>
          </a:p>
        </p:txBody>
      </p:sp>
    </p:spTree>
    <p:extLst>
      <p:ext uri="{BB962C8B-B14F-4D97-AF65-F5344CB8AC3E}">
        <p14:creationId xmlns:p14="http://schemas.microsoft.com/office/powerpoint/2010/main" val="2084410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2026-09-07T16:39:05.2080000Z</dcterms:created>
  <dcterms:modified xsi:type="dcterms:W3CDTF">2026-09-07T16:39:05.2080000Z</dcterms:modified>
</coreProperties>
</file>